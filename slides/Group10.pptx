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7252C"/>
                </a:solidFill>
                <a:latin typeface="Calibri"/>
              </a:defRPr>
            </a:pPr>
            <a:r>
              <a:rPr sz="1100" b="0" i="0" u="none" strike="noStrike">
                <a:solidFill>
                  <a:srgbClr val="17252C"/>
                </a:solidFill>
                <a:latin typeface="Calibri"/>
              </a:rPr>
              <a:t>Parameters (billions)</a:t>
            </a:r>
          </a:p>
        </c:rich>
      </c:tx>
      <c:layout/>
      <c:overlay val="0"/>
    </c:title>
    <c:autoTitleDeleted val="0"/>
    <c:plotArea>
      <c:layout/>
      <c:barChart>
        <c:barDir val="bar"/>
        <c:grouping val="clustered"/>
        <c:varyColors val="0"/>
        <c:ser>
          <c:idx val="0"/>
          <c:order val="0"/>
          <c:tx>
            <c:strRef>
              <c:f>Sheet1!$B$1</c:f>
              <c:strCache>
                <c:ptCount val="1"/>
                <c:pt idx="0">
                  <c:v>Parameters (billions)</c:v>
                </c:pt>
              </c:strCache>
            </c:strRef>
          </c:tx>
          <c:spPr>
            <a:solidFill>
              <a:srgbClr val="1F6F78"/>
            </a:solidFill>
            <a:effectLst/>
          </c:spPr>
          <c:invertIfNegative val="0"/>
          <c:dLbls>
            <c:numFmt formatCode="0.00&quot;B&quot;" sourceLinked="0"/>
            <c:txPr>
              <a:bodyPr/>
              <a:lstStyle/>
              <a:p>
                <a:pPr>
                  <a:defRPr b="0" i="0" strike="noStrike" sz="10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llama3.2:1b-instruct-q4_K_M</c:v>
                  </c:pt>
                  <c:pt idx="1">
                    <c:v>llama3.2:3b</c:v>
                  </c:pt>
                  <c:pt idx="2">
                    <c:v>granite4:3b</c:v>
                  </c:pt>
                  <c:pt idx="3">
                    <c:v>qwen2.5:7b</c:v>
                  </c:pt>
                </c:lvl>
              </c:multiLvlStrCache>
            </c:multiLvlStrRef>
          </c:cat>
          <c:val>
            <c:numRef>
              <c:f>Sheet1!$B$2:$B$5</c:f>
              <c:numCache>
                <c:formatCode>General</c:formatCode>
                <c:ptCount val="4"/>
                <c:pt idx="0">
                  <c:v>1.24</c:v>
                </c:pt>
                <c:pt idx="1">
                  <c:v>3.21</c:v>
                </c:pt>
                <c:pt idx="2">
                  <c:v>3.4</c:v>
                </c:pt>
                <c:pt idx="3">
                  <c:v>7.62</c:v>
                </c:pt>
              </c:numCache>
            </c:numRef>
          </c:val>
        </c:ser>
        <c:dLbls>
          <c:numFmt formatCode="0.00&quot;B&quot;" sourceLinked="0"/>
          <c:txPr>
            <a:bodyPr/>
            <a:lstStyle/>
            <a:p>
              <a:pPr>
                <a:defRPr b="0" i="0" strike="noStrike" sz="1000" u="none">
                  <a:solidFill>
                    <a:srgbClr val="000000"/>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7252C"/>
                </a:solidFill>
                <a:latin typeface="Calibri"/>
              </a:defRPr>
            </a:pPr>
            <a:r>
              <a:rPr sz="1100" b="0" i="0" u="none" strike="noStrike">
                <a:solidFill>
                  <a:srgbClr val="17252C"/>
                </a:solidFill>
                <a:latin typeface="Calibri"/>
              </a:rPr>
              <a:t>Where the two labellers disagreed most</a:t>
            </a:r>
          </a:p>
        </c:rich>
      </c:tx>
      <c:layout/>
      <c:overlay val="0"/>
    </c:title>
    <c:autoTitleDeleted val="0"/>
    <c:plotArea>
      <c:layout/>
      <c:barChart>
        <c:barDir val="bar"/>
        <c:grouping val="clustered"/>
        <c:varyColors val="0"/>
        <c:ser>
          <c:idx val="0"/>
          <c:order val="0"/>
          <c:tx>
            <c:strRef>
              <c:f>Sheet1!$B$1</c:f>
              <c:strCache>
                <c:ptCount val="1"/>
                <c:pt idx="0">
                  <c:v>Disagreements</c:v>
                </c:pt>
              </c:strCache>
            </c:strRef>
          </c:tx>
          <c:spPr>
            <a:solidFill>
              <a:srgbClr val="E39B2D"/>
            </a:solidFill>
            <a:effectLst/>
          </c:spPr>
          <c:invertIfNegative val="0"/>
          <c:dLbls>
            <c:numFmt formatCode="#,##0" sourceLinked="0"/>
            <c:txPr>
              <a:bodyPr/>
              <a:lstStyle/>
              <a:p>
                <a:pPr>
                  <a:defRPr b="0" i="0" strike="noStrike" sz="1000" u="none">
                    <a:solidFill>
                      <a:srgbClr val="00000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Bank account ↔ Money transfer</c:v>
                  </c:pt>
                  <c:pt idx="1">
                    <c:v>Bank account ↔ Credit reporting</c:v>
                  </c:pt>
                  <c:pt idx="2">
                    <c:v>Bank account ↔ Credit card</c:v>
                  </c:pt>
                  <c:pt idx="3">
                    <c:v>Credit card ↔ Credit reporting</c:v>
                  </c:pt>
                  <c:pt idx="4">
                    <c:v>Consumer loan ↔ Credit reporting</c:v>
                  </c:pt>
                </c:lvl>
              </c:multiLvlStrCache>
            </c:multiLvlStrRef>
          </c:cat>
          <c:val>
            <c:numRef>
              <c:f>Sheet1!$B$2:$B$6</c:f>
              <c:numCache>
                <c:formatCode>General</c:formatCode>
                <c:ptCount val="5"/>
                <c:pt idx="0">
                  <c:v>13</c:v>
                </c:pt>
                <c:pt idx="1">
                  <c:v>12</c:v>
                </c:pt>
                <c:pt idx="2">
                  <c:v>8</c:v>
                </c:pt>
                <c:pt idx="3">
                  <c:v>5</c:v>
                </c:pt>
                <c:pt idx="4">
                  <c:v>4</c:v>
                </c:pt>
              </c:numCache>
            </c:numRef>
          </c:val>
        </c:ser>
        <c:dLbls>
          <c:numFmt formatCode="#,##0" sourceLinked="0"/>
          <c:txPr>
            <a:bodyPr/>
            <a:lstStyle/>
            <a:p>
              <a:pPr>
                <a:defRPr b="0" i="0" strike="noStrike" sz="1000" u="none">
                  <a:solidFill>
                    <a:srgbClr val="000000"/>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5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000000"/>
                </a:solidFill>
                <a:latin typeface="Calibri"/>
              </a:defRPr>
            </a:pPr>
            <a:r>
              <a:rPr sz="1050" b="0" i="0" u="none" strike="noStrike">
                <a:solidFill>
                  <a:srgbClr val="000000"/>
                </a:solidFill>
                <a:latin typeface="Calibri"/>
              </a:rPr>
              <a:t>Stress ramp: p95 per step</a:t>
            </a:r>
          </a:p>
        </c:rich>
      </c:tx>
      <c:layout/>
      <c:overlay val="0"/>
    </c:title>
    <c:autoTitleDeleted val="0"/>
    <c:plotArea>
      <c:layout/>
      <c:lineChart>
        <c:varyColors val="0"/>
        <c:ser>
          <c:idx val="0"/>
          <c:order val="0"/>
          <c:tx>
            <c:strRef>
              <c:f>Sheet1!$B$1</c:f>
              <c:strCache>
                <c:ptCount val="1"/>
                <c:pt idx="0">
                  <c:v>llama3.2:1b q4_K_M</c:v>
                </c:pt>
              </c:strCache>
            </c:strRef>
          </c:tx>
          <c:spPr>
            <a:solidFill>
              <a:srgbClr val="1F6F78"/>
            </a:solidFill>
            <a:ln w="25400" cap="flat">
              <a:solidFill>
                <a:srgbClr val="1F6F7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1F6F78"/>
              </a:solidFill>
              <a:ln w="9525" cap="flat">
                <a:solidFill>
                  <a:srgbClr val="1F6F78"/>
                </a:solidFill>
                <a:prstDash val="solid"/>
                <a:round/>
              </a:ln>
              <a:effectLst/>
            </c:spPr>
          </c:marker>
          <c:cat>
            <c:multiLvlStrRef>
              <c:f>Sheet1!$A$2:$A$7</c:f>
              <c:multiLvlStrCache>
                <c:ptCount val="6"/>
                <c:lvl>
                  <c:pt idx="0">
                    <c:v>1</c:v>
                  </c:pt>
                  <c:pt idx="1">
                    <c:v>5</c:v>
                  </c:pt>
                  <c:pt idx="2">
                    <c:v>9</c:v>
                  </c:pt>
                  <c:pt idx="3">
                    <c:v>13</c:v>
                  </c:pt>
                  <c:pt idx="4">
                    <c:v>17</c:v>
                  </c:pt>
                  <c:pt idx="5">
                    <c:v>21</c:v>
                  </c:pt>
                </c:lvl>
              </c:multiLvlStrCache>
            </c:multiLvlStrRef>
          </c:cat>
          <c:val>
            <c:numRef>
              <c:f>Sheet1!$B$2:$B$7</c:f>
              <c:numCache>
                <c:formatCode>General</c:formatCode>
                <c:ptCount val="6"/>
                <c:pt idx="0">
                  <c:v>0.735</c:v>
                </c:pt>
                <c:pt idx="1">
                  <c:v>0.9464</c:v>
                </c:pt>
                <c:pt idx="2">
                  <c:v>1.2675999999999998</c:v>
                </c:pt>
                <c:pt idx="3">
                  <c:v>1.0615</c:v>
                </c:pt>
                <c:pt idx="4">
                  <c:v>0.9996</c:v>
                </c:pt>
                <c:pt idx="5">
                  <c:v>1.246</c:v>
                </c:pt>
              </c:numCache>
            </c:numRef>
          </c:val>
          <c:smooth val="0"/>
        </c:ser>
        <c:ser>
          <c:idx val="1"/>
          <c:order val="1"/>
          <c:tx>
            <c:strRef>
              <c:f>Sheet1!$C$1</c:f>
              <c:strCache>
                <c:ptCount val="1"/>
                <c:pt idx="0">
                  <c:v>llama3.2:3b</c:v>
                </c:pt>
              </c:strCache>
            </c:strRef>
          </c:tx>
          <c:spPr>
            <a:solidFill>
              <a:srgbClr val="E39B2D"/>
            </a:solidFill>
            <a:ln w="25400" cap="flat">
              <a:solidFill>
                <a:srgbClr val="E39B2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E39B2D"/>
              </a:solidFill>
              <a:ln w="9525" cap="flat">
                <a:solidFill>
                  <a:srgbClr val="E39B2D"/>
                </a:solidFill>
                <a:prstDash val="solid"/>
                <a:round/>
              </a:ln>
              <a:effectLst/>
            </c:spPr>
          </c:marker>
          <c:cat>
            <c:multiLvlStrRef>
              <c:f>Sheet1!$A$2:$A$7</c:f>
              <c:multiLvlStrCache>
                <c:ptCount val="6"/>
                <c:lvl>
                  <c:pt idx="0">
                    <c:v>1</c:v>
                  </c:pt>
                  <c:pt idx="1">
                    <c:v>5</c:v>
                  </c:pt>
                  <c:pt idx="2">
                    <c:v>9</c:v>
                  </c:pt>
                  <c:pt idx="3">
                    <c:v>13</c:v>
                  </c:pt>
                  <c:pt idx="4">
                    <c:v>17</c:v>
                  </c:pt>
                  <c:pt idx="5">
                    <c:v>21</c:v>
                  </c:pt>
                </c:lvl>
              </c:multiLvlStrCache>
            </c:multiLvlStrRef>
          </c:cat>
          <c:val>
            <c:numRef>
              <c:f>Sheet1!$C$2:$C$7</c:f>
              <c:numCache>
                <c:formatCode>General</c:formatCode>
                <c:ptCount val="6"/>
                <c:pt idx="0">
                  <c:v>1.4093</c:v>
                </c:pt>
                <c:pt idx="1">
                  <c:v>3.312499999999999</c:v>
                </c:pt>
                <c:pt idx="2">
                  <c:v>3.3657999999999983</c:v>
                </c:pt>
                <c:pt idx="3">
                  <c:v>2.88375</c:v>
                </c:pt>
                <c:pt idx="4">
                  <c:v>3.40515</c:v>
                </c:pt>
                <c:pt idx="5">
                  <c:v>4.758699999999999</c:v>
                </c:pt>
              </c:numCache>
            </c:numRef>
          </c:val>
          <c:smooth val="0"/>
        </c:ser>
        <c:ser>
          <c:idx val="2"/>
          <c:order val="2"/>
          <c:tx>
            <c:strRef>
              <c:f>Sheet1!$D$1</c:f>
              <c:strCache>
                <c:ptCount val="1"/>
                <c:pt idx="0">
                  <c:v>granite4:3b</c:v>
                </c:pt>
              </c:strCache>
            </c:strRef>
          </c:tx>
          <c:spPr>
            <a:solidFill>
              <a:srgbClr val="6C5B7B"/>
            </a:solidFill>
            <a:ln w="25400" cap="flat">
              <a:solidFill>
                <a:srgbClr val="6C5B7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6C5B7B"/>
              </a:solidFill>
              <a:ln w="9525" cap="flat">
                <a:solidFill>
                  <a:srgbClr val="6C5B7B"/>
                </a:solidFill>
                <a:prstDash val="solid"/>
                <a:round/>
              </a:ln>
              <a:effectLst/>
            </c:spPr>
          </c:marker>
          <c:cat>
            <c:multiLvlStrRef>
              <c:f>Sheet1!$A$2:$A$7</c:f>
              <c:multiLvlStrCache>
                <c:ptCount val="6"/>
                <c:lvl>
                  <c:pt idx="0">
                    <c:v>1</c:v>
                  </c:pt>
                  <c:pt idx="1">
                    <c:v>5</c:v>
                  </c:pt>
                  <c:pt idx="2">
                    <c:v>9</c:v>
                  </c:pt>
                  <c:pt idx="3">
                    <c:v>13</c:v>
                  </c:pt>
                  <c:pt idx="4">
                    <c:v>17</c:v>
                  </c:pt>
                  <c:pt idx="5">
                    <c:v>21</c:v>
                  </c:pt>
                </c:lvl>
              </c:multiLvlStrCache>
            </c:multiLvlStrRef>
          </c:cat>
          <c:val>
            <c:numRef>
              <c:f>Sheet1!$D$2:$D$7</c:f>
              <c:numCache>
                <c:formatCode>General</c:formatCode>
                <c:ptCount val="6"/>
                <c:pt idx="0">
                  <c:v>1.4766</c:v>
                </c:pt>
                <c:pt idx="1">
                  <c:v>2.5144499999999996</c:v>
                </c:pt>
                <c:pt idx="2">
                  <c:v>2.9965499999999987</c:v>
                </c:pt>
                <c:pt idx="3">
                  <c:v>2.52475</c:v>
                </c:pt>
                <c:pt idx="4">
                  <c:v>4.3941</c:v>
                </c:pt>
                <c:pt idx="5">
                  <c:v>5.790049999999998</c:v>
                </c:pt>
              </c:numCache>
            </c:numRef>
          </c:val>
          <c:smooth val="0"/>
        </c:ser>
        <c:ser>
          <c:idx val="3"/>
          <c:order val="3"/>
          <c:tx>
            <c:strRef>
              <c:f>Sheet1!$E$1</c:f>
              <c:strCache>
                <c:ptCount val="1"/>
                <c:pt idx="0">
                  <c:v>qwen2.5:7b</c:v>
                </c:pt>
              </c:strCache>
            </c:strRef>
          </c:tx>
          <c:spPr>
            <a:solidFill>
              <a:srgbClr val="B23A48"/>
            </a:solidFill>
            <a:ln w="25400" cap="flat">
              <a:solidFill>
                <a:srgbClr val="B23A4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B23A48"/>
              </a:solidFill>
              <a:ln w="9525" cap="flat">
                <a:solidFill>
                  <a:srgbClr val="B23A48"/>
                </a:solidFill>
                <a:prstDash val="solid"/>
                <a:round/>
              </a:ln>
              <a:effectLst/>
            </c:spPr>
          </c:marker>
          <c:cat>
            <c:multiLvlStrRef>
              <c:f>Sheet1!$A$2:$A$7</c:f>
              <c:multiLvlStrCache>
                <c:ptCount val="6"/>
                <c:lvl>
                  <c:pt idx="0">
                    <c:v>1</c:v>
                  </c:pt>
                  <c:pt idx="1">
                    <c:v>5</c:v>
                  </c:pt>
                  <c:pt idx="2">
                    <c:v>9</c:v>
                  </c:pt>
                  <c:pt idx="3">
                    <c:v>13</c:v>
                  </c:pt>
                  <c:pt idx="4">
                    <c:v>17</c:v>
                  </c:pt>
                  <c:pt idx="5">
                    <c:v>21</c:v>
                  </c:pt>
                </c:lvl>
              </c:multiLvlStrCache>
            </c:multiLvlStrRef>
          </c:cat>
          <c:val>
            <c:numRef>
              <c:f>Sheet1!$E$2:$E$7</c:f>
              <c:numCache>
                <c:formatCode>General</c:formatCode>
                <c:ptCount val="6"/>
                <c:pt idx="0">
                  <c:v>4.6229</c:v>
                </c:pt>
                <c:pt idx="1">
                  <c:v>4.718499999999999</c:v>
                </c:pt>
                <c:pt idx="2">
                  <c:v>6.825449999999999</c:v>
                </c:pt>
                <c:pt idx="3">
                  <c:v>8.637</c:v>
                </c:pt>
                <c:pt idx="4">
                  <c:v>9.7706</c:v>
                </c:pt>
                <c:pt idx="5">
                  <c:v>26.375400000000003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900" b="0" i="0" u="none" strike="noStrike">
                    <a:solidFill>
                      <a:srgbClr val="000000"/>
                    </a:solidFill>
                    <a:latin typeface="Arial"/>
                  </a:defRPr>
                </a:pPr>
                <a:r>
                  <a:rPr sz="900" b="0" i="0" u="none" strike="noStrike">
                    <a:solidFill>
                      <a:srgbClr val="000000"/>
                    </a:solidFill>
                    <a:latin typeface="Arial"/>
                  </a:rPr>
                  <a:t>offered tickets / min (120 s steps)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2"/>
        <c:crosses val="autoZero"/>
        <c:auto val="1"/>
        <c:lblAlgn val="ctr"/>
        <c:noMultiLvlLbl val="1"/>
      </c:catAx>
      <c:valAx>
        <c:axId val="2094734552"/>
        <c:scaling>
          <c:logBase val="10"/>
          <c:orientation val="minMax"/>
        </c:scaling>
        <c:delete val="0"/>
        <c:axPos val="l"/>
        <c:majorGridlines>
          <c:spPr>
            <a:ln w="6350" cap="flat">
              <a:solidFill>
                <a:srgbClr val="E3E9EA"/>
              </a:solidFill>
              <a:prstDash val="solid"/>
              <a:round/>
            </a:ln>
          </c:spPr>
        </c:majorGridlines>
        <c:title>
          <c:tx>
            <c:rich>
              <a:bodyPr/>
              <a:lstStyle/>
              <a:p>
                <a:pPr>
                  <a:defRPr sz="900" b="0" i="0" u="none" strike="noStrike">
                    <a:solidFill>
                      <a:srgbClr val="000000"/>
                    </a:solidFill>
                    <a:latin typeface="Arial"/>
                  </a:defRPr>
                </a:pPr>
                <a:r>
                  <a:rPr sz="900" b="0" i="0" u="none" strike="noStrike">
                    <a:solidFill>
                      <a:srgbClr val="000000"/>
                    </a:solidFill>
                    <a:latin typeface="Arial"/>
                  </a:rPr>
                  <a:t>p95 (s, log)</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292608"/>
            <a:ext cx="11185855" cy="566928"/>
          </a:xfrm>
          <a:prstGeom prst="rect">
            <a:avLst/>
          </a:prstGeom>
          <a:noFill/>
          <a:ln/>
        </p:spPr>
        <p:txBody>
          <a:bodyPr wrap="square" rtlCol="0"/>
          <a:lstStyle>
            <a:lvl1pPr indent="0" marL="0">
              <a:buNone/>
              <a:defRPr lang="en-US" sz="2800" b="1" dirty="0">
                <a:solidFill>
                  <a:srgbClr val="17252C"/>
                </a:solidFill>
                <a:latin typeface="Cambria" pitchFamily="34" charset="0"/>
                <a:ea typeface="Cambria" pitchFamily="34" charset="-122"/>
                <a:cs typeface="Cambria" pitchFamily="34" charset="-120"/>
              </a:defRPr>
            </a:lvl1pPr>
          </a:lstStyle>
          <a:p>
            <a:pPr indent="0" marL="0">
              <a:buNone/>
            </a:pPr>
            <a:endParaRPr lang="en-US" sz="2800" dirty="0"/>
          </a:p>
        </p:txBody>
      </p:sp>
      <p:sp>
        <p:nvSpPr>
          <p:cNvPr id="25" name="Slide Number Placeholder 0"/>
          <p:cNvSpPr>
            <a:spLocks noGrp="1"/>
          </p:cNvSpPr>
          <p:nvPr>
            <p:ph type="sldNum" sz="quarter" idx="4294967295"/>
          </p:nvPr>
        </p:nvSpPr>
        <p:spPr>
          <a:xfrm>
            <a:off x="11231575"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B7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0E2A33"/>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31575"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B7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github.com/Fokku/ICT3113-PTO" TargetMode="External"/><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02920" y="411480"/>
            <a:ext cx="8229600" cy="320040"/>
          </a:xfrm>
          <a:prstGeom prst="rect">
            <a:avLst/>
          </a:prstGeom>
          <a:noFill/>
          <a:ln/>
        </p:spPr>
        <p:txBody>
          <a:bodyPr wrap="square" lIns="762" tIns="762" rIns="762" bIns="762" rtlCol="0" anchor="t"/>
          <a:lstStyle/>
          <a:p>
            <a:pPr algn="l" indent="0" marL="0">
              <a:lnSpc>
                <a:spcPct val="100000"/>
              </a:lnSpc>
              <a:buNone/>
            </a:pPr>
            <a:r>
              <a:rPr lang="en-US" sz="1300" dirty="0">
                <a:solidFill>
                  <a:srgbClr val="9FB7BE"/>
                </a:solidFill>
                <a:latin typeface="Calibri" pitchFamily="34" charset="0"/>
                <a:ea typeface="Calibri" pitchFamily="34" charset="-122"/>
                <a:cs typeface="Calibri" pitchFamily="34" charset="-120"/>
              </a:rPr>
              <a:t>ICT3113 Performance Optimisation and Design — Assignment 1</a:t>
            </a:r>
            <a:endParaRPr lang="en-US" sz="1300" dirty="0"/>
          </a:p>
        </p:txBody>
      </p:sp>
      <p:sp>
        <p:nvSpPr>
          <p:cNvPr id="3" name="Shape 1"/>
          <p:cNvSpPr/>
          <p:nvPr/>
        </p:nvSpPr>
        <p:spPr>
          <a:xfrm>
            <a:off x="10225735" y="384048"/>
            <a:ext cx="1463040" cy="384048"/>
          </a:xfrm>
          <a:prstGeom prst="roundRect">
            <a:avLst>
              <a:gd name="adj" fmla="val 14286"/>
            </a:avLst>
          </a:prstGeom>
          <a:solidFill>
            <a:srgbClr val="E39B2D"/>
          </a:solidFill>
          <a:ln w="12700">
            <a:solidFill>
              <a:srgbClr val="E39B2D"/>
            </a:solidFill>
            <a:prstDash val="solid"/>
          </a:ln>
        </p:spPr>
      </p:sp>
      <p:sp>
        <p:nvSpPr>
          <p:cNvPr id="4" name="Text 2"/>
          <p:cNvSpPr txBox="1"/>
          <p:nvPr/>
        </p:nvSpPr>
        <p:spPr>
          <a:xfrm>
            <a:off x="10225735" y="384048"/>
            <a:ext cx="1463040" cy="384048"/>
          </a:xfrm>
          <a:prstGeom prst="rect">
            <a:avLst/>
          </a:prstGeom>
          <a:noFill/>
          <a:ln/>
        </p:spPr>
        <p:txBody>
          <a:bodyPr wrap="square" lIns="0" tIns="0" rIns="0" bIns="0" rtlCol="0" anchor="ctr"/>
          <a:lstStyle/>
          <a:p>
            <a:pPr algn="ctr" indent="0" marL="0">
              <a:lnSpc>
                <a:spcPct val="100000"/>
              </a:lnSpc>
              <a:buNone/>
            </a:pPr>
            <a:r>
              <a:rPr lang="en-US" sz="1600" b="1" dirty="0">
                <a:solidFill>
                  <a:srgbClr val="0E2A33"/>
                </a:solidFill>
                <a:latin typeface="Calibri" pitchFamily="34" charset="0"/>
                <a:ea typeface="Calibri" pitchFamily="34" charset="-122"/>
                <a:cs typeface="Calibri" pitchFamily="34" charset="-120"/>
              </a:rPr>
              <a:t>Group 10</a:t>
            </a:r>
            <a:endParaRPr lang="en-US" sz="1600" dirty="0"/>
          </a:p>
        </p:txBody>
      </p:sp>
      <p:sp>
        <p:nvSpPr>
          <p:cNvPr id="5" name="Text 3"/>
          <p:cNvSpPr txBox="1"/>
          <p:nvPr/>
        </p:nvSpPr>
        <p:spPr>
          <a:xfrm>
            <a:off x="502920" y="1143000"/>
            <a:ext cx="11155680" cy="868680"/>
          </a:xfrm>
          <a:prstGeom prst="rect">
            <a:avLst/>
          </a:prstGeom>
          <a:noFill/>
          <a:ln/>
        </p:spPr>
        <p:txBody>
          <a:bodyPr wrap="square" lIns="0" tIns="0" rIns="0" bIns="0" rtlCol="0" anchor="ctr"/>
          <a:lstStyle/>
          <a:p>
            <a:pPr algn="l" indent="0" marL="0">
              <a:lnSpc>
                <a:spcPct val="100000"/>
              </a:lnSpc>
              <a:buNone/>
            </a:pPr>
            <a:r>
              <a:rPr lang="en-US" sz="4000" b="1" dirty="0">
                <a:solidFill>
                  <a:srgbClr val="FFFFFF"/>
                </a:solidFill>
                <a:latin typeface="Cambria" pitchFamily="34" charset="0"/>
                <a:ea typeface="Cambria" pitchFamily="34" charset="-122"/>
                <a:cs typeface="Cambria" pitchFamily="34" charset="-120"/>
              </a:rPr>
              <a:t>Ticket Triage Service on CPU-Only LLMs</a:t>
            </a:r>
            <a:endParaRPr lang="en-US" sz="4000" dirty="0"/>
          </a:p>
        </p:txBody>
      </p:sp>
      <p:sp>
        <p:nvSpPr>
          <p:cNvPr id="6" name="Text 4"/>
          <p:cNvSpPr txBox="1"/>
          <p:nvPr/>
        </p:nvSpPr>
        <p:spPr>
          <a:xfrm>
            <a:off x="502920" y="2011680"/>
            <a:ext cx="10515600" cy="457200"/>
          </a:xfrm>
          <a:prstGeom prst="rect">
            <a:avLst/>
          </a:prstGeom>
          <a:noFill/>
          <a:ln/>
        </p:spPr>
        <p:txBody>
          <a:bodyPr wrap="square" lIns="0" tIns="0" rIns="0" bIns="0" rtlCol="0" anchor="t"/>
          <a:lstStyle/>
          <a:p>
            <a:pPr algn="l" indent="0" marL="0">
              <a:lnSpc>
                <a:spcPct val="100000"/>
              </a:lnSpc>
              <a:buNone/>
            </a:pPr>
            <a:r>
              <a:rPr lang="en-US" sz="1800" dirty="0">
                <a:solidFill>
                  <a:srgbClr val="E39B2D"/>
                </a:solidFill>
                <a:latin typeface="Calibri" pitchFamily="34" charset="0"/>
                <a:ea typeface="Calibri" pitchFamily="34" charset="-122"/>
                <a:cs typeface="Calibri" pitchFamily="34" charset="-120"/>
              </a:rPr>
              <a:t>Performance requirements, a golden test set and baseline measurements for a complaint-routing service</a:t>
            </a:r>
            <a:endParaRPr lang="en-US" sz="18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02920" y="2788920"/>
          <a:ext cx="7680960" cy="914400"/>
        </p:xfrm>
        <a:graphic>
          <a:graphicData uri="http://schemas.openxmlformats.org/drawingml/2006/table">
            <a:tbl>
              <a:tblPr/>
              <a:tblGrid>
                <a:gridCol w="2377440"/>
                <a:gridCol w="1371600"/>
                <a:gridCol w="3931920"/>
              </a:tblGrid>
              <a:tr h="0">
                <a:tc>
                  <a:txBody>
                    <a:bodyPr/>
                    <a:lstStyle/>
                    <a:p>
                      <a:pPr indent="0" marL="0">
                        <a:buNone/>
                      </a:pPr>
                      <a:r>
                        <a:rPr lang="en-US" sz="1200" b="1" dirty="0">
                          <a:solidFill>
                            <a:srgbClr val="0E2A33"/>
                          </a:solidFill>
                          <a:latin typeface="Calibri" pitchFamily="34" charset="0"/>
                          <a:ea typeface="Calibri" pitchFamily="34" charset="-122"/>
                          <a:cs typeface="Calibri" pitchFamily="34" charset="-120"/>
                        </a:rPr>
                        <a:t>Member</a:t>
                      </a:r>
                      <a:endParaRPr lang="en-US" sz="1200" dirty="0">
                        <a:latin typeface="Calibri" charset="0"/>
                        <a:ea typeface="Calibri" charset="0"/>
                        <a:cs typeface="Calibri" charset="0"/>
                      </a:endParaRPr>
                    </a:p>
                  </a:txBody>
                  <a:tcPr marL="76200" marR="76200" marT="50800" marB="50800">
                    <a:lnL w="6350" cap="flat" cmpd="sng" algn="ctr">
                      <a:solidFill>
                        <a:srgbClr val="2D5562"/>
                      </a:solidFill>
                      <a:prstDash val="solid"/>
                      <a:round/>
                      <a:headEnd type="none" w="med" len="med"/>
                      <a:tailEnd type="none" w="med" len="med"/>
                    </a:lnL>
                    <a:lnR w="6350" cap="flat" cmpd="sng" algn="ctr">
                      <a:solidFill>
                        <a:srgbClr val="2D5562"/>
                      </a:solidFill>
                      <a:prstDash val="solid"/>
                      <a:round/>
                      <a:headEnd type="none" w="med" len="med"/>
                      <a:tailEnd type="none" w="med" len="med"/>
                    </a:lnR>
                    <a:lnT w="6350" cap="flat" cmpd="sng" algn="ctr">
                      <a:solidFill>
                        <a:srgbClr val="2D5562"/>
                      </a:solidFill>
                      <a:prstDash val="solid"/>
                      <a:round/>
                      <a:headEnd type="none" w="med" len="med"/>
                      <a:tailEnd type="none" w="med" len="med"/>
                    </a:lnT>
                    <a:lnB w="6350" cap="flat" cmpd="sng" algn="ctr">
                      <a:solidFill>
                        <a:srgbClr val="2D5562"/>
                      </a:solidFill>
                      <a:prstDash val="solid"/>
                      <a:round/>
                      <a:headEnd type="none" w="med" len="med"/>
                      <a:tailEnd type="none" w="med" len="med"/>
                    </a:lnB>
                    <a:solidFill>
                      <a:srgbClr val="9FB7BE"/>
                    </a:solidFill>
                  </a:tcPr>
                </a:tc>
                <a:tc>
                  <a:txBody>
                    <a:bodyPr/>
                    <a:lstStyle/>
                    <a:p>
                      <a:pPr indent="0" marL="0">
                        <a:buNone/>
                      </a:pPr>
                      <a:r>
                        <a:rPr lang="en-US" sz="1200" b="1" dirty="0">
                          <a:solidFill>
                            <a:srgbClr val="0E2A33"/>
                          </a:solidFill>
                          <a:latin typeface="Calibri" pitchFamily="34" charset="0"/>
                          <a:ea typeface="Calibri" pitchFamily="34" charset="-122"/>
                          <a:cs typeface="Calibri" pitchFamily="34" charset="-120"/>
                        </a:rPr>
                        <a:t>Student ID</a:t>
                      </a:r>
                      <a:endParaRPr lang="en-US" sz="1200" dirty="0">
                        <a:latin typeface="Calibri" charset="0"/>
                        <a:ea typeface="Calibri" charset="0"/>
                        <a:cs typeface="Calibri" charset="0"/>
                      </a:endParaRPr>
                    </a:p>
                  </a:txBody>
                  <a:tcPr marL="76200" marR="76200" marT="50800" marB="50800">
                    <a:lnL w="6350" cap="flat" cmpd="sng" algn="ctr">
                      <a:solidFill>
                        <a:srgbClr val="2D5562"/>
                      </a:solidFill>
                      <a:prstDash val="solid"/>
                      <a:round/>
                      <a:headEnd type="none" w="med" len="med"/>
                      <a:tailEnd type="none" w="med" len="med"/>
                    </a:lnL>
                    <a:lnR w="6350" cap="flat" cmpd="sng" algn="ctr">
                      <a:solidFill>
                        <a:srgbClr val="2D5562"/>
                      </a:solidFill>
                      <a:prstDash val="solid"/>
                      <a:round/>
                      <a:headEnd type="none" w="med" len="med"/>
                      <a:tailEnd type="none" w="med" len="med"/>
                    </a:lnR>
                    <a:lnT w="6350" cap="flat" cmpd="sng" algn="ctr">
                      <a:solidFill>
                        <a:srgbClr val="2D5562"/>
                      </a:solidFill>
                      <a:prstDash val="solid"/>
                      <a:round/>
                      <a:headEnd type="none" w="med" len="med"/>
                      <a:tailEnd type="none" w="med" len="med"/>
                    </a:lnT>
                    <a:lnB w="6350" cap="flat" cmpd="sng" algn="ctr">
                      <a:solidFill>
                        <a:srgbClr val="2D5562"/>
                      </a:solidFill>
                      <a:prstDash val="solid"/>
                      <a:round/>
                      <a:headEnd type="none" w="med" len="med"/>
                      <a:tailEnd type="none" w="med" len="med"/>
                    </a:lnB>
                    <a:solidFill>
                      <a:srgbClr val="9FB7BE"/>
                    </a:solidFill>
                  </a:tcPr>
                </a:tc>
                <a:tc>
                  <a:txBody>
                    <a:bodyPr/>
                    <a:lstStyle/>
                    <a:p>
                      <a:pPr indent="0" marL="0">
                        <a:buNone/>
                      </a:pPr>
                      <a:r>
                        <a:rPr lang="en-US" sz="1200" b="1" dirty="0">
                          <a:solidFill>
                            <a:srgbClr val="0E2A33"/>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marL="76200" marR="76200" marT="50800" marB="50800">
                    <a:lnL w="6350" cap="flat" cmpd="sng" algn="ctr">
                      <a:solidFill>
                        <a:srgbClr val="2D5562"/>
                      </a:solidFill>
                      <a:prstDash val="solid"/>
                      <a:round/>
                      <a:headEnd type="none" w="med" len="med"/>
                      <a:tailEnd type="none" w="med" len="med"/>
                    </a:lnL>
                    <a:lnR w="6350" cap="flat" cmpd="sng" algn="ctr">
                      <a:solidFill>
                        <a:srgbClr val="2D5562"/>
                      </a:solidFill>
                      <a:prstDash val="solid"/>
                      <a:round/>
                      <a:headEnd type="none" w="med" len="med"/>
                      <a:tailEnd type="none" w="med" len="med"/>
                    </a:lnR>
                    <a:lnT w="6350" cap="flat" cmpd="sng" algn="ctr">
                      <a:solidFill>
                        <a:srgbClr val="2D5562"/>
                      </a:solidFill>
                      <a:prstDash val="solid"/>
                      <a:round/>
                      <a:headEnd type="none" w="med" len="med"/>
                      <a:tailEnd type="none" w="med" len="med"/>
                    </a:lnT>
                    <a:lnB w="6350" cap="flat" cmpd="sng" algn="ctr">
                      <a:solidFill>
                        <a:srgbClr val="2D5562"/>
                      </a:solidFill>
                      <a:prstDash val="solid"/>
                      <a:round/>
                      <a:headEnd type="none" w="med" len="med"/>
                      <a:tailEnd type="none" w="med" len="med"/>
                    </a:lnB>
                    <a:solidFill>
                      <a:srgbClr val="9FB7BE"/>
                    </a:solidFill>
                  </a:tcPr>
                </a:tc>
              </a:tr>
              <a:tr h="0">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Yeo Kai Yuan</a:t>
                      </a:r>
                      <a:endParaRPr lang="en-US" sz="1300" dirty="0">
                        <a:latin typeface="Calibri" charset="0"/>
                        <a:ea typeface="Calibri" charset="0"/>
                        <a:cs typeface="Calibri" charset="0"/>
                      </a:endParaRPr>
                    </a:p>
                  </a:txBody>
                  <a:tcPr marL="76200" marR="76200" marT="50800" marB="50800">
                    <a:lnL w="6350" cap="flat" cmpd="sng" algn="ctr">
                      <a:solidFill>
                        <a:srgbClr val="2D5562"/>
                      </a:solidFill>
                      <a:prstDash val="solid"/>
                      <a:round/>
                      <a:headEnd type="none" w="med" len="med"/>
                      <a:tailEnd type="none" w="med" len="med"/>
                    </a:lnL>
                    <a:lnR w="6350" cap="flat" cmpd="sng" algn="ctr">
                      <a:solidFill>
                        <a:srgbClr val="2D5562"/>
                      </a:solidFill>
                      <a:prstDash val="solid"/>
                      <a:round/>
                      <a:headEnd type="none" w="med" len="med"/>
                      <a:tailEnd type="none" w="med" len="med"/>
                    </a:lnR>
                    <a:lnT w="6350" cap="flat" cmpd="sng" algn="ctr">
                      <a:solidFill>
                        <a:srgbClr val="2D5562"/>
                      </a:solidFill>
                      <a:prstDash val="solid"/>
                      <a:round/>
                      <a:headEnd type="none" w="med" len="med"/>
                      <a:tailEnd type="none" w="med" len="med"/>
                    </a:lnT>
                    <a:lnB w="6350" cap="flat" cmpd="sng" algn="ctr">
                      <a:solidFill>
                        <a:srgbClr val="2D5562"/>
                      </a:solidFill>
                      <a:prstDash val="solid"/>
                      <a:round/>
                      <a:headEnd type="none" w="med" len="med"/>
                      <a:tailEnd type="none" w="med" len="med"/>
                    </a:lnB>
                    <a:solidFill>
                      <a:srgbClr val="163B46"/>
                    </a:solidFill>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2403201</a:t>
                      </a:r>
                      <a:endParaRPr lang="en-US" sz="1300" dirty="0">
                        <a:latin typeface="Calibri" charset="0"/>
                        <a:ea typeface="Calibri" charset="0"/>
                        <a:cs typeface="Calibri" charset="0"/>
                      </a:endParaRPr>
                    </a:p>
                  </a:txBody>
                  <a:tcPr marL="76200" marR="76200" marT="50800" marB="50800">
                    <a:lnL w="6350" cap="flat" cmpd="sng" algn="ctr">
                      <a:solidFill>
                        <a:srgbClr val="2D5562"/>
                      </a:solidFill>
                      <a:prstDash val="solid"/>
                      <a:round/>
                      <a:headEnd type="none" w="med" len="med"/>
                      <a:tailEnd type="none" w="med" len="med"/>
                    </a:lnL>
                    <a:lnR w="6350" cap="flat" cmpd="sng" algn="ctr">
                      <a:solidFill>
                        <a:srgbClr val="2D5562"/>
                      </a:solidFill>
                      <a:prstDash val="solid"/>
                      <a:round/>
                      <a:headEnd type="none" w="med" len="med"/>
                      <a:tailEnd type="none" w="med" len="med"/>
                    </a:lnR>
                    <a:lnT w="6350" cap="flat" cmpd="sng" algn="ctr">
                      <a:solidFill>
                        <a:srgbClr val="2D5562"/>
                      </a:solidFill>
                      <a:prstDash val="solid"/>
                      <a:round/>
                      <a:headEnd type="none" w="med" len="med"/>
                      <a:tailEnd type="none" w="med" len="med"/>
                    </a:lnT>
                    <a:lnB w="6350" cap="flat" cmpd="sng" algn="ctr">
                      <a:solidFill>
                        <a:srgbClr val="2D5562"/>
                      </a:solidFill>
                      <a:prstDash val="solid"/>
                      <a:round/>
                      <a:headEnd type="none" w="med" len="med"/>
                      <a:tailEnd type="none" w="med" len="med"/>
                    </a:lnB>
                    <a:solidFill>
                      <a:srgbClr val="163B46"/>
                    </a:solidFill>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Service, test harness, analysis (Part 1)</a:t>
                      </a:r>
                      <a:endParaRPr lang="en-US" sz="1300" dirty="0">
                        <a:latin typeface="Calibri" charset="0"/>
                        <a:ea typeface="Calibri" charset="0"/>
                        <a:cs typeface="Calibri" charset="0"/>
                      </a:endParaRPr>
                    </a:p>
                  </a:txBody>
                  <a:tcPr marL="76200" marR="76200" marT="50800" marB="50800">
                    <a:lnL w="6350" cap="flat" cmpd="sng" algn="ctr">
                      <a:solidFill>
                        <a:srgbClr val="2D5562"/>
                      </a:solidFill>
                      <a:prstDash val="solid"/>
                      <a:round/>
                      <a:headEnd type="none" w="med" len="med"/>
                      <a:tailEnd type="none" w="med" len="med"/>
                    </a:lnL>
                    <a:lnR w="6350" cap="flat" cmpd="sng" algn="ctr">
                      <a:solidFill>
                        <a:srgbClr val="2D5562"/>
                      </a:solidFill>
                      <a:prstDash val="solid"/>
                      <a:round/>
                      <a:headEnd type="none" w="med" len="med"/>
                      <a:tailEnd type="none" w="med" len="med"/>
                    </a:lnR>
                    <a:lnT w="6350" cap="flat" cmpd="sng" algn="ctr">
                      <a:solidFill>
                        <a:srgbClr val="2D5562"/>
                      </a:solidFill>
                      <a:prstDash val="solid"/>
                      <a:round/>
                      <a:headEnd type="none" w="med" len="med"/>
                      <a:tailEnd type="none" w="med" len="med"/>
                    </a:lnT>
                    <a:lnB w="6350" cap="flat" cmpd="sng" algn="ctr">
                      <a:solidFill>
                        <a:srgbClr val="2D5562"/>
                      </a:solidFill>
                      <a:prstDash val="solid"/>
                      <a:round/>
                      <a:headEnd type="none" w="med" len="med"/>
                      <a:tailEnd type="none" w="med" len="med"/>
                    </a:lnB>
                    <a:solidFill>
                      <a:srgbClr val="163B46"/>
                    </a:solidFill>
                  </a:tcPr>
                </a:tc>
              </a:tr>
              <a:tr h="0">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Loh Wen Xuan</a:t>
                      </a:r>
                      <a:endParaRPr lang="en-US" sz="1300" dirty="0">
                        <a:latin typeface="Calibri" charset="0"/>
                        <a:ea typeface="Calibri" charset="0"/>
                        <a:cs typeface="Calibri" charset="0"/>
                      </a:endParaRPr>
                    </a:p>
                  </a:txBody>
                  <a:tcPr marL="76200" marR="76200" marT="50800" marB="50800">
                    <a:lnL w="6350" cap="flat" cmpd="sng" algn="ctr">
                      <a:solidFill>
                        <a:srgbClr val="2D5562"/>
                      </a:solidFill>
                      <a:prstDash val="solid"/>
                      <a:round/>
                      <a:headEnd type="none" w="med" len="med"/>
                      <a:tailEnd type="none" w="med" len="med"/>
                    </a:lnL>
                    <a:lnR w="6350" cap="flat" cmpd="sng" algn="ctr">
                      <a:solidFill>
                        <a:srgbClr val="2D5562"/>
                      </a:solidFill>
                      <a:prstDash val="solid"/>
                      <a:round/>
                      <a:headEnd type="none" w="med" len="med"/>
                      <a:tailEnd type="none" w="med" len="med"/>
                    </a:lnR>
                    <a:lnT w="6350" cap="flat" cmpd="sng" algn="ctr">
                      <a:solidFill>
                        <a:srgbClr val="2D5562"/>
                      </a:solidFill>
                      <a:prstDash val="solid"/>
                      <a:round/>
                      <a:headEnd type="none" w="med" len="med"/>
                      <a:tailEnd type="none" w="med" len="med"/>
                    </a:lnT>
                    <a:lnB w="6350" cap="flat" cmpd="sng" algn="ctr">
                      <a:solidFill>
                        <a:srgbClr val="2D5562"/>
                      </a:solidFill>
                      <a:prstDash val="solid"/>
                      <a:round/>
                      <a:headEnd type="none" w="med" len="med"/>
                      <a:tailEnd type="none" w="med" len="med"/>
                    </a:lnB>
                    <a:solidFill>
                      <a:srgbClr val="163B46"/>
                    </a:solidFill>
                  </a:tcPr>
                </a:tc>
                <a:tc>
                  <a:txBody>
                    <a:bodyPr/>
                    <a:lstStyle/>
                    <a:p>
                      <a:pPr indent="0" marL="0">
                        <a:buNone/>
                      </a:pPr>
                      <a:r>
                        <a:rPr lang="en-US" sz="1300" b="1" dirty="0">
                          <a:solidFill>
                            <a:srgbClr val="E39B2D"/>
                          </a:solidFill>
                          <a:latin typeface="Calibri" pitchFamily="34" charset="0"/>
                          <a:ea typeface="Calibri" pitchFamily="34" charset="-122"/>
                          <a:cs typeface="Calibri" pitchFamily="34" charset="-120"/>
                        </a:rPr>
                        <a:t>ID pending</a:t>
                      </a:r>
                      <a:endParaRPr lang="en-US" sz="1300" dirty="0">
                        <a:latin typeface="Calibri" charset="0"/>
                        <a:ea typeface="Calibri" charset="0"/>
                        <a:cs typeface="Calibri" charset="0"/>
                      </a:endParaRPr>
                    </a:p>
                  </a:txBody>
                  <a:tcPr marL="76200" marR="76200" marT="50800" marB="50800">
                    <a:lnL w="6350" cap="flat" cmpd="sng" algn="ctr">
                      <a:solidFill>
                        <a:srgbClr val="2D5562"/>
                      </a:solidFill>
                      <a:prstDash val="solid"/>
                      <a:round/>
                      <a:headEnd type="none" w="med" len="med"/>
                      <a:tailEnd type="none" w="med" len="med"/>
                    </a:lnL>
                    <a:lnR w="6350" cap="flat" cmpd="sng" algn="ctr">
                      <a:solidFill>
                        <a:srgbClr val="2D5562"/>
                      </a:solidFill>
                      <a:prstDash val="solid"/>
                      <a:round/>
                      <a:headEnd type="none" w="med" len="med"/>
                      <a:tailEnd type="none" w="med" len="med"/>
                    </a:lnR>
                    <a:lnT w="6350" cap="flat" cmpd="sng" algn="ctr">
                      <a:solidFill>
                        <a:srgbClr val="2D5562"/>
                      </a:solidFill>
                      <a:prstDash val="solid"/>
                      <a:round/>
                      <a:headEnd type="none" w="med" len="med"/>
                      <a:tailEnd type="none" w="med" len="med"/>
                    </a:lnT>
                    <a:lnB w="6350" cap="flat" cmpd="sng" algn="ctr">
                      <a:solidFill>
                        <a:srgbClr val="2D5562"/>
                      </a:solidFill>
                      <a:prstDash val="solid"/>
                      <a:round/>
                      <a:headEnd type="none" w="med" len="med"/>
                      <a:tailEnd type="none" w="med" len="med"/>
                    </a:lnB>
                    <a:solidFill>
                      <a:srgbClr val="163B46"/>
                    </a:solidFill>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Labelling protocol, labeller A (Part 2)</a:t>
                      </a:r>
                      <a:endParaRPr lang="en-US" sz="1300" dirty="0">
                        <a:latin typeface="Calibri" charset="0"/>
                        <a:ea typeface="Calibri" charset="0"/>
                        <a:cs typeface="Calibri" charset="0"/>
                      </a:endParaRPr>
                    </a:p>
                  </a:txBody>
                  <a:tcPr marL="76200" marR="76200" marT="50800" marB="50800">
                    <a:lnL w="6350" cap="flat" cmpd="sng" algn="ctr">
                      <a:solidFill>
                        <a:srgbClr val="2D5562"/>
                      </a:solidFill>
                      <a:prstDash val="solid"/>
                      <a:round/>
                      <a:headEnd type="none" w="med" len="med"/>
                      <a:tailEnd type="none" w="med" len="med"/>
                    </a:lnL>
                    <a:lnR w="6350" cap="flat" cmpd="sng" algn="ctr">
                      <a:solidFill>
                        <a:srgbClr val="2D5562"/>
                      </a:solidFill>
                      <a:prstDash val="solid"/>
                      <a:round/>
                      <a:headEnd type="none" w="med" len="med"/>
                      <a:tailEnd type="none" w="med" len="med"/>
                    </a:lnR>
                    <a:lnT w="6350" cap="flat" cmpd="sng" algn="ctr">
                      <a:solidFill>
                        <a:srgbClr val="2D5562"/>
                      </a:solidFill>
                      <a:prstDash val="solid"/>
                      <a:round/>
                      <a:headEnd type="none" w="med" len="med"/>
                      <a:tailEnd type="none" w="med" len="med"/>
                    </a:lnT>
                    <a:lnB w="6350" cap="flat" cmpd="sng" algn="ctr">
                      <a:solidFill>
                        <a:srgbClr val="2D5562"/>
                      </a:solidFill>
                      <a:prstDash val="solid"/>
                      <a:round/>
                      <a:headEnd type="none" w="med" len="med"/>
                      <a:tailEnd type="none" w="med" len="med"/>
                    </a:lnB>
                    <a:solidFill>
                      <a:srgbClr val="163B46"/>
                    </a:solidFill>
                  </a:tcPr>
                </a:tc>
              </a:tr>
              <a:tr h="0">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Jolie Ngai Ning Li</a:t>
                      </a:r>
                      <a:endParaRPr lang="en-US" sz="1300" dirty="0">
                        <a:latin typeface="Calibri" charset="0"/>
                        <a:ea typeface="Calibri" charset="0"/>
                        <a:cs typeface="Calibri" charset="0"/>
                      </a:endParaRPr>
                    </a:p>
                  </a:txBody>
                  <a:tcPr marL="76200" marR="76200" marT="50800" marB="50800">
                    <a:lnL w="6350" cap="flat" cmpd="sng" algn="ctr">
                      <a:solidFill>
                        <a:srgbClr val="2D5562"/>
                      </a:solidFill>
                      <a:prstDash val="solid"/>
                      <a:round/>
                      <a:headEnd type="none" w="med" len="med"/>
                      <a:tailEnd type="none" w="med" len="med"/>
                    </a:lnL>
                    <a:lnR w="6350" cap="flat" cmpd="sng" algn="ctr">
                      <a:solidFill>
                        <a:srgbClr val="2D5562"/>
                      </a:solidFill>
                      <a:prstDash val="solid"/>
                      <a:round/>
                      <a:headEnd type="none" w="med" len="med"/>
                      <a:tailEnd type="none" w="med" len="med"/>
                    </a:lnR>
                    <a:lnT w="6350" cap="flat" cmpd="sng" algn="ctr">
                      <a:solidFill>
                        <a:srgbClr val="2D5562"/>
                      </a:solidFill>
                      <a:prstDash val="solid"/>
                      <a:round/>
                      <a:headEnd type="none" w="med" len="med"/>
                      <a:tailEnd type="none" w="med" len="med"/>
                    </a:lnT>
                    <a:lnB w="6350" cap="flat" cmpd="sng" algn="ctr">
                      <a:solidFill>
                        <a:srgbClr val="2D5562"/>
                      </a:solidFill>
                      <a:prstDash val="solid"/>
                      <a:round/>
                      <a:headEnd type="none" w="med" len="med"/>
                      <a:tailEnd type="none" w="med" len="med"/>
                    </a:lnB>
                    <a:solidFill>
                      <a:srgbClr val="163B46"/>
                    </a:solidFill>
                  </a:tcPr>
                </a:tc>
                <a:tc>
                  <a:txBody>
                    <a:bodyPr/>
                    <a:lstStyle/>
                    <a:p>
                      <a:pPr indent="0" marL="0">
                        <a:buNone/>
                      </a:pPr>
                      <a:r>
                        <a:rPr lang="en-US" sz="1300" b="1" dirty="0">
                          <a:solidFill>
                            <a:srgbClr val="E39B2D"/>
                          </a:solidFill>
                          <a:latin typeface="Calibri" pitchFamily="34" charset="0"/>
                          <a:ea typeface="Calibri" pitchFamily="34" charset="-122"/>
                          <a:cs typeface="Calibri" pitchFamily="34" charset="-120"/>
                        </a:rPr>
                        <a:t>ID pending</a:t>
                      </a:r>
                      <a:endParaRPr lang="en-US" sz="1300" dirty="0">
                        <a:latin typeface="Calibri" charset="0"/>
                        <a:ea typeface="Calibri" charset="0"/>
                        <a:cs typeface="Calibri" charset="0"/>
                      </a:endParaRPr>
                    </a:p>
                  </a:txBody>
                  <a:tcPr marL="76200" marR="76200" marT="50800" marB="50800">
                    <a:lnL w="6350" cap="flat" cmpd="sng" algn="ctr">
                      <a:solidFill>
                        <a:srgbClr val="2D5562"/>
                      </a:solidFill>
                      <a:prstDash val="solid"/>
                      <a:round/>
                      <a:headEnd type="none" w="med" len="med"/>
                      <a:tailEnd type="none" w="med" len="med"/>
                    </a:lnL>
                    <a:lnR w="6350" cap="flat" cmpd="sng" algn="ctr">
                      <a:solidFill>
                        <a:srgbClr val="2D5562"/>
                      </a:solidFill>
                      <a:prstDash val="solid"/>
                      <a:round/>
                      <a:headEnd type="none" w="med" len="med"/>
                      <a:tailEnd type="none" w="med" len="med"/>
                    </a:lnR>
                    <a:lnT w="6350" cap="flat" cmpd="sng" algn="ctr">
                      <a:solidFill>
                        <a:srgbClr val="2D5562"/>
                      </a:solidFill>
                      <a:prstDash val="solid"/>
                      <a:round/>
                      <a:headEnd type="none" w="med" len="med"/>
                      <a:tailEnd type="none" w="med" len="med"/>
                    </a:lnT>
                    <a:lnB w="6350" cap="flat" cmpd="sng" algn="ctr">
                      <a:solidFill>
                        <a:srgbClr val="2D5562"/>
                      </a:solidFill>
                      <a:prstDash val="solid"/>
                      <a:round/>
                      <a:headEnd type="none" w="med" len="med"/>
                      <a:tailEnd type="none" w="med" len="med"/>
                    </a:lnB>
                    <a:solidFill>
                      <a:srgbClr val="163B46"/>
                    </a:solidFill>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Labeller B, accuracy results (Part 3)</a:t>
                      </a:r>
                      <a:endParaRPr lang="en-US" sz="1300" dirty="0">
                        <a:latin typeface="Calibri" charset="0"/>
                        <a:ea typeface="Calibri" charset="0"/>
                        <a:cs typeface="Calibri" charset="0"/>
                      </a:endParaRPr>
                    </a:p>
                  </a:txBody>
                  <a:tcPr marL="76200" marR="76200" marT="50800" marB="50800">
                    <a:lnL w="6350" cap="flat" cmpd="sng" algn="ctr">
                      <a:solidFill>
                        <a:srgbClr val="2D5562"/>
                      </a:solidFill>
                      <a:prstDash val="solid"/>
                      <a:round/>
                      <a:headEnd type="none" w="med" len="med"/>
                      <a:tailEnd type="none" w="med" len="med"/>
                    </a:lnL>
                    <a:lnR w="6350" cap="flat" cmpd="sng" algn="ctr">
                      <a:solidFill>
                        <a:srgbClr val="2D5562"/>
                      </a:solidFill>
                      <a:prstDash val="solid"/>
                      <a:round/>
                      <a:headEnd type="none" w="med" len="med"/>
                      <a:tailEnd type="none" w="med" len="med"/>
                    </a:lnR>
                    <a:lnT w="6350" cap="flat" cmpd="sng" algn="ctr">
                      <a:solidFill>
                        <a:srgbClr val="2D5562"/>
                      </a:solidFill>
                      <a:prstDash val="solid"/>
                      <a:round/>
                      <a:headEnd type="none" w="med" len="med"/>
                      <a:tailEnd type="none" w="med" len="med"/>
                    </a:lnT>
                    <a:lnB w="6350" cap="flat" cmpd="sng" algn="ctr">
                      <a:solidFill>
                        <a:srgbClr val="2D5562"/>
                      </a:solidFill>
                      <a:prstDash val="solid"/>
                      <a:round/>
                      <a:headEnd type="none" w="med" len="med"/>
                      <a:tailEnd type="none" w="med" len="med"/>
                    </a:lnB>
                    <a:solidFill>
                      <a:srgbClr val="163B46"/>
                    </a:solidFill>
                  </a:tcPr>
                </a:tc>
              </a:tr>
              <a:tr h="0">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Toh Si Pei</a:t>
                      </a:r>
                      <a:endParaRPr lang="en-US" sz="1300" dirty="0">
                        <a:latin typeface="Calibri" charset="0"/>
                        <a:ea typeface="Calibri" charset="0"/>
                        <a:cs typeface="Calibri" charset="0"/>
                      </a:endParaRPr>
                    </a:p>
                  </a:txBody>
                  <a:tcPr marL="76200" marR="76200" marT="50800" marB="50800">
                    <a:lnL w="6350" cap="flat" cmpd="sng" algn="ctr">
                      <a:solidFill>
                        <a:srgbClr val="2D5562"/>
                      </a:solidFill>
                      <a:prstDash val="solid"/>
                      <a:round/>
                      <a:headEnd type="none" w="med" len="med"/>
                      <a:tailEnd type="none" w="med" len="med"/>
                    </a:lnL>
                    <a:lnR w="6350" cap="flat" cmpd="sng" algn="ctr">
                      <a:solidFill>
                        <a:srgbClr val="2D5562"/>
                      </a:solidFill>
                      <a:prstDash val="solid"/>
                      <a:round/>
                      <a:headEnd type="none" w="med" len="med"/>
                      <a:tailEnd type="none" w="med" len="med"/>
                    </a:lnR>
                    <a:lnT w="6350" cap="flat" cmpd="sng" algn="ctr">
                      <a:solidFill>
                        <a:srgbClr val="2D5562"/>
                      </a:solidFill>
                      <a:prstDash val="solid"/>
                      <a:round/>
                      <a:headEnd type="none" w="med" len="med"/>
                      <a:tailEnd type="none" w="med" len="med"/>
                    </a:lnT>
                    <a:lnB w="6350" cap="flat" cmpd="sng" algn="ctr">
                      <a:solidFill>
                        <a:srgbClr val="2D5562"/>
                      </a:solidFill>
                      <a:prstDash val="solid"/>
                      <a:round/>
                      <a:headEnd type="none" w="med" len="med"/>
                      <a:tailEnd type="none" w="med" len="med"/>
                    </a:lnB>
                    <a:solidFill>
                      <a:srgbClr val="163B46"/>
                    </a:solidFill>
                  </a:tcPr>
                </a:tc>
                <a:tc>
                  <a:txBody>
                    <a:bodyPr/>
                    <a:lstStyle/>
                    <a:p>
                      <a:pPr indent="0" marL="0">
                        <a:buNone/>
                      </a:pPr>
                      <a:r>
                        <a:rPr lang="en-US" sz="1300" b="1" dirty="0">
                          <a:solidFill>
                            <a:srgbClr val="E39B2D"/>
                          </a:solidFill>
                          <a:latin typeface="Calibri" pitchFamily="34" charset="0"/>
                          <a:ea typeface="Calibri" pitchFamily="34" charset="-122"/>
                          <a:cs typeface="Calibri" pitchFamily="34" charset="-120"/>
                        </a:rPr>
                        <a:t>ID pending</a:t>
                      </a:r>
                      <a:endParaRPr lang="en-US" sz="1300" dirty="0">
                        <a:latin typeface="Calibri" charset="0"/>
                        <a:ea typeface="Calibri" charset="0"/>
                        <a:cs typeface="Calibri" charset="0"/>
                      </a:endParaRPr>
                    </a:p>
                  </a:txBody>
                  <a:tcPr marL="76200" marR="76200" marT="50800" marB="50800">
                    <a:lnL w="6350" cap="flat" cmpd="sng" algn="ctr">
                      <a:solidFill>
                        <a:srgbClr val="2D5562"/>
                      </a:solidFill>
                      <a:prstDash val="solid"/>
                      <a:round/>
                      <a:headEnd type="none" w="med" len="med"/>
                      <a:tailEnd type="none" w="med" len="med"/>
                    </a:lnL>
                    <a:lnR w="6350" cap="flat" cmpd="sng" algn="ctr">
                      <a:solidFill>
                        <a:srgbClr val="2D5562"/>
                      </a:solidFill>
                      <a:prstDash val="solid"/>
                      <a:round/>
                      <a:headEnd type="none" w="med" len="med"/>
                      <a:tailEnd type="none" w="med" len="med"/>
                    </a:lnR>
                    <a:lnT w="6350" cap="flat" cmpd="sng" algn="ctr">
                      <a:solidFill>
                        <a:srgbClr val="2D5562"/>
                      </a:solidFill>
                      <a:prstDash val="solid"/>
                      <a:round/>
                      <a:headEnd type="none" w="med" len="med"/>
                      <a:tailEnd type="none" w="med" len="med"/>
                    </a:lnT>
                    <a:lnB w="6350" cap="flat" cmpd="sng" algn="ctr">
                      <a:solidFill>
                        <a:srgbClr val="2D5562"/>
                      </a:solidFill>
                      <a:prstDash val="solid"/>
                      <a:round/>
                      <a:headEnd type="none" w="med" len="med"/>
                      <a:tailEnd type="none" w="med" len="med"/>
                    </a:lnB>
                    <a:solidFill>
                      <a:srgbClr val="163B46"/>
                    </a:solidFill>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Workload model and requirements (Part 4)</a:t>
                      </a:r>
                      <a:endParaRPr lang="en-US" sz="1300" dirty="0">
                        <a:latin typeface="Calibri" charset="0"/>
                        <a:ea typeface="Calibri" charset="0"/>
                        <a:cs typeface="Calibri" charset="0"/>
                      </a:endParaRPr>
                    </a:p>
                  </a:txBody>
                  <a:tcPr marL="76200" marR="76200" marT="50800" marB="50800">
                    <a:lnL w="6350" cap="flat" cmpd="sng" algn="ctr">
                      <a:solidFill>
                        <a:srgbClr val="2D5562"/>
                      </a:solidFill>
                      <a:prstDash val="solid"/>
                      <a:round/>
                      <a:headEnd type="none" w="med" len="med"/>
                      <a:tailEnd type="none" w="med" len="med"/>
                    </a:lnL>
                    <a:lnR w="6350" cap="flat" cmpd="sng" algn="ctr">
                      <a:solidFill>
                        <a:srgbClr val="2D5562"/>
                      </a:solidFill>
                      <a:prstDash val="solid"/>
                      <a:round/>
                      <a:headEnd type="none" w="med" len="med"/>
                      <a:tailEnd type="none" w="med" len="med"/>
                    </a:lnR>
                    <a:lnT w="6350" cap="flat" cmpd="sng" algn="ctr">
                      <a:solidFill>
                        <a:srgbClr val="2D5562"/>
                      </a:solidFill>
                      <a:prstDash val="solid"/>
                      <a:round/>
                      <a:headEnd type="none" w="med" len="med"/>
                      <a:tailEnd type="none" w="med" len="med"/>
                    </a:lnT>
                    <a:lnB w="6350" cap="flat" cmpd="sng" algn="ctr">
                      <a:solidFill>
                        <a:srgbClr val="2D5562"/>
                      </a:solidFill>
                      <a:prstDash val="solid"/>
                      <a:round/>
                      <a:headEnd type="none" w="med" len="med"/>
                      <a:tailEnd type="none" w="med" len="med"/>
                    </a:lnB>
                    <a:solidFill>
                      <a:srgbClr val="163B46"/>
                    </a:solidFill>
                  </a:tcPr>
                </a:tc>
              </a:tr>
              <a:tr h="0">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Koh Tong Wei</a:t>
                      </a:r>
                      <a:endParaRPr lang="en-US" sz="1300" dirty="0">
                        <a:latin typeface="Calibri" charset="0"/>
                        <a:ea typeface="Calibri" charset="0"/>
                        <a:cs typeface="Calibri" charset="0"/>
                      </a:endParaRPr>
                    </a:p>
                  </a:txBody>
                  <a:tcPr marL="76200" marR="76200" marT="50800" marB="50800">
                    <a:lnL w="6350" cap="flat" cmpd="sng" algn="ctr">
                      <a:solidFill>
                        <a:srgbClr val="2D5562"/>
                      </a:solidFill>
                      <a:prstDash val="solid"/>
                      <a:round/>
                      <a:headEnd type="none" w="med" len="med"/>
                      <a:tailEnd type="none" w="med" len="med"/>
                    </a:lnL>
                    <a:lnR w="6350" cap="flat" cmpd="sng" algn="ctr">
                      <a:solidFill>
                        <a:srgbClr val="2D5562"/>
                      </a:solidFill>
                      <a:prstDash val="solid"/>
                      <a:round/>
                      <a:headEnd type="none" w="med" len="med"/>
                      <a:tailEnd type="none" w="med" len="med"/>
                    </a:lnR>
                    <a:lnT w="6350" cap="flat" cmpd="sng" algn="ctr">
                      <a:solidFill>
                        <a:srgbClr val="2D5562"/>
                      </a:solidFill>
                      <a:prstDash val="solid"/>
                      <a:round/>
                      <a:headEnd type="none" w="med" len="med"/>
                      <a:tailEnd type="none" w="med" len="med"/>
                    </a:lnT>
                    <a:lnB w="6350" cap="flat" cmpd="sng" algn="ctr">
                      <a:solidFill>
                        <a:srgbClr val="2D5562"/>
                      </a:solidFill>
                      <a:prstDash val="solid"/>
                      <a:round/>
                      <a:headEnd type="none" w="med" len="med"/>
                      <a:tailEnd type="none" w="med" len="med"/>
                    </a:lnB>
                    <a:solidFill>
                      <a:srgbClr val="163B46"/>
                    </a:solidFill>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2402162</a:t>
                      </a:r>
                      <a:endParaRPr lang="en-US" sz="1300" dirty="0">
                        <a:latin typeface="Calibri" charset="0"/>
                        <a:ea typeface="Calibri" charset="0"/>
                        <a:cs typeface="Calibri" charset="0"/>
                      </a:endParaRPr>
                    </a:p>
                  </a:txBody>
                  <a:tcPr marL="76200" marR="76200" marT="50800" marB="50800">
                    <a:lnL w="6350" cap="flat" cmpd="sng" algn="ctr">
                      <a:solidFill>
                        <a:srgbClr val="2D5562"/>
                      </a:solidFill>
                      <a:prstDash val="solid"/>
                      <a:round/>
                      <a:headEnd type="none" w="med" len="med"/>
                      <a:tailEnd type="none" w="med" len="med"/>
                    </a:lnL>
                    <a:lnR w="6350" cap="flat" cmpd="sng" algn="ctr">
                      <a:solidFill>
                        <a:srgbClr val="2D5562"/>
                      </a:solidFill>
                      <a:prstDash val="solid"/>
                      <a:round/>
                      <a:headEnd type="none" w="med" len="med"/>
                      <a:tailEnd type="none" w="med" len="med"/>
                    </a:lnR>
                    <a:lnT w="6350" cap="flat" cmpd="sng" algn="ctr">
                      <a:solidFill>
                        <a:srgbClr val="2D5562"/>
                      </a:solidFill>
                      <a:prstDash val="solid"/>
                      <a:round/>
                      <a:headEnd type="none" w="med" len="med"/>
                      <a:tailEnd type="none" w="med" len="med"/>
                    </a:lnT>
                    <a:lnB w="6350" cap="flat" cmpd="sng" algn="ctr">
                      <a:solidFill>
                        <a:srgbClr val="2D5562"/>
                      </a:solidFill>
                      <a:prstDash val="solid"/>
                      <a:round/>
                      <a:headEnd type="none" w="med" len="med"/>
                      <a:tailEnd type="none" w="med" len="med"/>
                    </a:lnB>
                    <a:solidFill>
                      <a:srgbClr val="163B46"/>
                    </a:solidFill>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Test environment, playbooks, references (Part 5)</a:t>
                      </a:r>
                      <a:endParaRPr lang="en-US" sz="1300" dirty="0">
                        <a:latin typeface="Calibri" charset="0"/>
                        <a:ea typeface="Calibri" charset="0"/>
                        <a:cs typeface="Calibri" charset="0"/>
                      </a:endParaRPr>
                    </a:p>
                  </a:txBody>
                  <a:tcPr marL="76200" marR="76200" marT="50800" marB="50800">
                    <a:lnL w="6350" cap="flat" cmpd="sng" algn="ctr">
                      <a:solidFill>
                        <a:srgbClr val="2D5562"/>
                      </a:solidFill>
                      <a:prstDash val="solid"/>
                      <a:round/>
                      <a:headEnd type="none" w="med" len="med"/>
                      <a:tailEnd type="none" w="med" len="med"/>
                    </a:lnL>
                    <a:lnR w="6350" cap="flat" cmpd="sng" algn="ctr">
                      <a:solidFill>
                        <a:srgbClr val="2D5562"/>
                      </a:solidFill>
                      <a:prstDash val="solid"/>
                      <a:round/>
                      <a:headEnd type="none" w="med" len="med"/>
                      <a:tailEnd type="none" w="med" len="med"/>
                    </a:lnR>
                    <a:lnT w="6350" cap="flat" cmpd="sng" algn="ctr">
                      <a:solidFill>
                        <a:srgbClr val="2D5562"/>
                      </a:solidFill>
                      <a:prstDash val="solid"/>
                      <a:round/>
                      <a:headEnd type="none" w="med" len="med"/>
                      <a:tailEnd type="none" w="med" len="med"/>
                    </a:lnT>
                    <a:lnB w="6350" cap="flat" cmpd="sng" algn="ctr">
                      <a:solidFill>
                        <a:srgbClr val="2D5562"/>
                      </a:solidFill>
                      <a:prstDash val="solid"/>
                      <a:round/>
                      <a:headEnd type="none" w="med" len="med"/>
                      <a:tailEnd type="none" w="med" len="med"/>
                    </a:lnB>
                    <a:solidFill>
                      <a:srgbClr val="163B46"/>
                    </a:solidFill>
                  </a:tcPr>
                </a:tc>
              </a:tr>
            </a:tbl>
          </a:graphicData>
        </a:graphic>
      </p:graphicFrame>
      <p:sp>
        <p:nvSpPr>
          <p:cNvPr id="8" name="Shape 5"/>
          <p:cNvSpPr/>
          <p:nvPr/>
        </p:nvSpPr>
        <p:spPr>
          <a:xfrm>
            <a:off x="8549640" y="2788920"/>
            <a:ext cx="3136392" cy="2212848"/>
          </a:xfrm>
          <a:prstGeom prst="roundRect">
            <a:avLst>
              <a:gd name="adj" fmla="val 3306"/>
            </a:avLst>
          </a:prstGeom>
          <a:solidFill>
            <a:srgbClr val="163B46"/>
          </a:solidFill>
          <a:ln w="12700">
            <a:solidFill>
              <a:srgbClr val="2D5562"/>
            </a:solidFill>
            <a:prstDash val="solid"/>
          </a:ln>
        </p:spPr>
      </p:sp>
      <p:sp>
        <p:nvSpPr>
          <p:cNvPr id="9" name="Text 6"/>
          <p:cNvSpPr txBox="1"/>
          <p:nvPr/>
        </p:nvSpPr>
        <p:spPr>
          <a:xfrm>
            <a:off x="8686800" y="2880360"/>
            <a:ext cx="2834640" cy="274320"/>
          </a:xfrm>
          <a:prstGeom prst="rect">
            <a:avLst/>
          </a:prstGeom>
          <a:noFill/>
          <a:ln/>
        </p:spPr>
        <p:txBody>
          <a:bodyPr wrap="square" lIns="762" tIns="762" rIns="762" bIns="762" rtlCol="0" anchor="t"/>
          <a:lstStyle/>
          <a:p>
            <a:pPr algn="l" indent="0" marL="0">
              <a:lnSpc>
                <a:spcPct val="100000"/>
              </a:lnSpc>
              <a:buNone/>
            </a:pPr>
            <a:r>
              <a:rPr lang="en-US" sz="1200" b="1" dirty="0">
                <a:solidFill>
                  <a:srgbClr val="9FB7BE"/>
                </a:solidFill>
                <a:latin typeface="Calibri" pitchFamily="34" charset="0"/>
                <a:ea typeface="Calibri" pitchFamily="34" charset="-122"/>
                <a:cs typeface="Calibri" pitchFamily="34" charset="-120"/>
              </a:rPr>
              <a:t>Repository</a:t>
            </a:r>
            <a:endParaRPr lang="en-US" sz="1200" dirty="0"/>
          </a:p>
        </p:txBody>
      </p:sp>
      <p:sp>
        <p:nvSpPr>
          <p:cNvPr id="10" name="Text 7">
            <a:hlinkClick r:id="rId1" tooltip=""/>
          </p:cNvPr>
          <p:cNvSpPr txBox="1"/>
          <p:nvPr/>
        </p:nvSpPr>
        <p:spPr>
          <a:xfrm>
            <a:off x="8686800" y="3154680"/>
            <a:ext cx="2926080" cy="457200"/>
          </a:xfrm>
          <a:prstGeom prst="rect">
            <a:avLst/>
          </a:prstGeom>
          <a:noFill/>
          <a:ln/>
        </p:spPr>
        <p:txBody>
          <a:bodyPr wrap="square" lIns="762" tIns="762" rIns="762" bIns="762" rtlCol="0" anchor="ctr"/>
          <a:lstStyle/>
          <a:p>
            <a:pPr indent="0" marL="0">
              <a:buNone/>
            </a:pPr>
            <a:r>
              <a:rPr lang="en-US" sz="1300" u="sng" dirty="0">
                <a:solidFill>
                  <a:srgbClr val="E39B2D"/>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github.com/Fokku/ICT3113-PTO</a:t>
            </a:r>
            <a:endParaRPr lang="en-US" sz="1300" dirty="0"/>
          </a:p>
        </p:txBody>
      </p:sp>
      <p:sp>
        <p:nvSpPr>
          <p:cNvPr id="11" name="Text 8"/>
          <p:cNvSpPr txBox="1"/>
          <p:nvPr/>
        </p:nvSpPr>
        <p:spPr>
          <a:xfrm>
            <a:off x="8686800" y="3657600"/>
            <a:ext cx="2926080" cy="1234440"/>
          </a:xfrm>
          <a:prstGeom prst="rect">
            <a:avLst/>
          </a:prstGeom>
          <a:noFill/>
          <a:ln/>
        </p:spPr>
        <p:txBody>
          <a:bodyPr wrap="square" lIns="762" tIns="762" rIns="762" bIns="762" rtlCol="0" anchor="t"/>
          <a:lstStyle/>
          <a:p>
            <a:pPr algn="l" indent="0" marL="0">
              <a:lnSpc>
                <a:spcPct val="100000"/>
              </a:lnSpc>
              <a:buNone/>
            </a:pPr>
            <a:r>
              <a:rPr lang="en-US" sz="1050" dirty="0">
                <a:solidFill>
                  <a:srgbClr val="9FB7BE"/>
                </a:solidFill>
                <a:latin typeface="Calibri" pitchFamily="34" charset="0"/>
                <a:ea typeface="Calibri" pitchFamily="34" charset="-122"/>
                <a:cs typeface="Calibri" pitchFamily="34" charset="-120"/>
              </a:rPr>
              <a:t>Rebuild and run the service:</a:t>
            </a:r>
            <a:endParaRPr lang="en-US" sz="1050" dirty="0"/>
          </a:p>
          <a:p>
            <a:pPr algn="l" indent="0" marL="0">
              <a:lnSpc>
                <a:spcPct val="100000"/>
              </a:lnSpc>
              <a:buNone/>
            </a:pPr>
            <a:r>
              <a:rPr lang="en-US" sz="1050" dirty="0">
                <a:solidFill>
                  <a:srgbClr val="FFFFFF"/>
                </a:solidFill>
                <a:latin typeface="Courier New" pitchFamily="34" charset="0"/>
                <a:ea typeface="Courier New" pitchFamily="34" charset="-122"/>
                <a:cs typeface="Courier New" pitchFamily="34" charset="-120"/>
              </a:rPr>
              <a:t>git clone &lt;repository&gt;</a:t>
            </a:r>
            <a:endParaRPr lang="en-US" sz="1050" dirty="0"/>
          </a:p>
          <a:p>
            <a:pPr algn="l" indent="0" marL="0">
              <a:lnSpc>
                <a:spcPct val="100000"/>
              </a:lnSpc>
              <a:buNone/>
            </a:pPr>
            <a:r>
              <a:rPr lang="en-US" sz="1050" dirty="0">
                <a:solidFill>
                  <a:srgbClr val="FFFFFF"/>
                </a:solidFill>
                <a:latin typeface="Courier New" pitchFamily="34" charset="0"/>
                <a:ea typeface="Courier New" pitchFamily="34" charset="-122"/>
                <a:cs typeface="Courier New" pitchFamily="34" charset="-120"/>
              </a:rPr>
              <a:t>docker compose --profile local-ollama up -d --build</a:t>
            </a:r>
            <a:endParaRPr lang="en-US" sz="1050" dirty="0"/>
          </a:p>
        </p:txBody>
      </p:sp>
      <p:sp>
        <p:nvSpPr>
          <p:cNvPr id="12" name="Shape 9"/>
          <p:cNvSpPr/>
          <p:nvPr/>
        </p:nvSpPr>
        <p:spPr>
          <a:xfrm>
            <a:off x="502920" y="5623560"/>
            <a:ext cx="1503927" cy="457200"/>
          </a:xfrm>
          <a:prstGeom prst="roundRect">
            <a:avLst>
              <a:gd name="adj" fmla="val 20000"/>
            </a:avLst>
          </a:prstGeom>
          <a:solidFill>
            <a:srgbClr val="235C68"/>
          </a:solidFill>
          <a:ln w="12700">
            <a:solidFill>
              <a:srgbClr val="235C68"/>
            </a:solidFill>
            <a:prstDash val="solid"/>
          </a:ln>
        </p:spPr>
      </p:sp>
      <p:sp>
        <p:nvSpPr>
          <p:cNvPr id="13" name="Text 10"/>
          <p:cNvSpPr txBox="1"/>
          <p:nvPr/>
        </p:nvSpPr>
        <p:spPr>
          <a:xfrm>
            <a:off x="502920" y="5623560"/>
            <a:ext cx="1503927" cy="457200"/>
          </a:xfrm>
          <a:prstGeom prst="rect">
            <a:avLst/>
          </a:prstGeom>
          <a:noFill/>
          <a:ln/>
        </p:spPr>
        <p:txBody>
          <a:bodyPr wrap="square" lIns="254" tIns="254" rIns="254" bIns="254" rtlCol="0" anchor="ctr"/>
          <a:lstStyle/>
          <a:p>
            <a:pPr algn="ctr" indent="0" marL="0">
              <a:lnSpc>
                <a:spcPct val="100000"/>
              </a:lnSpc>
              <a:buNone/>
            </a:pPr>
            <a:r>
              <a:rPr lang="en-US" sz="1050" dirty="0">
                <a:solidFill>
                  <a:srgbClr val="FFFFFF"/>
                </a:solidFill>
                <a:latin typeface="Calibri" pitchFamily="34" charset="0"/>
                <a:ea typeface="Calibri" pitchFamily="34" charset="-122"/>
                <a:cs typeface="Calibri" pitchFamily="34" charset="-120"/>
              </a:rPr>
              <a:t>Credit reporting</a:t>
            </a:r>
            <a:endParaRPr lang="en-US" sz="1050" dirty="0"/>
          </a:p>
        </p:txBody>
      </p:sp>
      <p:sp>
        <p:nvSpPr>
          <p:cNvPr id="14" name="Shape 11"/>
          <p:cNvSpPr/>
          <p:nvPr/>
        </p:nvSpPr>
        <p:spPr>
          <a:xfrm>
            <a:off x="2116575" y="5623560"/>
            <a:ext cx="1503927" cy="457200"/>
          </a:xfrm>
          <a:prstGeom prst="roundRect">
            <a:avLst>
              <a:gd name="adj" fmla="val 20000"/>
            </a:avLst>
          </a:prstGeom>
          <a:solidFill>
            <a:srgbClr val="1A4A55"/>
          </a:solidFill>
          <a:ln w="12700">
            <a:solidFill>
              <a:srgbClr val="1A4A55"/>
            </a:solidFill>
            <a:prstDash val="solid"/>
          </a:ln>
        </p:spPr>
      </p:sp>
      <p:sp>
        <p:nvSpPr>
          <p:cNvPr id="15" name="Text 12"/>
          <p:cNvSpPr txBox="1"/>
          <p:nvPr/>
        </p:nvSpPr>
        <p:spPr>
          <a:xfrm>
            <a:off x="2116575" y="5623560"/>
            <a:ext cx="1503927" cy="457200"/>
          </a:xfrm>
          <a:prstGeom prst="rect">
            <a:avLst/>
          </a:prstGeom>
          <a:noFill/>
          <a:ln/>
        </p:spPr>
        <p:txBody>
          <a:bodyPr wrap="square" lIns="254" tIns="254" rIns="254" bIns="254" rtlCol="0" anchor="ctr"/>
          <a:lstStyle/>
          <a:p>
            <a:pPr algn="ctr" indent="0" marL="0">
              <a:lnSpc>
                <a:spcPct val="100000"/>
              </a:lnSpc>
              <a:buNone/>
            </a:pPr>
            <a:r>
              <a:rPr lang="en-US" sz="1050" dirty="0">
                <a:solidFill>
                  <a:srgbClr val="FFFFFF"/>
                </a:solidFill>
                <a:latin typeface="Calibri" pitchFamily="34" charset="0"/>
                <a:ea typeface="Calibri" pitchFamily="34" charset="-122"/>
                <a:cs typeface="Calibri" pitchFamily="34" charset="-120"/>
              </a:rPr>
              <a:t>Debt collection</a:t>
            </a:r>
            <a:endParaRPr lang="en-US" sz="1050" dirty="0"/>
          </a:p>
        </p:txBody>
      </p:sp>
      <p:sp>
        <p:nvSpPr>
          <p:cNvPr id="16" name="Shape 13"/>
          <p:cNvSpPr/>
          <p:nvPr/>
        </p:nvSpPr>
        <p:spPr>
          <a:xfrm>
            <a:off x="3730229" y="5623560"/>
            <a:ext cx="1503927" cy="457200"/>
          </a:xfrm>
          <a:prstGeom prst="roundRect">
            <a:avLst>
              <a:gd name="adj" fmla="val 20000"/>
            </a:avLst>
          </a:prstGeom>
          <a:solidFill>
            <a:srgbClr val="235C68"/>
          </a:solidFill>
          <a:ln w="12700">
            <a:solidFill>
              <a:srgbClr val="235C68"/>
            </a:solidFill>
            <a:prstDash val="solid"/>
          </a:ln>
        </p:spPr>
      </p:sp>
      <p:sp>
        <p:nvSpPr>
          <p:cNvPr id="17" name="Text 14"/>
          <p:cNvSpPr txBox="1"/>
          <p:nvPr/>
        </p:nvSpPr>
        <p:spPr>
          <a:xfrm>
            <a:off x="3730229" y="5623560"/>
            <a:ext cx="1503927" cy="457200"/>
          </a:xfrm>
          <a:prstGeom prst="rect">
            <a:avLst/>
          </a:prstGeom>
          <a:noFill/>
          <a:ln/>
        </p:spPr>
        <p:txBody>
          <a:bodyPr wrap="square" lIns="254" tIns="254" rIns="254" bIns="254" rtlCol="0" anchor="ctr"/>
          <a:lstStyle/>
          <a:p>
            <a:pPr algn="ctr" indent="0" marL="0">
              <a:lnSpc>
                <a:spcPct val="100000"/>
              </a:lnSpc>
              <a:buNone/>
            </a:pPr>
            <a:r>
              <a:rPr lang="en-US" sz="1050" dirty="0">
                <a:solidFill>
                  <a:srgbClr val="FFFFFF"/>
                </a:solidFill>
                <a:latin typeface="Calibri" pitchFamily="34" charset="0"/>
                <a:ea typeface="Calibri" pitchFamily="34" charset="-122"/>
                <a:cs typeface="Calibri" pitchFamily="34" charset="-120"/>
              </a:rPr>
              <a:t>Mortgage</a:t>
            </a:r>
            <a:endParaRPr lang="en-US" sz="1050" dirty="0"/>
          </a:p>
        </p:txBody>
      </p:sp>
      <p:sp>
        <p:nvSpPr>
          <p:cNvPr id="18" name="Shape 15"/>
          <p:cNvSpPr/>
          <p:nvPr/>
        </p:nvSpPr>
        <p:spPr>
          <a:xfrm>
            <a:off x="5343884" y="5623560"/>
            <a:ext cx="1503927" cy="457200"/>
          </a:xfrm>
          <a:prstGeom prst="roundRect">
            <a:avLst>
              <a:gd name="adj" fmla="val 20000"/>
            </a:avLst>
          </a:prstGeom>
          <a:solidFill>
            <a:srgbClr val="1A4A55"/>
          </a:solidFill>
          <a:ln w="12700">
            <a:solidFill>
              <a:srgbClr val="1A4A55"/>
            </a:solidFill>
            <a:prstDash val="solid"/>
          </a:ln>
        </p:spPr>
      </p:sp>
      <p:sp>
        <p:nvSpPr>
          <p:cNvPr id="19" name="Text 16"/>
          <p:cNvSpPr txBox="1"/>
          <p:nvPr/>
        </p:nvSpPr>
        <p:spPr>
          <a:xfrm>
            <a:off x="5343884" y="5623560"/>
            <a:ext cx="1503927" cy="457200"/>
          </a:xfrm>
          <a:prstGeom prst="rect">
            <a:avLst/>
          </a:prstGeom>
          <a:noFill/>
          <a:ln/>
        </p:spPr>
        <p:txBody>
          <a:bodyPr wrap="square" lIns="254" tIns="254" rIns="254" bIns="254" rtlCol="0" anchor="ctr"/>
          <a:lstStyle/>
          <a:p>
            <a:pPr algn="ctr" indent="0" marL="0">
              <a:lnSpc>
                <a:spcPct val="100000"/>
              </a:lnSpc>
              <a:buNone/>
            </a:pPr>
            <a:r>
              <a:rPr lang="en-US" sz="1050" dirty="0">
                <a:solidFill>
                  <a:srgbClr val="FFFFFF"/>
                </a:solidFill>
                <a:latin typeface="Calibri" pitchFamily="34" charset="0"/>
                <a:ea typeface="Calibri" pitchFamily="34" charset="-122"/>
                <a:cs typeface="Calibri" pitchFamily="34" charset="-120"/>
              </a:rPr>
              <a:t>Credit card</a:t>
            </a:r>
            <a:endParaRPr lang="en-US" sz="1050" dirty="0"/>
          </a:p>
        </p:txBody>
      </p:sp>
      <p:sp>
        <p:nvSpPr>
          <p:cNvPr id="20" name="Shape 17"/>
          <p:cNvSpPr/>
          <p:nvPr/>
        </p:nvSpPr>
        <p:spPr>
          <a:xfrm>
            <a:off x="6957539" y="5623560"/>
            <a:ext cx="1503927" cy="457200"/>
          </a:xfrm>
          <a:prstGeom prst="roundRect">
            <a:avLst>
              <a:gd name="adj" fmla="val 20000"/>
            </a:avLst>
          </a:prstGeom>
          <a:solidFill>
            <a:srgbClr val="235C68"/>
          </a:solidFill>
          <a:ln w="12700">
            <a:solidFill>
              <a:srgbClr val="235C68"/>
            </a:solidFill>
            <a:prstDash val="solid"/>
          </a:ln>
        </p:spPr>
      </p:sp>
      <p:sp>
        <p:nvSpPr>
          <p:cNvPr id="21" name="Text 18"/>
          <p:cNvSpPr txBox="1"/>
          <p:nvPr/>
        </p:nvSpPr>
        <p:spPr>
          <a:xfrm>
            <a:off x="6957539" y="5623560"/>
            <a:ext cx="1503927" cy="457200"/>
          </a:xfrm>
          <a:prstGeom prst="rect">
            <a:avLst/>
          </a:prstGeom>
          <a:noFill/>
          <a:ln/>
        </p:spPr>
        <p:txBody>
          <a:bodyPr wrap="square" lIns="254" tIns="254" rIns="254" bIns="254" rtlCol="0" anchor="ctr"/>
          <a:lstStyle/>
          <a:p>
            <a:pPr algn="ctr" indent="0" marL="0">
              <a:lnSpc>
                <a:spcPct val="100000"/>
              </a:lnSpc>
              <a:buNone/>
            </a:pPr>
            <a:r>
              <a:rPr lang="en-US" sz="1050" dirty="0">
                <a:solidFill>
                  <a:srgbClr val="FFFFFF"/>
                </a:solidFill>
                <a:latin typeface="Calibri" pitchFamily="34" charset="0"/>
                <a:ea typeface="Calibri" pitchFamily="34" charset="-122"/>
                <a:cs typeface="Calibri" pitchFamily="34" charset="-120"/>
              </a:rPr>
              <a:t>Bank account or service</a:t>
            </a:r>
            <a:endParaRPr lang="en-US" sz="1050" dirty="0"/>
          </a:p>
        </p:txBody>
      </p:sp>
      <p:sp>
        <p:nvSpPr>
          <p:cNvPr id="22" name="Shape 19"/>
          <p:cNvSpPr/>
          <p:nvPr/>
        </p:nvSpPr>
        <p:spPr>
          <a:xfrm>
            <a:off x="8571194" y="5623560"/>
            <a:ext cx="1503927" cy="457200"/>
          </a:xfrm>
          <a:prstGeom prst="roundRect">
            <a:avLst>
              <a:gd name="adj" fmla="val 20000"/>
            </a:avLst>
          </a:prstGeom>
          <a:solidFill>
            <a:srgbClr val="1A4A55"/>
          </a:solidFill>
          <a:ln w="12700">
            <a:solidFill>
              <a:srgbClr val="1A4A55"/>
            </a:solidFill>
            <a:prstDash val="solid"/>
          </a:ln>
        </p:spPr>
      </p:sp>
      <p:sp>
        <p:nvSpPr>
          <p:cNvPr id="23" name="Text 20"/>
          <p:cNvSpPr txBox="1"/>
          <p:nvPr/>
        </p:nvSpPr>
        <p:spPr>
          <a:xfrm>
            <a:off x="8571194" y="5623560"/>
            <a:ext cx="1503927" cy="457200"/>
          </a:xfrm>
          <a:prstGeom prst="rect">
            <a:avLst/>
          </a:prstGeom>
          <a:noFill/>
          <a:ln/>
        </p:spPr>
        <p:txBody>
          <a:bodyPr wrap="square" lIns="254" tIns="254" rIns="254" bIns="254" rtlCol="0" anchor="ctr"/>
          <a:lstStyle/>
          <a:p>
            <a:pPr algn="ctr" indent="0" marL="0">
              <a:lnSpc>
                <a:spcPct val="100000"/>
              </a:lnSpc>
              <a:buNone/>
            </a:pPr>
            <a:r>
              <a:rPr lang="en-US" sz="1050" dirty="0">
                <a:solidFill>
                  <a:srgbClr val="FFFFFF"/>
                </a:solidFill>
                <a:latin typeface="Calibri" pitchFamily="34" charset="0"/>
                <a:ea typeface="Calibri" pitchFamily="34" charset="-122"/>
                <a:cs typeface="Calibri" pitchFamily="34" charset="-120"/>
              </a:rPr>
              <a:t>Consumer loan</a:t>
            </a:r>
            <a:endParaRPr lang="en-US" sz="1050" dirty="0"/>
          </a:p>
        </p:txBody>
      </p:sp>
      <p:sp>
        <p:nvSpPr>
          <p:cNvPr id="24" name="Shape 21"/>
          <p:cNvSpPr/>
          <p:nvPr/>
        </p:nvSpPr>
        <p:spPr>
          <a:xfrm>
            <a:off x="10184848" y="5623560"/>
            <a:ext cx="1503927" cy="457200"/>
          </a:xfrm>
          <a:prstGeom prst="roundRect">
            <a:avLst>
              <a:gd name="adj" fmla="val 20000"/>
            </a:avLst>
          </a:prstGeom>
          <a:solidFill>
            <a:srgbClr val="235C68"/>
          </a:solidFill>
          <a:ln w="12700">
            <a:solidFill>
              <a:srgbClr val="235C68"/>
            </a:solidFill>
            <a:prstDash val="solid"/>
          </a:ln>
        </p:spPr>
      </p:sp>
      <p:sp>
        <p:nvSpPr>
          <p:cNvPr id="25" name="Text 22"/>
          <p:cNvSpPr txBox="1"/>
          <p:nvPr/>
        </p:nvSpPr>
        <p:spPr>
          <a:xfrm>
            <a:off x="10184848" y="5623560"/>
            <a:ext cx="1503927" cy="457200"/>
          </a:xfrm>
          <a:prstGeom prst="rect">
            <a:avLst/>
          </a:prstGeom>
          <a:noFill/>
          <a:ln/>
        </p:spPr>
        <p:txBody>
          <a:bodyPr wrap="square" lIns="254" tIns="254" rIns="254" bIns="254" rtlCol="0" anchor="ctr"/>
          <a:lstStyle/>
          <a:p>
            <a:pPr algn="ctr" indent="0" marL="0">
              <a:lnSpc>
                <a:spcPct val="100000"/>
              </a:lnSpc>
              <a:buNone/>
            </a:pPr>
            <a:r>
              <a:rPr lang="en-US" sz="1050" dirty="0">
                <a:solidFill>
                  <a:srgbClr val="FFFFFF"/>
                </a:solidFill>
                <a:latin typeface="Calibri" pitchFamily="34" charset="0"/>
                <a:ea typeface="Calibri" pitchFamily="34" charset="-122"/>
                <a:cs typeface="Calibri" pitchFamily="34" charset="-120"/>
              </a:rPr>
              <a:t>Money transfer or service</a:t>
            </a:r>
            <a:endParaRPr lang="en-US" sz="1050" dirty="0"/>
          </a:p>
        </p:txBody>
      </p:sp>
      <p:sp>
        <p:nvSpPr>
          <p:cNvPr id="26" name="Text 23"/>
          <p:cNvSpPr txBox="1"/>
          <p:nvPr/>
        </p:nvSpPr>
        <p:spPr>
          <a:xfrm>
            <a:off x="502920" y="6144768"/>
            <a:ext cx="11155680" cy="274320"/>
          </a:xfrm>
          <a:prstGeom prst="rect">
            <a:avLst/>
          </a:prstGeom>
          <a:noFill/>
          <a:ln/>
        </p:spPr>
        <p:txBody>
          <a:bodyPr wrap="square" lIns="0" tIns="0" rIns="0" bIns="0" rtlCol="0" anchor="t"/>
          <a:lstStyle/>
          <a:p>
            <a:pPr algn="l" indent="0" marL="0">
              <a:lnSpc>
                <a:spcPct val="100000"/>
              </a:lnSpc>
              <a:buNone/>
            </a:pPr>
            <a:r>
              <a:rPr lang="en-US" sz="1000" dirty="0">
                <a:solidFill>
                  <a:srgbClr val="9FB7BE"/>
                </a:solidFill>
                <a:latin typeface="Calibri" pitchFamily="34" charset="0"/>
                <a:ea typeface="Calibri" pitchFamily="34" charset="-122"/>
                <a:cs typeface="Calibri" pitchFamily="34" charset="-120"/>
              </a:rPr>
              <a:t>The seven routing categories the service assigns — every ticket from team rows 10000–10999 of the CFPB-derived course extract</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02920" y="292608"/>
            <a:ext cx="11185855" cy="566928"/>
          </a:xfrm>
          <a:prstGeom prst="rect">
            <a:avLst/>
          </a:prstGeom>
          <a:noFill/>
          <a:ln/>
        </p:spPr>
        <p:txBody>
          <a:bodyPr wrap="square" lIns="0" tIns="0" rIns="0" bIns="0" rtlCol="0" anchor="ctr"/>
          <a:lstStyle/>
          <a:p>
            <a:pPr indent="0" marL="0">
              <a:buNone/>
            </a:pPr>
            <a:r>
              <a:rPr lang="en-US" sz="2800" b="1" dirty="0">
                <a:solidFill>
                  <a:srgbClr val="17252C"/>
                </a:solidFill>
                <a:latin typeface="Cambria" pitchFamily="34" charset="0"/>
                <a:ea typeface="Cambria" pitchFamily="34" charset="-122"/>
                <a:cs typeface="Cambria" pitchFamily="34" charset="-120"/>
              </a:rPr>
              <a:t>Service architecture</a:t>
            </a:r>
            <a:endParaRPr lang="en-US" sz="2800" dirty="0"/>
          </a:p>
        </p:txBody>
      </p:sp>
      <p:sp>
        <p:nvSpPr>
          <p:cNvPr id="3" name="Text 1"/>
          <p:cNvSpPr txBox="1"/>
          <p:nvPr/>
        </p:nvSpPr>
        <p:spPr>
          <a:xfrm>
            <a:off x="502920" y="868680"/>
            <a:ext cx="11185855" cy="411480"/>
          </a:xfrm>
          <a:prstGeom prst="rect">
            <a:avLst/>
          </a:prstGeom>
          <a:noFill/>
          <a:ln/>
        </p:spPr>
        <p:txBody>
          <a:bodyPr wrap="square" lIns="0" tIns="0" rIns="0" bIns="0" rtlCol="0" anchor="t"/>
          <a:lstStyle/>
          <a:p>
            <a:pPr indent="0" marL="0">
              <a:buNone/>
            </a:pPr>
            <a:r>
              <a:rPr lang="en-US" sz="1500" dirty="0">
                <a:solidFill>
                  <a:srgbClr val="1F6F78"/>
                </a:solidFill>
                <a:latin typeface="Calibri" pitchFamily="34" charset="0"/>
                <a:ea typeface="Calibri" pitchFamily="34" charset="-122"/>
                <a:cs typeface="Calibri" pitchFamily="34" charset="-120"/>
              </a:rPr>
              <a:t>A synchronous FastAPI service in Docker calls one CPU-only Ollama model per ticket; JMeter plays the complaint intake from a separate machine.</a:t>
            </a:r>
            <a:endParaRPr lang="en-US" sz="1500" dirty="0"/>
          </a:p>
        </p:txBody>
      </p:sp>
      <p:sp>
        <p:nvSpPr>
          <p:cNvPr id="4" name="Text 2"/>
          <p:cNvSpPr txBox="1"/>
          <p:nvPr/>
        </p:nvSpPr>
        <p:spPr>
          <a:xfrm>
            <a:off x="502920" y="6446520"/>
            <a:ext cx="10362895" cy="292608"/>
          </a:xfrm>
          <a:prstGeom prst="rect">
            <a:avLst/>
          </a:prstGeom>
          <a:noFill/>
          <a:ln/>
        </p:spPr>
        <p:txBody>
          <a:bodyPr wrap="square" lIns="0" tIns="0" rIns="0" bIns="0" rtlCol="0" anchor="ctr"/>
          <a:lstStyle/>
          <a:p>
            <a:pPr indent="0" marL="0">
              <a:buNone/>
            </a:pPr>
            <a:r>
              <a:rPr lang="en-US" sz="900" dirty="0">
                <a:solidFill>
                  <a:srgbClr val="5B6B73"/>
                </a:solidFill>
                <a:latin typeface="Calibri" pitchFamily="34" charset="0"/>
                <a:ea typeface="Calibri" pitchFamily="34" charset="-122"/>
                <a:cs typeface="Calibri" pitchFamily="34" charset="-120"/>
              </a:rPr>
              <a:t>Source: service/main.py, docker-compose.yml, .env.example, service/log_schema.py (A2 candidate comments mark each deliberate non-optimisation)</a:t>
            </a:r>
            <a:endParaRPr lang="en-US" sz="900" dirty="0"/>
          </a:p>
        </p:txBody>
      </p:sp>
      <p:sp>
        <p:nvSpPr>
          <p:cNvPr id="5" name="Shape 3"/>
          <p:cNvSpPr/>
          <p:nvPr/>
        </p:nvSpPr>
        <p:spPr>
          <a:xfrm>
            <a:off x="502920" y="1600200"/>
            <a:ext cx="2514600" cy="2788920"/>
          </a:xfrm>
          <a:prstGeom prst="roundRect">
            <a:avLst>
              <a:gd name="adj" fmla="val 2909"/>
            </a:avLst>
          </a:prstGeom>
          <a:solidFill>
            <a:srgbClr val="EEF3F4"/>
          </a:solidFill>
          <a:ln w="12700">
            <a:solidFill>
              <a:srgbClr val="C9D5D8"/>
            </a:solidFill>
            <a:prstDash val="solid"/>
          </a:ln>
        </p:spPr>
      </p:sp>
      <p:sp>
        <p:nvSpPr>
          <p:cNvPr id="6" name="Text 4"/>
          <p:cNvSpPr txBox="1"/>
          <p:nvPr/>
        </p:nvSpPr>
        <p:spPr>
          <a:xfrm>
            <a:off x="594360" y="1664208"/>
            <a:ext cx="2286000" cy="274320"/>
          </a:xfrm>
          <a:prstGeom prst="rect">
            <a:avLst/>
          </a:prstGeom>
          <a:noFill/>
          <a:ln/>
        </p:spPr>
        <p:txBody>
          <a:bodyPr wrap="square" lIns="762" tIns="762" rIns="762" bIns="762" rtlCol="0" anchor="t"/>
          <a:lstStyle/>
          <a:p>
            <a:pPr algn="l" indent="0" marL="0">
              <a:lnSpc>
                <a:spcPct val="100000"/>
              </a:lnSpc>
              <a:buNone/>
            </a:pPr>
            <a:r>
              <a:rPr lang="en-US" sz="1000" b="1" dirty="0">
                <a:solidFill>
                  <a:srgbClr val="1F6F78"/>
                </a:solidFill>
                <a:latin typeface="Calibri" pitchFamily="34" charset="0"/>
                <a:ea typeface="Calibri" pitchFamily="34" charset="-122"/>
                <a:cs typeface="Calibri" pitchFamily="34" charset="-120"/>
              </a:rPr>
              <a:t>LOAD GENERATOR</a:t>
            </a:r>
            <a:endParaRPr lang="en-US" sz="1000" dirty="0"/>
          </a:p>
        </p:txBody>
      </p:sp>
      <p:sp>
        <p:nvSpPr>
          <p:cNvPr id="7" name="Text 5"/>
          <p:cNvSpPr txBox="1"/>
          <p:nvPr/>
        </p:nvSpPr>
        <p:spPr>
          <a:xfrm>
            <a:off x="594360" y="1938528"/>
            <a:ext cx="2331720" cy="2377440"/>
          </a:xfrm>
          <a:prstGeom prst="rect">
            <a:avLst/>
          </a:prstGeom>
          <a:noFill/>
          <a:ln/>
        </p:spPr>
        <p:txBody>
          <a:bodyPr wrap="square" lIns="762" tIns="762" rIns="762" bIns="762" rtlCol="0" anchor="t"/>
          <a:lstStyle/>
          <a:p>
            <a:pPr algn="l" indent="0" marL="0">
              <a:lnSpc>
                <a:spcPct val="100000"/>
              </a:lnSpc>
              <a:spcAft>
                <a:spcPts val="400"/>
              </a:spcAft>
              <a:buNone/>
            </a:pPr>
            <a:r>
              <a:rPr lang="en-US" sz="1150" b="1" dirty="0">
                <a:solidFill>
                  <a:srgbClr val="17252C"/>
                </a:solidFill>
                <a:latin typeface="Calibri" pitchFamily="34" charset="0"/>
                <a:ea typeface="Calibri" pitchFamily="34" charset="-122"/>
                <a:cs typeface="Calibri" pitchFamily="34" charset="-120"/>
              </a:rPr>
              <a:t>MacBook, Apple M3 Pro</a:t>
            </a:r>
            <a:endParaRPr lang="en-US" sz="1150" dirty="0"/>
          </a:p>
          <a:p>
            <a:pPr algn="l" indent="0" marL="0">
              <a:lnSpc>
                <a:spcPct val="100000"/>
              </a:lnSpc>
              <a:spcAft>
                <a:spcPts val="400"/>
              </a:spcAft>
              <a:buNone/>
            </a:pPr>
            <a:r>
              <a:rPr lang="en-US" sz="1150" dirty="0">
                <a:solidFill>
                  <a:srgbClr val="17252C"/>
                </a:solidFill>
                <a:latin typeface="Calibri" pitchFamily="34" charset="0"/>
                <a:ea typeface="Calibri" pitchFamily="34" charset="-122"/>
                <a:cs typeface="Calibri" pitchFamily="34" charset="-120"/>
              </a:rPr>
              <a:t>Apache JMeter 5.6.3</a:t>
            </a:r>
            <a:endParaRPr lang="en-US" sz="1150" dirty="0"/>
          </a:p>
          <a:p>
            <a:pPr algn="l" indent="0" marL="0">
              <a:lnSpc>
                <a:spcPct val="100000"/>
              </a:lnSpc>
              <a:spcAft>
                <a:spcPts val="400"/>
              </a:spcAft>
              <a:buNone/>
            </a:pPr>
            <a:r>
              <a:rPr lang="en-US" sz="1150" dirty="0">
                <a:solidFill>
                  <a:srgbClr val="17252C"/>
                </a:solidFill>
                <a:latin typeface="Calibri" pitchFamily="34" charset="0"/>
                <a:ea typeface="Calibri" pitchFamily="34" charset="-122"/>
                <a:cs typeface="Calibri" pitchFamily="34" charset="-120"/>
              </a:rPr>
              <a:t>Open Model Thread Group — open loop, Poisson arrivals</a:t>
            </a:r>
            <a:endParaRPr lang="en-US" sz="1150" dirty="0"/>
          </a:p>
          <a:p>
            <a:pPr algn="l" indent="0" marL="0">
              <a:lnSpc>
                <a:spcPct val="100000"/>
              </a:lnSpc>
              <a:spcAft>
                <a:spcPts val="400"/>
              </a:spcAft>
              <a:buNone/>
            </a:pPr>
            <a:r>
              <a:rPr lang="en-US" sz="1150" dirty="0">
                <a:solidFill>
                  <a:srgbClr val="17252C"/>
                </a:solidFill>
                <a:latin typeface="Calibri" pitchFamily="34" charset="0"/>
                <a:ea typeface="Calibri" pitchFamily="34" charset="-122"/>
                <a:cs typeface="Calibri" pitchFamily="34" charset="-120"/>
              </a:rPr>
              <a:t>Reads team rows 10000–10999 → POST /tickets</a:t>
            </a:r>
            <a:endParaRPr lang="en-US" sz="1150" dirty="0"/>
          </a:p>
          <a:p>
            <a:pPr algn="l" indent="0" marL="0">
              <a:lnSpc>
                <a:spcPct val="100000"/>
              </a:lnSpc>
              <a:spcAft>
                <a:spcPts val="400"/>
              </a:spcAft>
              <a:buNone/>
            </a:pPr>
            <a:r>
              <a:rPr lang="en-US" sz="1150" dirty="0">
                <a:solidFill>
                  <a:srgbClr val="17252C"/>
                </a:solidFill>
                <a:latin typeface="Calibri" pitchFamily="34" charset="0"/>
                <a:ea typeface="Calibri" pitchFamily="34" charset="-122"/>
                <a:cs typeface="Calibri" pitchFamily="34" charset="-120"/>
              </a:rPr>
              <a:t>scripts/run_accuracy.py posts the golden set</a:t>
            </a:r>
            <a:endParaRPr lang="en-US" sz="1150" dirty="0"/>
          </a:p>
        </p:txBody>
      </p:sp>
      <p:sp>
        <p:nvSpPr>
          <p:cNvPr id="8" name="Shape 6"/>
          <p:cNvSpPr/>
          <p:nvPr/>
        </p:nvSpPr>
        <p:spPr>
          <a:xfrm>
            <a:off x="3063240" y="2971800"/>
            <a:ext cx="914400" cy="0"/>
          </a:xfrm>
          <a:prstGeom prst="line">
            <a:avLst/>
          </a:prstGeom>
          <a:noFill/>
          <a:ln w="25400">
            <a:solidFill>
              <a:srgbClr val="1F6F78"/>
            </a:solidFill>
            <a:prstDash val="solid"/>
            <a:tailEnd type="triangle"/>
          </a:ln>
        </p:spPr>
      </p:sp>
      <p:sp>
        <p:nvSpPr>
          <p:cNvPr id="9" name="Text 7"/>
          <p:cNvSpPr txBox="1"/>
          <p:nvPr/>
        </p:nvSpPr>
        <p:spPr>
          <a:xfrm>
            <a:off x="3017520" y="2651760"/>
            <a:ext cx="1051560" cy="320040"/>
          </a:xfrm>
          <a:prstGeom prst="rect">
            <a:avLst/>
          </a:prstGeom>
          <a:noFill/>
          <a:ln/>
        </p:spPr>
        <p:txBody>
          <a:bodyPr wrap="square" lIns="762" tIns="762" rIns="762" bIns="762" rtlCol="0" anchor="t"/>
          <a:lstStyle/>
          <a:p>
            <a:pPr algn="ctr" indent="0" marL="0">
              <a:lnSpc>
                <a:spcPct val="100000"/>
              </a:lnSpc>
              <a:buNone/>
            </a:pPr>
            <a:r>
              <a:rPr lang="en-US" sz="900" dirty="0">
                <a:solidFill>
                  <a:srgbClr val="5B6B73"/>
                </a:solidFill>
                <a:latin typeface="Calibri" pitchFamily="34" charset="0"/>
                <a:ea typeface="Calibri" pitchFamily="34" charset="-122"/>
                <a:cs typeface="Calibri" pitchFamily="34" charset="-120"/>
              </a:rPr>
              <a:t>HTTP over the network</a:t>
            </a:r>
            <a:endParaRPr lang="en-US" sz="900" dirty="0"/>
          </a:p>
        </p:txBody>
      </p:sp>
      <p:sp>
        <p:nvSpPr>
          <p:cNvPr id="10" name="Shape 8"/>
          <p:cNvSpPr/>
          <p:nvPr/>
        </p:nvSpPr>
        <p:spPr>
          <a:xfrm>
            <a:off x="4069080" y="1508760"/>
            <a:ext cx="4343400" cy="4251960"/>
          </a:xfrm>
          <a:prstGeom prst="roundRect">
            <a:avLst>
              <a:gd name="adj" fmla="val 1720"/>
            </a:avLst>
          </a:prstGeom>
          <a:solidFill>
            <a:srgbClr val="FFFFFF"/>
          </a:solidFill>
          <a:ln w="19050">
            <a:solidFill>
              <a:srgbClr val="1F6F78"/>
            </a:solidFill>
            <a:prstDash val="dash"/>
          </a:ln>
        </p:spPr>
      </p:sp>
      <p:sp>
        <p:nvSpPr>
          <p:cNvPr id="11" name="Text 9"/>
          <p:cNvSpPr txBox="1"/>
          <p:nvPr/>
        </p:nvSpPr>
        <p:spPr>
          <a:xfrm>
            <a:off x="4206240" y="1554480"/>
            <a:ext cx="4114800" cy="274320"/>
          </a:xfrm>
          <a:prstGeom prst="rect">
            <a:avLst/>
          </a:prstGeom>
          <a:noFill/>
          <a:ln/>
        </p:spPr>
        <p:txBody>
          <a:bodyPr wrap="square" lIns="762" tIns="762" rIns="762" bIns="762" rtlCol="0" anchor="t"/>
          <a:lstStyle/>
          <a:p>
            <a:pPr algn="l" indent="0" marL="0">
              <a:lnSpc>
                <a:spcPct val="100000"/>
              </a:lnSpc>
              <a:buNone/>
            </a:pPr>
            <a:r>
              <a:rPr lang="en-US" sz="1000" b="1" dirty="0">
                <a:solidFill>
                  <a:srgbClr val="1F6F78"/>
                </a:solidFill>
                <a:latin typeface="Calibri" pitchFamily="34" charset="0"/>
                <a:ea typeface="Calibri" pitchFamily="34" charset="-122"/>
                <a:cs typeface="Calibri" pitchFamily="34" charset="-120"/>
              </a:rPr>
              <a:t>SERVICE HOST — CPU only, in Docker (separate machine)</a:t>
            </a:r>
            <a:endParaRPr lang="en-US" sz="1000" dirty="0"/>
          </a:p>
        </p:txBody>
      </p:sp>
      <p:sp>
        <p:nvSpPr>
          <p:cNvPr id="12" name="Shape 10"/>
          <p:cNvSpPr/>
          <p:nvPr/>
        </p:nvSpPr>
        <p:spPr>
          <a:xfrm>
            <a:off x="4251960" y="1920240"/>
            <a:ext cx="1965960" cy="2103120"/>
          </a:xfrm>
          <a:prstGeom prst="roundRect">
            <a:avLst>
              <a:gd name="adj" fmla="val 3721"/>
            </a:avLst>
          </a:prstGeom>
          <a:solidFill>
            <a:srgbClr val="D5E8EA"/>
          </a:solidFill>
          <a:ln w="12700">
            <a:solidFill>
              <a:srgbClr val="D5E8EA"/>
            </a:solidFill>
            <a:prstDash val="solid"/>
          </a:ln>
        </p:spPr>
      </p:sp>
      <p:sp>
        <p:nvSpPr>
          <p:cNvPr id="13" name="Text 11"/>
          <p:cNvSpPr txBox="1"/>
          <p:nvPr/>
        </p:nvSpPr>
        <p:spPr>
          <a:xfrm>
            <a:off x="4315968" y="1965960"/>
            <a:ext cx="1828800" cy="2011680"/>
          </a:xfrm>
          <a:prstGeom prst="rect">
            <a:avLst/>
          </a:prstGeom>
          <a:noFill/>
          <a:ln/>
        </p:spPr>
        <p:txBody>
          <a:bodyPr wrap="square" lIns="762" tIns="762" rIns="762" bIns="762" rtlCol="0" anchor="t"/>
          <a:lstStyle/>
          <a:p>
            <a:pPr algn="l" indent="0" marL="0">
              <a:lnSpc>
                <a:spcPct val="100000"/>
              </a:lnSpc>
              <a:spcAft>
                <a:spcPts val="300"/>
              </a:spcAft>
              <a:buNone/>
            </a:pPr>
            <a:r>
              <a:rPr lang="en-US" sz="1300" b="1" dirty="0">
                <a:solidFill>
                  <a:srgbClr val="17252C"/>
                </a:solidFill>
                <a:latin typeface="Calibri" pitchFamily="34" charset="0"/>
                <a:ea typeface="Calibri" pitchFamily="34" charset="-122"/>
                <a:cs typeface="Calibri" pitchFamily="34" charset="-120"/>
              </a:rPr>
              <a:t>Triage service</a:t>
            </a:r>
            <a:endParaRPr lang="en-US" sz="1050" dirty="0"/>
          </a:p>
          <a:p>
            <a:pPr algn="l" indent="0" marL="0">
              <a:lnSpc>
                <a:spcPct val="100000"/>
              </a:lnSpc>
              <a:spcAft>
                <a:spcPts val="300"/>
              </a:spcAft>
              <a:buNone/>
            </a:pPr>
            <a:r>
              <a:rPr lang="en-US" sz="1050" dirty="0">
                <a:solidFill>
                  <a:srgbClr val="17252C"/>
                </a:solidFill>
                <a:latin typeface="Calibri" pitchFamily="34" charset="0"/>
                <a:ea typeface="Calibri" pitchFamily="34" charset="-122"/>
                <a:cs typeface="Calibri" pitchFamily="34" charset="-120"/>
              </a:rPr>
              <a:t>FastAPI + uvicorn, 1 worker</a:t>
            </a:r>
            <a:endParaRPr lang="en-US" sz="1050" dirty="0"/>
          </a:p>
          <a:p>
            <a:pPr algn="l" indent="0" marL="0">
              <a:lnSpc>
                <a:spcPct val="100000"/>
              </a:lnSpc>
              <a:spcAft>
                <a:spcPts val="300"/>
              </a:spcAft>
              <a:buNone/>
            </a:pPr>
            <a:r>
              <a:rPr lang="en-US" sz="1050" dirty="0">
                <a:solidFill>
                  <a:srgbClr val="17252C"/>
                </a:solidFill>
                <a:latin typeface="Calibri" pitchFamily="34" charset="0"/>
                <a:ea typeface="Calibri" pitchFamily="34" charset="-122"/>
                <a:cs typeface="Calibri" pitchFamily="34" charset="-120"/>
              </a:rPr>
              <a:t>thread pool 40</a:t>
            </a:r>
            <a:endParaRPr lang="en-US" sz="1050" dirty="0"/>
          </a:p>
          <a:p>
            <a:pPr algn="l" indent="0" marL="0">
              <a:lnSpc>
                <a:spcPct val="100000"/>
              </a:lnSpc>
              <a:spcAft>
                <a:spcPts val="300"/>
              </a:spcAft>
              <a:buNone/>
            </a:pPr>
            <a:r>
              <a:rPr lang="en-US" sz="1050" dirty="0">
                <a:solidFill>
                  <a:srgbClr val="17252C"/>
                </a:solidFill>
                <a:latin typeface="Calibri" pitchFamily="34" charset="0"/>
                <a:ea typeface="Calibri" pitchFamily="34" charset="-122"/>
                <a:cs typeface="Calibri" pitchFamily="34" charset="-120"/>
              </a:rPr>
              <a:t>no concurrency limit, no cache, no queue</a:t>
            </a:r>
            <a:endParaRPr lang="en-US" sz="1050" dirty="0"/>
          </a:p>
          <a:p>
            <a:pPr algn="l" indent="0" marL="0">
              <a:lnSpc>
                <a:spcPct val="100000"/>
              </a:lnSpc>
              <a:spcAft>
                <a:spcPts val="300"/>
              </a:spcAft>
              <a:buNone/>
            </a:pPr>
            <a:r>
              <a:rPr lang="en-US" sz="1050" dirty="0">
                <a:solidFill>
                  <a:srgbClr val="17252C"/>
                </a:solidFill>
                <a:latin typeface="Calibri" pitchFamily="34" charset="0"/>
                <a:ea typeface="Calibri" pitchFamily="34" charset="-122"/>
                <a:cs typeface="Calibri" pitchFamily="34" charset="-120"/>
              </a:rPr>
              <a:t>prompt sha256:681131c48bdc15a1</a:t>
            </a:r>
            <a:endParaRPr lang="en-US" sz="1050" dirty="0"/>
          </a:p>
        </p:txBody>
      </p:sp>
      <p:sp>
        <p:nvSpPr>
          <p:cNvPr id="14" name="Shape 12"/>
          <p:cNvSpPr/>
          <p:nvPr/>
        </p:nvSpPr>
        <p:spPr>
          <a:xfrm>
            <a:off x="6263640" y="2971800"/>
            <a:ext cx="320040" cy="0"/>
          </a:xfrm>
          <a:prstGeom prst="line">
            <a:avLst/>
          </a:prstGeom>
          <a:noFill/>
          <a:ln w="25400">
            <a:solidFill>
              <a:srgbClr val="1F6F78"/>
            </a:solidFill>
            <a:prstDash val="solid"/>
            <a:tailEnd type="triangle"/>
          </a:ln>
        </p:spPr>
      </p:sp>
      <p:sp>
        <p:nvSpPr>
          <p:cNvPr id="15" name="Shape 13"/>
          <p:cNvSpPr/>
          <p:nvPr/>
        </p:nvSpPr>
        <p:spPr>
          <a:xfrm>
            <a:off x="6629400" y="1920240"/>
            <a:ext cx="1645920" cy="2103120"/>
          </a:xfrm>
          <a:prstGeom prst="roundRect">
            <a:avLst>
              <a:gd name="adj" fmla="val 4444"/>
            </a:avLst>
          </a:prstGeom>
          <a:solidFill>
            <a:srgbClr val="FBEBD2"/>
          </a:solidFill>
          <a:ln w="12700">
            <a:solidFill>
              <a:srgbClr val="FBEBD2"/>
            </a:solidFill>
            <a:prstDash val="solid"/>
          </a:ln>
        </p:spPr>
      </p:sp>
      <p:sp>
        <p:nvSpPr>
          <p:cNvPr id="16" name="Text 14"/>
          <p:cNvSpPr txBox="1"/>
          <p:nvPr/>
        </p:nvSpPr>
        <p:spPr>
          <a:xfrm>
            <a:off x="6693408" y="1965960"/>
            <a:ext cx="1554480" cy="2011680"/>
          </a:xfrm>
          <a:prstGeom prst="rect">
            <a:avLst/>
          </a:prstGeom>
          <a:noFill/>
          <a:ln/>
        </p:spPr>
        <p:txBody>
          <a:bodyPr wrap="square" lIns="762" tIns="762" rIns="762" bIns="762" rtlCol="0" anchor="t"/>
          <a:lstStyle/>
          <a:p>
            <a:pPr algn="l" indent="0" marL="0">
              <a:lnSpc>
                <a:spcPct val="100000"/>
              </a:lnSpc>
              <a:spcAft>
                <a:spcPts val="300"/>
              </a:spcAft>
              <a:buNone/>
            </a:pPr>
            <a:r>
              <a:rPr lang="en-US" sz="1300" b="1" dirty="0">
                <a:solidFill>
                  <a:srgbClr val="17252C"/>
                </a:solidFill>
                <a:latin typeface="Calibri" pitchFamily="34" charset="0"/>
                <a:ea typeface="Calibri" pitchFamily="34" charset="-122"/>
                <a:cs typeface="Calibri" pitchFamily="34" charset="-120"/>
              </a:rPr>
              <a:t>Ollama</a:t>
            </a:r>
            <a:endParaRPr lang="en-US" sz="1050" dirty="0"/>
          </a:p>
          <a:p>
            <a:pPr algn="l" indent="0" marL="0">
              <a:lnSpc>
                <a:spcPct val="100000"/>
              </a:lnSpc>
              <a:spcAft>
                <a:spcPts val="300"/>
              </a:spcAft>
              <a:buNone/>
            </a:pPr>
            <a:r>
              <a:rPr lang="en-US" sz="1050" dirty="0">
                <a:solidFill>
                  <a:srgbClr val="17252C"/>
                </a:solidFill>
                <a:latin typeface="Calibri" pitchFamily="34" charset="0"/>
                <a:ea typeface="Calibri" pitchFamily="34" charset="-122"/>
                <a:cs typeface="Calibri" pitchFamily="34" charset="-120"/>
              </a:rPr>
              <a:t>one pinned model</a:t>
            </a:r>
            <a:endParaRPr lang="en-US" sz="1050" dirty="0"/>
          </a:p>
          <a:p>
            <a:pPr algn="l" indent="0" marL="0">
              <a:lnSpc>
                <a:spcPct val="100000"/>
              </a:lnSpc>
              <a:spcAft>
                <a:spcPts val="300"/>
              </a:spcAft>
              <a:buNone/>
            </a:pPr>
            <a:r>
              <a:rPr lang="en-US" sz="1050" dirty="0">
                <a:solidFill>
                  <a:srgbClr val="17252C"/>
                </a:solidFill>
                <a:latin typeface="Calibri" pitchFamily="34" charset="0"/>
                <a:ea typeface="Calibri" pitchFamily="34" charset="-122"/>
                <a:cs typeface="Calibri" pitchFamily="34" charset="-120"/>
              </a:rPr>
              <a:t>num_ctx 4096, temperature 0, seed 42</a:t>
            </a:r>
            <a:endParaRPr lang="en-US" sz="1050" dirty="0"/>
          </a:p>
          <a:p>
            <a:pPr algn="l" indent="0" marL="0">
              <a:lnSpc>
                <a:spcPct val="100000"/>
              </a:lnSpc>
              <a:spcAft>
                <a:spcPts val="300"/>
              </a:spcAft>
              <a:buNone/>
            </a:pPr>
            <a:r>
              <a:rPr lang="en-US" sz="1050" dirty="0">
                <a:solidFill>
                  <a:srgbClr val="17252C"/>
                </a:solidFill>
                <a:latin typeface="Calibri" pitchFamily="34" charset="0"/>
                <a:ea typeface="Calibri" pitchFamily="34" charset="-122"/>
                <a:cs typeface="Calibri" pitchFamily="34" charset="-120"/>
              </a:rPr>
              <a:t>timeout 120 s</a:t>
            </a:r>
            <a:endParaRPr lang="en-US" sz="1050" dirty="0"/>
          </a:p>
          <a:p>
            <a:pPr algn="l" indent="0" marL="0">
              <a:lnSpc>
                <a:spcPct val="100000"/>
              </a:lnSpc>
              <a:spcAft>
                <a:spcPts val="300"/>
              </a:spcAft>
              <a:buNone/>
            </a:pPr>
            <a:r>
              <a:rPr lang="en-US" sz="1050" dirty="0">
                <a:solidFill>
                  <a:srgbClr val="17252C"/>
                </a:solidFill>
                <a:latin typeface="Calibri" pitchFamily="34" charset="0"/>
                <a:ea typeface="Calibri" pitchFamily="34" charset="-122"/>
                <a:cs typeface="Calibri" pitchFamily="34" charset="-120"/>
              </a:rPr>
              <a:t>no GPU</a:t>
            </a:r>
            <a:endParaRPr lang="en-US" sz="1050" dirty="0"/>
          </a:p>
        </p:txBody>
      </p:sp>
      <p:sp>
        <p:nvSpPr>
          <p:cNvPr id="17" name="Shape 15"/>
          <p:cNvSpPr/>
          <p:nvPr/>
        </p:nvSpPr>
        <p:spPr>
          <a:xfrm>
            <a:off x="4251960" y="4206240"/>
            <a:ext cx="1965960" cy="1371600"/>
          </a:xfrm>
          <a:prstGeom prst="roundRect">
            <a:avLst>
              <a:gd name="adj" fmla="val 5333"/>
            </a:avLst>
          </a:prstGeom>
          <a:solidFill>
            <a:srgbClr val="EEF3F4"/>
          </a:solidFill>
          <a:ln w="12700">
            <a:solidFill>
              <a:srgbClr val="EEF3F4"/>
            </a:solidFill>
            <a:prstDash val="solid"/>
          </a:ln>
        </p:spPr>
      </p:sp>
      <p:sp>
        <p:nvSpPr>
          <p:cNvPr id="18" name="Text 16"/>
          <p:cNvSpPr txBox="1"/>
          <p:nvPr/>
        </p:nvSpPr>
        <p:spPr>
          <a:xfrm>
            <a:off x="4315968" y="4251960"/>
            <a:ext cx="1828800" cy="1280160"/>
          </a:xfrm>
          <a:prstGeom prst="rect">
            <a:avLst/>
          </a:prstGeom>
          <a:noFill/>
          <a:ln/>
        </p:spPr>
        <p:txBody>
          <a:bodyPr wrap="square" lIns="762" tIns="762" rIns="762" bIns="762" rtlCol="0" anchor="t"/>
          <a:lstStyle/>
          <a:p>
            <a:pPr algn="l" indent="0" marL="0">
              <a:lnSpc>
                <a:spcPct val="100000"/>
              </a:lnSpc>
              <a:buNone/>
            </a:pPr>
            <a:r>
              <a:rPr lang="en-US" sz="1050" b="1" dirty="0">
                <a:solidFill>
                  <a:srgbClr val="17252C"/>
                </a:solidFill>
                <a:latin typeface="Calibri" pitchFamily="34" charset="0"/>
                <a:ea typeface="Calibri" pitchFamily="34" charset="-122"/>
                <a:cs typeface="Calibri" pitchFamily="34" charset="-120"/>
              </a:rPr>
              <a:t>SQLite</a:t>
            </a:r>
            <a:endParaRPr lang="en-US" sz="1050" dirty="0"/>
          </a:p>
          <a:p>
            <a:pPr algn="l" indent="0" marL="0">
              <a:lnSpc>
                <a:spcPct val="100000"/>
              </a:lnSpc>
              <a:buNone/>
            </a:pPr>
            <a:r>
              <a:rPr lang="en-US" sz="1050" dirty="0">
                <a:solidFill>
                  <a:srgbClr val="17252C"/>
                </a:solidFill>
                <a:latin typeface="Calibri" pitchFamily="34" charset="0"/>
                <a:ea typeface="Calibri" pitchFamily="34" charset="-122"/>
                <a:cs typeface="Calibri" pitchFamily="34" charset="-120"/>
              </a:rPr>
              <a:t>named volume, emptied before every run</a:t>
            </a:r>
            <a:endParaRPr lang="en-US" sz="1050" dirty="0"/>
          </a:p>
        </p:txBody>
      </p:sp>
      <p:sp>
        <p:nvSpPr>
          <p:cNvPr id="19" name="Shape 17"/>
          <p:cNvSpPr/>
          <p:nvPr/>
        </p:nvSpPr>
        <p:spPr>
          <a:xfrm>
            <a:off x="6400800" y="4206240"/>
            <a:ext cx="1874520" cy="1371600"/>
          </a:xfrm>
          <a:prstGeom prst="roundRect">
            <a:avLst>
              <a:gd name="adj" fmla="val 5333"/>
            </a:avLst>
          </a:prstGeom>
          <a:solidFill>
            <a:srgbClr val="EEF3F4"/>
          </a:solidFill>
          <a:ln w="12700">
            <a:solidFill>
              <a:srgbClr val="EEF3F4"/>
            </a:solidFill>
            <a:prstDash val="solid"/>
          </a:ln>
        </p:spPr>
      </p:sp>
      <p:sp>
        <p:nvSpPr>
          <p:cNvPr id="20" name="Text 18"/>
          <p:cNvSpPr txBox="1"/>
          <p:nvPr/>
        </p:nvSpPr>
        <p:spPr>
          <a:xfrm>
            <a:off x="6464808" y="4251960"/>
            <a:ext cx="1755648" cy="1280160"/>
          </a:xfrm>
          <a:prstGeom prst="rect">
            <a:avLst/>
          </a:prstGeom>
          <a:noFill/>
          <a:ln/>
        </p:spPr>
        <p:txBody>
          <a:bodyPr wrap="square" lIns="762" tIns="762" rIns="762" bIns="762" rtlCol="0" anchor="t"/>
          <a:lstStyle/>
          <a:p>
            <a:pPr algn="l" indent="0" marL="0">
              <a:lnSpc>
                <a:spcPct val="100000"/>
              </a:lnSpc>
              <a:buNone/>
            </a:pPr>
            <a:r>
              <a:rPr lang="en-US" sz="1050" b="1" dirty="0">
                <a:solidFill>
                  <a:srgbClr val="17252C"/>
                </a:solidFill>
                <a:latin typeface="Calibri" pitchFamily="34" charset="0"/>
                <a:ea typeface="Calibri" pitchFamily="34" charset="-122"/>
                <a:cs typeface="Calibri" pitchFamily="34" charset="-120"/>
              </a:rPr>
              <a:t>Request log</a:t>
            </a:r>
            <a:endParaRPr lang="en-US" sz="1050" dirty="0"/>
          </a:p>
          <a:p>
            <a:pPr algn="l" indent="0" marL="0">
              <a:lnSpc>
                <a:spcPct val="100000"/>
              </a:lnSpc>
              <a:buNone/>
            </a:pPr>
            <a:r>
              <a:rPr lang="en-US" sz="1050" dirty="0">
                <a:solidFill>
                  <a:srgbClr val="17252C"/>
                </a:solidFill>
                <a:latin typeface="Calibri" pitchFamily="34" charset="0"/>
                <a:ea typeface="Calibri" pitchFamily="34" charset="-122"/>
                <a:cs typeface="Calibri" pitchFamily="34" charset="-120"/>
              </a:rPr>
              <a:t>one JSONL line per request, 24 fields incl. Ollama's own timings</a:t>
            </a:r>
            <a:endParaRPr lang="en-US" sz="10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8641080" y="1508760"/>
          <a:ext cx="3044952" cy="914400"/>
        </p:xfrm>
        <a:graphic>
          <a:graphicData uri="http://schemas.openxmlformats.org/drawingml/2006/table">
            <a:tbl>
              <a:tblPr/>
              <a:tblGrid>
                <a:gridCol w="987552"/>
                <a:gridCol w="2057400"/>
              </a:tblGrid>
              <a:tr h="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Endpoint</a:t>
                      </a:r>
                      <a:endParaRPr lang="en-US" sz="105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What it does</a:t>
                      </a:r>
                      <a:endParaRPr lang="en-US" sz="105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r>
              <a:tr h="0">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POST /tickets</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Classifies one narrative by calling Ollama, stores it, returns the category. Synchronous: no answer until the model has answered. Model failure → HTTP 502, nothing stored.</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GET /search?q=</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Returns stored tickets whose narrative contains the text (case-insensitive LIKE, full scan, limit 50).</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r>
              <a:tr h="0">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GET /stats</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Counts of stored tickets per category, including UNPARSEABLE and zero counts.</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GET /health</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Model tag and digest, num_ctx, prompt hash, Ollama reachability. Not logged.</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r>
            </a:tbl>
          </a:graphicData>
        </a:graphic>
      </p:graphicFrame>
      <p:sp>
        <p:nvSpPr>
          <p:cNvPr id="22" name="Shape 19"/>
          <p:cNvSpPr/>
          <p:nvPr/>
        </p:nvSpPr>
        <p:spPr>
          <a:xfrm>
            <a:off x="502920" y="4617720"/>
            <a:ext cx="3429000" cy="1508760"/>
          </a:xfrm>
          <a:prstGeom prst="roundRect">
            <a:avLst>
              <a:gd name="adj" fmla="val 4848"/>
            </a:avLst>
          </a:prstGeom>
          <a:solidFill>
            <a:srgbClr val="0E2A33"/>
          </a:solidFill>
          <a:ln w="12700">
            <a:solidFill>
              <a:srgbClr val="0E2A33"/>
            </a:solidFill>
            <a:prstDash val="solid"/>
          </a:ln>
        </p:spPr>
      </p:sp>
      <p:sp>
        <p:nvSpPr>
          <p:cNvPr id="23" name="Text 20"/>
          <p:cNvSpPr txBox="1"/>
          <p:nvPr/>
        </p:nvSpPr>
        <p:spPr>
          <a:xfrm>
            <a:off x="594360" y="4681728"/>
            <a:ext cx="3246120" cy="1371600"/>
          </a:xfrm>
          <a:prstGeom prst="rect">
            <a:avLst/>
          </a:prstGeom>
          <a:noFill/>
          <a:ln/>
        </p:spPr>
        <p:txBody>
          <a:bodyPr wrap="square" lIns="762" tIns="762" rIns="762" bIns="762" rtlCol="0" anchor="t"/>
          <a:lstStyle/>
          <a:p>
            <a:pPr algn="l" indent="0" marL="0">
              <a:lnSpc>
                <a:spcPct val="100000"/>
              </a:lnSpc>
              <a:buNone/>
            </a:pPr>
            <a:r>
              <a:rPr lang="en-US" sz="1150" b="1" dirty="0">
                <a:solidFill>
                  <a:srgbClr val="E39B2D"/>
                </a:solidFill>
                <a:latin typeface="Calibri" pitchFamily="34" charset="0"/>
                <a:ea typeface="Calibri" pitchFamily="34" charset="-122"/>
                <a:cs typeface="Calibri" pitchFamily="34" charset="-120"/>
              </a:rPr>
              <a:t>Baseline, deliberately naive</a:t>
            </a:r>
            <a:endParaRPr lang="en-US" sz="1150" dirty="0"/>
          </a:p>
          <a:p>
            <a:pPr algn="l" indent="0" marL="0">
              <a:lnSpc>
                <a:spcPct val="100000"/>
              </a:lnSpc>
              <a:buNone/>
            </a:pPr>
            <a:r>
              <a:rPr lang="en-US" sz="1150" dirty="0">
                <a:solidFill>
                  <a:srgbClr val="FFFFFF"/>
                </a:solidFill>
                <a:latin typeface="Calibri" pitchFamily="34" charset="0"/>
                <a:ea typeface="Calibri" pitchFamily="34" charset="-122"/>
                <a:cs typeface="Calibri" pitchFamily="34" charset="-120"/>
              </a:rPr>
              <a:t>Synchronous, sequential calls, no caching and no queuing. The service starts empty; tickets enter only through POST /tickets — the dataset is never bulk-loaded.</a:t>
            </a:r>
            <a:endParaRPr lang="en-US" sz="1150" dirty="0"/>
          </a:p>
        </p:txBody>
      </p:sp>
      <p:sp>
        <p:nvSpPr>
          <p:cNvPr id="25" name="Slide Number Placeholder 0"/>
          <p:cNvSpPr>
            <a:spLocks noGrp="1"/>
          </p:cNvSpPr>
          <p:nvPr>
            <p:ph type="sldNum" sz="quarter" idx="4294967295"/>
          </p:nvPr>
        </p:nvSpPr>
        <p:spPr>
          <a:xfrm>
            <a:off x="11231575"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B7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02920" y="292608"/>
            <a:ext cx="11185855" cy="566928"/>
          </a:xfrm>
          <a:prstGeom prst="rect">
            <a:avLst/>
          </a:prstGeom>
          <a:noFill/>
          <a:ln/>
        </p:spPr>
        <p:txBody>
          <a:bodyPr wrap="square" lIns="0" tIns="0" rIns="0" bIns="0" rtlCol="0" anchor="ctr"/>
          <a:lstStyle/>
          <a:p>
            <a:pPr indent="0" marL="0">
              <a:buNone/>
            </a:pPr>
            <a:r>
              <a:rPr lang="en-US" sz="2800" b="1" dirty="0">
                <a:solidFill>
                  <a:srgbClr val="17252C"/>
                </a:solidFill>
                <a:latin typeface="Cambria" pitchFamily="34" charset="0"/>
                <a:ea typeface="Cambria" pitchFamily="34" charset="-122"/>
                <a:cs typeface="Cambria" pitchFamily="34" charset="-120"/>
              </a:rPr>
              <a:t>Workload model</a:t>
            </a:r>
            <a:endParaRPr lang="en-US" sz="2800" dirty="0"/>
          </a:p>
        </p:txBody>
      </p:sp>
      <p:sp>
        <p:nvSpPr>
          <p:cNvPr id="3" name="Text 1"/>
          <p:cNvSpPr txBox="1"/>
          <p:nvPr/>
        </p:nvSpPr>
        <p:spPr>
          <a:xfrm>
            <a:off x="502920" y="868680"/>
            <a:ext cx="11185855" cy="411480"/>
          </a:xfrm>
          <a:prstGeom prst="rect">
            <a:avLst/>
          </a:prstGeom>
          <a:noFill/>
          <a:ln/>
        </p:spPr>
        <p:txBody>
          <a:bodyPr wrap="square" lIns="0" tIns="0" rIns="0" bIns="0" rtlCol="0" anchor="t"/>
          <a:lstStyle/>
          <a:p>
            <a:pPr indent="0" marL="0">
              <a:buNone/>
            </a:pPr>
            <a:r>
              <a:rPr lang="en-US" sz="1500" dirty="0">
                <a:solidFill>
                  <a:srgbClr val="1F6F78"/>
                </a:solidFill>
                <a:latin typeface="Calibri" pitchFamily="34" charset="0"/>
                <a:ea typeface="Calibri" pitchFamily="34" charset="-122"/>
                <a:cs typeface="Calibri" pitchFamily="34" charset="-120"/>
              </a:rPr>
              <a:t>A modelled mid-sized firm receives about 1,500 complaint tickets a year, so every tested rate is far above its peak.</a:t>
            </a:r>
            <a:endParaRPr lang="en-US" sz="1500" dirty="0"/>
          </a:p>
        </p:txBody>
      </p:sp>
      <p:sp>
        <p:nvSpPr>
          <p:cNvPr id="4" name="Text 2"/>
          <p:cNvSpPr txBox="1"/>
          <p:nvPr/>
        </p:nvSpPr>
        <p:spPr>
          <a:xfrm>
            <a:off x="502920" y="6446520"/>
            <a:ext cx="10362895" cy="292608"/>
          </a:xfrm>
          <a:prstGeom prst="rect">
            <a:avLst/>
          </a:prstGeom>
          <a:noFill/>
          <a:ln/>
        </p:spPr>
        <p:txBody>
          <a:bodyPr wrap="square" lIns="0" tIns="0" rIns="0" bIns="0" rtlCol="0" anchor="ctr"/>
          <a:lstStyle/>
          <a:p>
            <a:pPr indent="0" marL="0">
              <a:buNone/>
            </a:pPr>
            <a:r>
              <a:rPr lang="en-US" sz="900" dirty="0">
                <a:solidFill>
                  <a:srgbClr val="5B6B73"/>
                </a:solidFill>
                <a:latin typeface="Calibri" pitchFamily="34" charset="0"/>
                <a:ea typeface="Calibri" pitchFamily="34" charset="-122"/>
                <a:cs typeface="Calibri" pitchFamily="34" charset="-120"/>
              </a:rPr>
              <a:t>Source: workload/workload_model.md (Part 4); [27] CFPB 2025 Consumer Response Annual Report; [28] CNA (2024); [29] Whitt (2007); [26] workload/output/ (measured)</a:t>
            </a:r>
            <a:endParaRPr lang="en-US" sz="900" dirty="0"/>
          </a:p>
        </p:txBody>
      </p:sp>
      <p:sp>
        <p:nvSpPr>
          <p:cNvPr id="5" name="Shape 3"/>
          <p:cNvSpPr/>
          <p:nvPr/>
        </p:nvSpPr>
        <p:spPr>
          <a:xfrm>
            <a:off x="502920" y="1463040"/>
            <a:ext cx="3108960" cy="2194560"/>
          </a:xfrm>
          <a:prstGeom prst="roundRect">
            <a:avLst>
              <a:gd name="adj" fmla="val 3333"/>
            </a:avLst>
          </a:prstGeom>
          <a:solidFill>
            <a:srgbClr val="EEF3F4"/>
          </a:solidFill>
          <a:ln w="12700">
            <a:solidFill>
              <a:srgbClr val="EEF3F4"/>
            </a:solidFill>
            <a:prstDash val="solid"/>
          </a:ln>
        </p:spPr>
      </p:sp>
      <p:sp>
        <p:nvSpPr>
          <p:cNvPr id="6" name="Shape 4"/>
          <p:cNvSpPr/>
          <p:nvPr/>
        </p:nvSpPr>
        <p:spPr>
          <a:xfrm>
            <a:off x="640080" y="1600200"/>
            <a:ext cx="868680" cy="219456"/>
          </a:xfrm>
          <a:prstGeom prst="roundRect">
            <a:avLst>
              <a:gd name="adj" fmla="val 20833"/>
            </a:avLst>
          </a:prstGeom>
          <a:solidFill>
            <a:srgbClr val="E39B2D"/>
          </a:solidFill>
          <a:ln w="12700">
            <a:solidFill>
              <a:srgbClr val="E39B2D"/>
            </a:solidFill>
            <a:prstDash val="solid"/>
          </a:ln>
        </p:spPr>
      </p:sp>
      <p:sp>
        <p:nvSpPr>
          <p:cNvPr id="7" name="Text 5"/>
          <p:cNvSpPr txBox="1"/>
          <p:nvPr/>
        </p:nvSpPr>
        <p:spPr>
          <a:xfrm>
            <a:off x="640080" y="1600200"/>
            <a:ext cx="868680" cy="219456"/>
          </a:xfrm>
          <a:prstGeom prst="rect">
            <a:avLst/>
          </a:prstGeom>
          <a:noFill/>
          <a:ln/>
        </p:spPr>
        <p:txBody>
          <a:bodyPr wrap="square" lIns="0" tIns="0" rIns="0" bIns="0" rtlCol="0" anchor="ctr"/>
          <a:lstStyle/>
          <a:p>
            <a:pPr algn="ctr" indent="0" marL="0">
              <a:lnSpc>
                <a:spcPct val="100000"/>
              </a:lnSpc>
              <a:buNone/>
            </a:pPr>
            <a:r>
              <a:rPr lang="en-US" sz="850" b="1" dirty="0">
                <a:solidFill>
                  <a:srgbClr val="FFFFFF"/>
                </a:solidFill>
                <a:latin typeface="Calibri" pitchFamily="34" charset="0"/>
                <a:ea typeface="Calibri" pitchFamily="34" charset="-122"/>
                <a:cs typeface="Calibri" pitchFamily="34" charset="-120"/>
              </a:rPr>
              <a:t>ESTIMATE</a:t>
            </a:r>
            <a:endParaRPr lang="en-US" sz="850" dirty="0"/>
          </a:p>
        </p:txBody>
      </p:sp>
      <p:sp>
        <p:nvSpPr>
          <p:cNvPr id="8" name="Text 6"/>
          <p:cNvSpPr txBox="1"/>
          <p:nvPr/>
        </p:nvSpPr>
        <p:spPr>
          <a:xfrm>
            <a:off x="640080" y="1874520"/>
            <a:ext cx="2834640" cy="548640"/>
          </a:xfrm>
          <a:prstGeom prst="rect">
            <a:avLst/>
          </a:prstGeom>
          <a:noFill/>
          <a:ln/>
        </p:spPr>
        <p:txBody>
          <a:bodyPr wrap="square" lIns="0" tIns="0" rIns="0" bIns="0" rtlCol="0" anchor="t"/>
          <a:lstStyle/>
          <a:p>
            <a:pPr algn="l" indent="0" marL="0">
              <a:lnSpc>
                <a:spcPct val="100000"/>
              </a:lnSpc>
              <a:buNone/>
            </a:pPr>
            <a:r>
              <a:rPr lang="en-US" sz="2600" b="1" dirty="0">
                <a:solidFill>
                  <a:srgbClr val="0E2A33"/>
                </a:solidFill>
                <a:latin typeface="Cambria" pitchFamily="34" charset="0"/>
                <a:ea typeface="Cambria" pitchFamily="34" charset="-122"/>
                <a:cs typeface="Cambria" pitchFamily="34" charset="-120"/>
              </a:rPr>
              <a:t>1,496</a:t>
            </a:r>
            <a:endParaRPr lang="en-US" sz="2600" dirty="0"/>
          </a:p>
        </p:txBody>
      </p:sp>
      <p:sp>
        <p:nvSpPr>
          <p:cNvPr id="9" name="Text 7"/>
          <p:cNvSpPr txBox="1"/>
          <p:nvPr/>
        </p:nvSpPr>
        <p:spPr>
          <a:xfrm>
            <a:off x="640080" y="2404872"/>
            <a:ext cx="2834640" cy="274320"/>
          </a:xfrm>
          <a:prstGeom prst="rect">
            <a:avLst/>
          </a:prstGeom>
          <a:noFill/>
          <a:ln/>
        </p:spPr>
        <p:txBody>
          <a:bodyPr wrap="square" lIns="0" tIns="0" rIns="0" bIns="0" rtlCol="0" anchor="t"/>
          <a:lstStyle/>
          <a:p>
            <a:pPr algn="l" indent="0" marL="0">
              <a:lnSpc>
                <a:spcPct val="100000"/>
              </a:lnSpc>
              <a:buNone/>
            </a:pPr>
            <a:r>
              <a:rPr lang="en-US" sz="1100" b="1" dirty="0">
                <a:solidFill>
                  <a:srgbClr val="1F6F78"/>
                </a:solidFill>
                <a:latin typeface="Calibri" pitchFamily="34" charset="0"/>
                <a:ea typeface="Calibri" pitchFamily="34" charset="-122"/>
                <a:cs typeface="Calibri" pitchFamily="34" charset="-120"/>
              </a:rPr>
              <a:t>tickets / year</a:t>
            </a:r>
            <a:endParaRPr lang="en-US" sz="1100" dirty="0"/>
          </a:p>
        </p:txBody>
      </p:sp>
      <p:sp>
        <p:nvSpPr>
          <p:cNvPr id="10" name="Text 8"/>
          <p:cNvSpPr txBox="1"/>
          <p:nvPr/>
        </p:nvSpPr>
        <p:spPr>
          <a:xfrm>
            <a:off x="640080" y="2679192"/>
            <a:ext cx="2834640" cy="914400"/>
          </a:xfrm>
          <a:prstGeom prst="rect">
            <a:avLst/>
          </a:prstGeom>
          <a:noFill/>
          <a:ln/>
        </p:spPr>
        <p:txBody>
          <a:bodyPr wrap="square" lIns="0" tIns="0" rIns="0" bIns="0" rtlCol="0" anchor="t"/>
          <a:lstStyle/>
          <a:p>
            <a:pPr algn="l" indent="0" marL="0">
              <a:lnSpc>
                <a:spcPct val="100000"/>
              </a:lnSpc>
              <a:buNone/>
            </a:pPr>
            <a:r>
              <a:rPr lang="en-US" sz="1050" dirty="0">
                <a:solidFill>
                  <a:srgbClr val="17252C"/>
                </a:solidFill>
                <a:latin typeface="Calibri" pitchFamily="34" charset="0"/>
                <a:ea typeface="Calibri" pitchFamily="34" charset="-122"/>
                <a:cs typeface="Calibri" pitchFamily="34" charset="-120"/>
              </a:rPr>
              <a:t>5,984,100 complaints sent to companies in 2025 [27] × equal share 1 ÷ 4,000 companies (0.025%).</a:t>
            </a:r>
            <a:endParaRPr lang="en-US" sz="1050" dirty="0"/>
          </a:p>
        </p:txBody>
      </p:sp>
      <p:sp>
        <p:nvSpPr>
          <p:cNvPr id="11" name="Shape 9"/>
          <p:cNvSpPr/>
          <p:nvPr/>
        </p:nvSpPr>
        <p:spPr>
          <a:xfrm>
            <a:off x="3749040" y="1463040"/>
            <a:ext cx="3108960" cy="2194560"/>
          </a:xfrm>
          <a:prstGeom prst="roundRect">
            <a:avLst>
              <a:gd name="adj" fmla="val 3333"/>
            </a:avLst>
          </a:prstGeom>
          <a:solidFill>
            <a:srgbClr val="EEF3F4"/>
          </a:solidFill>
          <a:ln w="12700">
            <a:solidFill>
              <a:srgbClr val="EEF3F4"/>
            </a:solidFill>
            <a:prstDash val="solid"/>
          </a:ln>
        </p:spPr>
      </p:sp>
      <p:sp>
        <p:nvSpPr>
          <p:cNvPr id="12" name="Shape 10"/>
          <p:cNvSpPr/>
          <p:nvPr/>
        </p:nvSpPr>
        <p:spPr>
          <a:xfrm>
            <a:off x="3886200" y="1600200"/>
            <a:ext cx="868680" cy="219456"/>
          </a:xfrm>
          <a:prstGeom prst="roundRect">
            <a:avLst>
              <a:gd name="adj" fmla="val 20833"/>
            </a:avLst>
          </a:prstGeom>
          <a:solidFill>
            <a:srgbClr val="E39B2D"/>
          </a:solidFill>
          <a:ln w="12700">
            <a:solidFill>
              <a:srgbClr val="E39B2D"/>
            </a:solidFill>
            <a:prstDash val="solid"/>
          </a:ln>
        </p:spPr>
      </p:sp>
      <p:sp>
        <p:nvSpPr>
          <p:cNvPr id="13" name="Text 11"/>
          <p:cNvSpPr txBox="1"/>
          <p:nvPr/>
        </p:nvSpPr>
        <p:spPr>
          <a:xfrm>
            <a:off x="3886200" y="1600200"/>
            <a:ext cx="868680" cy="219456"/>
          </a:xfrm>
          <a:prstGeom prst="rect">
            <a:avLst/>
          </a:prstGeom>
          <a:noFill/>
          <a:ln/>
        </p:spPr>
        <p:txBody>
          <a:bodyPr wrap="square" lIns="0" tIns="0" rIns="0" bIns="0" rtlCol="0" anchor="ctr"/>
          <a:lstStyle/>
          <a:p>
            <a:pPr algn="ctr" indent="0" marL="0">
              <a:lnSpc>
                <a:spcPct val="100000"/>
              </a:lnSpc>
              <a:buNone/>
            </a:pPr>
            <a:r>
              <a:rPr lang="en-US" sz="850" b="1" dirty="0">
                <a:solidFill>
                  <a:srgbClr val="FFFFFF"/>
                </a:solidFill>
                <a:latin typeface="Calibri" pitchFamily="34" charset="0"/>
                <a:ea typeface="Calibri" pitchFamily="34" charset="-122"/>
                <a:cs typeface="Calibri" pitchFamily="34" charset="-120"/>
              </a:rPr>
              <a:t>ESTIMATE</a:t>
            </a:r>
            <a:endParaRPr lang="en-US" sz="850" dirty="0"/>
          </a:p>
        </p:txBody>
      </p:sp>
      <p:sp>
        <p:nvSpPr>
          <p:cNvPr id="14" name="Text 12"/>
          <p:cNvSpPr txBox="1"/>
          <p:nvPr/>
        </p:nvSpPr>
        <p:spPr>
          <a:xfrm>
            <a:off x="3886200" y="1874520"/>
            <a:ext cx="2834640" cy="548640"/>
          </a:xfrm>
          <a:prstGeom prst="rect">
            <a:avLst/>
          </a:prstGeom>
          <a:noFill/>
          <a:ln/>
        </p:spPr>
        <p:txBody>
          <a:bodyPr wrap="square" lIns="0" tIns="0" rIns="0" bIns="0" rtlCol="0" anchor="t"/>
          <a:lstStyle/>
          <a:p>
            <a:pPr algn="l" indent="0" marL="0">
              <a:lnSpc>
                <a:spcPct val="100000"/>
              </a:lnSpc>
              <a:buNone/>
            </a:pPr>
            <a:r>
              <a:rPr lang="en-US" sz="2600" b="1" dirty="0">
                <a:solidFill>
                  <a:srgbClr val="0E2A33"/>
                </a:solidFill>
                <a:latin typeface="Cambria" pitchFamily="34" charset="0"/>
                <a:ea typeface="Cambria" pitchFamily="34" charset="-122"/>
                <a:cs typeface="Cambria" pitchFamily="34" charset="-120"/>
              </a:rPr>
              <a:t>0.012 → 0.024</a:t>
            </a:r>
            <a:endParaRPr lang="en-US" sz="2600" dirty="0"/>
          </a:p>
        </p:txBody>
      </p:sp>
      <p:sp>
        <p:nvSpPr>
          <p:cNvPr id="15" name="Text 13"/>
          <p:cNvSpPr txBox="1"/>
          <p:nvPr/>
        </p:nvSpPr>
        <p:spPr>
          <a:xfrm>
            <a:off x="3886200" y="2404872"/>
            <a:ext cx="2834640" cy="274320"/>
          </a:xfrm>
          <a:prstGeom prst="rect">
            <a:avLst/>
          </a:prstGeom>
          <a:noFill/>
          <a:ln/>
        </p:spPr>
        <p:txBody>
          <a:bodyPr wrap="square" lIns="0" tIns="0" rIns="0" bIns="0" rtlCol="0" anchor="t"/>
          <a:lstStyle/>
          <a:p>
            <a:pPr algn="l" indent="0" marL="0">
              <a:lnSpc>
                <a:spcPct val="100000"/>
              </a:lnSpc>
              <a:buNone/>
            </a:pPr>
            <a:r>
              <a:rPr lang="en-US" sz="1100" b="1" dirty="0">
                <a:solidFill>
                  <a:srgbClr val="1F6F78"/>
                </a:solidFill>
                <a:latin typeface="Calibri" pitchFamily="34" charset="0"/>
                <a:ea typeface="Calibri" pitchFamily="34" charset="-122"/>
                <a:cs typeface="Calibri" pitchFamily="34" charset="-120"/>
              </a:rPr>
              <a:t>tickets / minute, average → peak</a:t>
            </a:r>
            <a:endParaRPr lang="en-US" sz="1100" dirty="0"/>
          </a:p>
        </p:txBody>
      </p:sp>
      <p:sp>
        <p:nvSpPr>
          <p:cNvPr id="16" name="Text 14"/>
          <p:cNvSpPr txBox="1"/>
          <p:nvPr/>
        </p:nvSpPr>
        <p:spPr>
          <a:xfrm>
            <a:off x="3886200" y="2679192"/>
            <a:ext cx="2834640" cy="914400"/>
          </a:xfrm>
          <a:prstGeom prst="rect">
            <a:avLst/>
          </a:prstGeom>
          <a:noFill/>
          <a:ln/>
        </p:spPr>
        <p:txBody>
          <a:bodyPr wrap="square" lIns="0" tIns="0" rIns="0" bIns="0" rtlCol="0" anchor="t"/>
          <a:lstStyle/>
          <a:p>
            <a:pPr algn="l" indent="0" marL="0">
              <a:lnSpc>
                <a:spcPct val="100000"/>
              </a:lnSpc>
              <a:buNone/>
            </a:pPr>
            <a:r>
              <a:rPr lang="en-US" sz="1050" dirty="0">
                <a:solidFill>
                  <a:srgbClr val="17252C"/>
                </a:solidFill>
                <a:latin typeface="Calibri" pitchFamily="34" charset="0"/>
                <a:ea typeface="Calibri" pitchFamily="34" charset="-122"/>
                <a:cs typeface="Calibri" pitchFamily="34" charset="-120"/>
              </a:rPr>
              <a:t>5.754 per working day over 8 opening hours; peak factor 2× during daytime hours (assumed, call-centre profile [29]).</a:t>
            </a:r>
            <a:endParaRPr lang="en-US" sz="1050" dirty="0"/>
          </a:p>
        </p:txBody>
      </p:sp>
      <p:sp>
        <p:nvSpPr>
          <p:cNvPr id="17" name="Shape 15"/>
          <p:cNvSpPr/>
          <p:nvPr/>
        </p:nvSpPr>
        <p:spPr>
          <a:xfrm>
            <a:off x="502920" y="3794760"/>
            <a:ext cx="3108960" cy="2194560"/>
          </a:xfrm>
          <a:prstGeom prst="roundRect">
            <a:avLst>
              <a:gd name="adj" fmla="val 3333"/>
            </a:avLst>
          </a:prstGeom>
          <a:solidFill>
            <a:srgbClr val="EEF3F4"/>
          </a:solidFill>
          <a:ln w="12700">
            <a:solidFill>
              <a:srgbClr val="EEF3F4"/>
            </a:solidFill>
            <a:prstDash val="solid"/>
          </a:ln>
        </p:spPr>
      </p:sp>
      <p:sp>
        <p:nvSpPr>
          <p:cNvPr id="18" name="Shape 16"/>
          <p:cNvSpPr/>
          <p:nvPr/>
        </p:nvSpPr>
        <p:spPr>
          <a:xfrm>
            <a:off x="640080" y="3931920"/>
            <a:ext cx="868680" cy="219456"/>
          </a:xfrm>
          <a:prstGeom prst="roundRect">
            <a:avLst>
              <a:gd name="adj" fmla="val 20833"/>
            </a:avLst>
          </a:prstGeom>
          <a:solidFill>
            <a:srgbClr val="E39B2D"/>
          </a:solidFill>
          <a:ln w="12700">
            <a:solidFill>
              <a:srgbClr val="E39B2D"/>
            </a:solidFill>
            <a:prstDash val="solid"/>
          </a:ln>
        </p:spPr>
      </p:sp>
      <p:sp>
        <p:nvSpPr>
          <p:cNvPr id="19" name="Text 17"/>
          <p:cNvSpPr txBox="1"/>
          <p:nvPr/>
        </p:nvSpPr>
        <p:spPr>
          <a:xfrm>
            <a:off x="640080" y="3931920"/>
            <a:ext cx="868680" cy="219456"/>
          </a:xfrm>
          <a:prstGeom prst="rect">
            <a:avLst/>
          </a:prstGeom>
          <a:noFill/>
          <a:ln/>
        </p:spPr>
        <p:txBody>
          <a:bodyPr wrap="square" lIns="0" tIns="0" rIns="0" bIns="0" rtlCol="0" anchor="ctr"/>
          <a:lstStyle/>
          <a:p>
            <a:pPr algn="ctr" indent="0" marL="0">
              <a:lnSpc>
                <a:spcPct val="100000"/>
              </a:lnSpc>
              <a:buNone/>
            </a:pPr>
            <a:r>
              <a:rPr lang="en-US" sz="850" b="1" dirty="0">
                <a:solidFill>
                  <a:srgbClr val="FFFFFF"/>
                </a:solidFill>
                <a:latin typeface="Calibri" pitchFamily="34" charset="0"/>
                <a:ea typeface="Calibri" pitchFamily="34" charset="-122"/>
                <a:cs typeface="Calibri" pitchFamily="34" charset="-120"/>
              </a:rPr>
              <a:t>ESTIMATE</a:t>
            </a:r>
            <a:endParaRPr lang="en-US" sz="850" dirty="0"/>
          </a:p>
        </p:txBody>
      </p:sp>
      <p:sp>
        <p:nvSpPr>
          <p:cNvPr id="20" name="Text 18"/>
          <p:cNvSpPr txBox="1"/>
          <p:nvPr/>
        </p:nvSpPr>
        <p:spPr>
          <a:xfrm>
            <a:off x="640080" y="4206240"/>
            <a:ext cx="2834640" cy="548640"/>
          </a:xfrm>
          <a:prstGeom prst="rect">
            <a:avLst/>
          </a:prstGeom>
          <a:noFill/>
          <a:ln/>
        </p:spPr>
        <p:txBody>
          <a:bodyPr wrap="square" lIns="0" tIns="0" rIns="0" bIns="0" rtlCol="0" anchor="t"/>
          <a:lstStyle/>
          <a:p>
            <a:pPr algn="l" indent="0" marL="0">
              <a:lnSpc>
                <a:spcPct val="100000"/>
              </a:lnSpc>
              <a:buNone/>
            </a:pPr>
            <a:r>
              <a:rPr lang="en-US" sz="2600" b="1" dirty="0">
                <a:solidFill>
                  <a:srgbClr val="0E2A33"/>
                </a:solidFill>
                <a:latin typeface="Cambria" pitchFamily="34" charset="0"/>
                <a:ea typeface="Cambria" pitchFamily="34" charset="-122"/>
                <a:cs typeface="Cambria" pitchFamily="34" charset="-120"/>
              </a:rPr>
              <a:t>0.167</a:t>
            </a:r>
            <a:endParaRPr lang="en-US" sz="2600" dirty="0"/>
          </a:p>
        </p:txBody>
      </p:sp>
      <p:sp>
        <p:nvSpPr>
          <p:cNvPr id="21" name="Text 19"/>
          <p:cNvSpPr txBox="1"/>
          <p:nvPr/>
        </p:nvSpPr>
        <p:spPr>
          <a:xfrm>
            <a:off x="640080" y="4736592"/>
            <a:ext cx="2834640" cy="274320"/>
          </a:xfrm>
          <a:prstGeom prst="rect">
            <a:avLst/>
          </a:prstGeom>
          <a:noFill/>
          <a:ln/>
        </p:spPr>
        <p:txBody>
          <a:bodyPr wrap="square" lIns="0" tIns="0" rIns="0" bIns="0" rtlCol="0" anchor="t"/>
          <a:lstStyle/>
          <a:p>
            <a:pPr algn="l" indent="0" marL="0">
              <a:lnSpc>
                <a:spcPct val="100000"/>
              </a:lnSpc>
              <a:buNone/>
            </a:pPr>
            <a:r>
              <a:rPr lang="en-US" sz="1100" b="1" dirty="0">
                <a:solidFill>
                  <a:srgbClr val="1F6F78"/>
                </a:solidFill>
                <a:latin typeface="Calibri" pitchFamily="34" charset="0"/>
                <a:ea typeface="Calibri" pitchFamily="34" charset="-122"/>
                <a:cs typeface="Calibri" pitchFamily="34" charset="-120"/>
              </a:rPr>
              <a:t>agent searches / minute</a:t>
            </a:r>
            <a:endParaRPr lang="en-US" sz="1100" dirty="0"/>
          </a:p>
        </p:txBody>
      </p:sp>
      <p:sp>
        <p:nvSpPr>
          <p:cNvPr id="22" name="Text 20"/>
          <p:cNvSpPr txBox="1"/>
          <p:nvPr/>
        </p:nvSpPr>
        <p:spPr>
          <a:xfrm>
            <a:off x="640080" y="5010912"/>
            <a:ext cx="2834640" cy="914400"/>
          </a:xfrm>
          <a:prstGeom prst="rect">
            <a:avLst/>
          </a:prstGeom>
          <a:noFill/>
          <a:ln/>
        </p:spPr>
        <p:txBody>
          <a:bodyPr wrap="square" lIns="0" tIns="0" rIns="0" bIns="0" rtlCol="0" anchor="t"/>
          <a:lstStyle/>
          <a:p>
            <a:pPr algn="l" indent="0" marL="0">
              <a:lnSpc>
                <a:spcPct val="100000"/>
              </a:lnSpc>
              <a:buNone/>
            </a:pPr>
            <a:r>
              <a:rPr lang="en-US" sz="1050" dirty="0">
                <a:solidFill>
                  <a:srgbClr val="17252C"/>
                </a:solidFill>
                <a:latin typeface="Calibri" pitchFamily="34" charset="0"/>
                <a:ea typeface="Calibri" pitchFamily="34" charset="-122"/>
                <a:cs typeface="Calibri" pitchFamily="34" charset="-120"/>
              </a:rPr>
              <a:t>2 agents × 5 searches/hour — one search per call, 4–5 calls/hour per officer [28]. 13.9 searches per ticket.</a:t>
            </a:r>
            <a:endParaRPr lang="en-US" sz="1050" dirty="0"/>
          </a:p>
        </p:txBody>
      </p:sp>
      <p:sp>
        <p:nvSpPr>
          <p:cNvPr id="23" name="Shape 21"/>
          <p:cNvSpPr/>
          <p:nvPr/>
        </p:nvSpPr>
        <p:spPr>
          <a:xfrm>
            <a:off x="3749040" y="3794760"/>
            <a:ext cx="3108960" cy="2194560"/>
          </a:xfrm>
          <a:prstGeom prst="roundRect">
            <a:avLst>
              <a:gd name="adj" fmla="val 3333"/>
            </a:avLst>
          </a:prstGeom>
          <a:solidFill>
            <a:srgbClr val="EEF3F4"/>
          </a:solidFill>
          <a:ln w="12700">
            <a:solidFill>
              <a:srgbClr val="EEF3F4"/>
            </a:solidFill>
            <a:prstDash val="solid"/>
          </a:ln>
        </p:spPr>
      </p:sp>
      <p:sp>
        <p:nvSpPr>
          <p:cNvPr id="24" name="Shape 22"/>
          <p:cNvSpPr/>
          <p:nvPr/>
        </p:nvSpPr>
        <p:spPr>
          <a:xfrm>
            <a:off x="3886200" y="3931920"/>
            <a:ext cx="868680" cy="219456"/>
          </a:xfrm>
          <a:prstGeom prst="roundRect">
            <a:avLst>
              <a:gd name="adj" fmla="val 20833"/>
            </a:avLst>
          </a:prstGeom>
          <a:solidFill>
            <a:srgbClr val="1F6F78"/>
          </a:solidFill>
          <a:ln w="12700">
            <a:solidFill>
              <a:srgbClr val="1F6F78"/>
            </a:solidFill>
            <a:prstDash val="solid"/>
          </a:ln>
        </p:spPr>
      </p:sp>
      <p:sp>
        <p:nvSpPr>
          <p:cNvPr id="25" name="Text 23"/>
          <p:cNvSpPr txBox="1"/>
          <p:nvPr/>
        </p:nvSpPr>
        <p:spPr>
          <a:xfrm>
            <a:off x="3886200" y="3931920"/>
            <a:ext cx="868680" cy="219456"/>
          </a:xfrm>
          <a:prstGeom prst="rect">
            <a:avLst/>
          </a:prstGeom>
          <a:noFill/>
          <a:ln/>
        </p:spPr>
        <p:txBody>
          <a:bodyPr wrap="square" lIns="0" tIns="0" rIns="0" bIns="0" rtlCol="0" anchor="ctr"/>
          <a:lstStyle/>
          <a:p>
            <a:pPr algn="ctr" indent="0" marL="0">
              <a:lnSpc>
                <a:spcPct val="100000"/>
              </a:lnSpc>
              <a:buNone/>
            </a:pPr>
            <a:r>
              <a:rPr lang="en-US" sz="850" b="1" dirty="0">
                <a:solidFill>
                  <a:srgbClr val="FFFFFF"/>
                </a:solidFill>
                <a:latin typeface="Calibri" pitchFamily="34" charset="0"/>
                <a:ea typeface="Calibri" pitchFamily="34" charset="-122"/>
                <a:cs typeface="Calibri" pitchFamily="34" charset="-120"/>
              </a:rPr>
              <a:t>WORKLOAD → TEST</a:t>
            </a:r>
            <a:endParaRPr lang="en-US" sz="850" dirty="0"/>
          </a:p>
        </p:txBody>
      </p:sp>
      <p:sp>
        <p:nvSpPr>
          <p:cNvPr id="26" name="Text 24"/>
          <p:cNvSpPr txBox="1"/>
          <p:nvPr/>
        </p:nvSpPr>
        <p:spPr>
          <a:xfrm>
            <a:off x="3886200" y="4206240"/>
            <a:ext cx="2834640" cy="548640"/>
          </a:xfrm>
          <a:prstGeom prst="rect">
            <a:avLst/>
          </a:prstGeom>
          <a:noFill/>
          <a:ln/>
        </p:spPr>
        <p:txBody>
          <a:bodyPr wrap="square" lIns="0" tIns="0" rIns="0" bIns="0" rtlCol="0" anchor="t"/>
          <a:lstStyle/>
          <a:p>
            <a:pPr algn="l" indent="0" marL="0">
              <a:lnSpc>
                <a:spcPct val="100000"/>
              </a:lnSpc>
              <a:buNone/>
            </a:pPr>
            <a:r>
              <a:rPr lang="en-US" sz="2600" b="1" dirty="0">
                <a:solidFill>
                  <a:srgbClr val="0E2A33"/>
                </a:solidFill>
                <a:latin typeface="Cambria" pitchFamily="34" charset="0"/>
                <a:ea typeface="Cambria" pitchFamily="34" charset="-122"/>
                <a:cs typeface="Cambria" pitchFamily="34" charset="-120"/>
              </a:rPr>
              <a:t>1 · 4 · 12</a:t>
            </a:r>
            <a:endParaRPr lang="en-US" sz="2600" dirty="0"/>
          </a:p>
        </p:txBody>
      </p:sp>
      <p:sp>
        <p:nvSpPr>
          <p:cNvPr id="27" name="Text 25"/>
          <p:cNvSpPr txBox="1"/>
          <p:nvPr/>
        </p:nvSpPr>
        <p:spPr>
          <a:xfrm>
            <a:off x="3886200" y="4736592"/>
            <a:ext cx="2834640" cy="274320"/>
          </a:xfrm>
          <a:prstGeom prst="rect">
            <a:avLst/>
          </a:prstGeom>
          <a:noFill/>
          <a:ln/>
        </p:spPr>
        <p:txBody>
          <a:bodyPr wrap="square" lIns="0" tIns="0" rIns="0" bIns="0" rtlCol="0" anchor="t"/>
          <a:lstStyle/>
          <a:p>
            <a:pPr algn="l" indent="0" marL="0">
              <a:lnSpc>
                <a:spcPct val="100000"/>
              </a:lnSpc>
              <a:buNone/>
            </a:pPr>
            <a:r>
              <a:rPr lang="en-US" sz="1100" b="1" dirty="0">
                <a:solidFill>
                  <a:srgbClr val="1F6F78"/>
                </a:solidFill>
                <a:latin typeface="Calibri" pitchFamily="34" charset="0"/>
                <a:ea typeface="Calibri" pitchFamily="34" charset="-122"/>
                <a:cs typeface="Calibri" pitchFamily="34" charset="-120"/>
              </a:rPr>
              <a:t>tested arrival rates, tickets / minute</a:t>
            </a:r>
            <a:endParaRPr lang="en-US" sz="1100" dirty="0"/>
          </a:p>
        </p:txBody>
      </p:sp>
      <p:sp>
        <p:nvSpPr>
          <p:cNvPr id="28" name="Text 26"/>
          <p:cNvSpPr txBox="1"/>
          <p:nvPr/>
        </p:nvSpPr>
        <p:spPr>
          <a:xfrm>
            <a:off x="3886200" y="5010912"/>
            <a:ext cx="2834640" cy="914400"/>
          </a:xfrm>
          <a:prstGeom prst="rect">
            <a:avLst/>
          </a:prstGeom>
          <a:noFill/>
          <a:ln/>
        </p:spPr>
        <p:txBody>
          <a:bodyPr wrap="square" lIns="0" tIns="0" rIns="0" bIns="0" rtlCol="0" anchor="t"/>
          <a:lstStyle/>
          <a:p>
            <a:pPr algn="l" indent="0" marL="0">
              <a:lnSpc>
                <a:spcPct val="100000"/>
              </a:lnSpc>
              <a:buNone/>
            </a:pPr>
            <a:r>
              <a:rPr lang="en-US" sz="1050" dirty="0">
                <a:solidFill>
                  <a:srgbClr val="17252C"/>
                </a:solidFill>
                <a:latin typeface="Calibri" pitchFamily="34" charset="0"/>
                <a:ea typeface="Calibri" pitchFamily="34" charset="-122"/>
                <a:cs typeface="Calibri" pitchFamily="34" charset="-120"/>
              </a:rPr>
              <a:t>1/min is the lowest rate the harness runs (≈ 42× the modelled peak); 12/min = 720 tickets/hour is the capacity test. Searches tested at 1/min.</a:t>
            </a:r>
            <a:endParaRPr lang="en-US" sz="1050" dirty="0"/>
          </a:p>
        </p:txBody>
      </p:sp>
      <p:sp>
        <p:nvSpPr>
          <p:cNvPr id="29" name="Shape 27"/>
          <p:cNvSpPr/>
          <p:nvPr/>
        </p:nvSpPr>
        <p:spPr>
          <a:xfrm>
            <a:off x="7178040" y="1463040"/>
            <a:ext cx="4507992" cy="4663440"/>
          </a:xfrm>
          <a:prstGeom prst="roundRect">
            <a:avLst>
              <a:gd name="adj" fmla="val 1623"/>
            </a:avLst>
          </a:prstGeom>
          <a:solidFill>
            <a:srgbClr val="FFFFFF"/>
          </a:solidFill>
          <a:ln w="12700">
            <a:solidFill>
              <a:srgbClr val="C9D5D8"/>
            </a:solidFill>
            <a:prstDash val="solid"/>
          </a:ln>
        </p:spPr>
      </p:sp>
      <p:sp>
        <p:nvSpPr>
          <p:cNvPr id="30" name="Shape 28"/>
          <p:cNvSpPr/>
          <p:nvPr/>
        </p:nvSpPr>
        <p:spPr>
          <a:xfrm>
            <a:off x="7315200" y="1572768"/>
            <a:ext cx="868680" cy="219456"/>
          </a:xfrm>
          <a:prstGeom prst="roundRect">
            <a:avLst>
              <a:gd name="adj" fmla="val 20833"/>
            </a:avLst>
          </a:prstGeom>
          <a:solidFill>
            <a:srgbClr val="2E7D5B"/>
          </a:solidFill>
          <a:ln w="12700">
            <a:solidFill>
              <a:srgbClr val="2E7D5B"/>
            </a:solidFill>
            <a:prstDash val="solid"/>
          </a:ln>
        </p:spPr>
      </p:sp>
      <p:sp>
        <p:nvSpPr>
          <p:cNvPr id="31" name="Text 29"/>
          <p:cNvSpPr txBox="1"/>
          <p:nvPr/>
        </p:nvSpPr>
        <p:spPr>
          <a:xfrm>
            <a:off x="7315200" y="1572768"/>
            <a:ext cx="868680" cy="219456"/>
          </a:xfrm>
          <a:prstGeom prst="rect">
            <a:avLst/>
          </a:prstGeom>
          <a:noFill/>
          <a:ln/>
        </p:spPr>
        <p:txBody>
          <a:bodyPr wrap="square" lIns="0" tIns="0" rIns="0" bIns="0" rtlCol="0" anchor="ctr"/>
          <a:lstStyle/>
          <a:p>
            <a:pPr algn="ctr" indent="0" marL="0">
              <a:lnSpc>
                <a:spcPct val="100000"/>
              </a:lnSpc>
              <a:buNone/>
            </a:pPr>
            <a:r>
              <a:rPr lang="en-US" sz="850" b="1" dirty="0">
                <a:solidFill>
                  <a:srgbClr val="FFFFFF"/>
                </a:solidFill>
                <a:latin typeface="Calibri" pitchFamily="34" charset="0"/>
                <a:ea typeface="Calibri" pitchFamily="34" charset="-122"/>
                <a:cs typeface="Calibri" pitchFamily="34" charset="-120"/>
              </a:rPr>
              <a:t>MEASURED</a:t>
            </a:r>
            <a:endParaRPr lang="en-US" sz="850" dirty="0"/>
          </a:p>
        </p:txBody>
      </p:sp>
      <p:sp>
        <p:nvSpPr>
          <p:cNvPr id="32" name="Text 30"/>
          <p:cNvSpPr txBox="1"/>
          <p:nvPr/>
        </p:nvSpPr>
        <p:spPr>
          <a:xfrm>
            <a:off x="8275320" y="1536192"/>
            <a:ext cx="3383280" cy="292608"/>
          </a:xfrm>
          <a:prstGeom prst="rect">
            <a:avLst/>
          </a:prstGeom>
          <a:noFill/>
          <a:ln/>
        </p:spPr>
        <p:txBody>
          <a:bodyPr wrap="square" lIns="0" tIns="0" rIns="0" bIns="0" rtlCol="0" anchor="t"/>
          <a:lstStyle/>
          <a:p>
            <a:pPr algn="l" indent="0" marL="0">
              <a:lnSpc>
                <a:spcPct val="100000"/>
              </a:lnSpc>
              <a:buNone/>
            </a:pPr>
            <a:r>
              <a:rPr lang="en-US" sz="1200" b="1" dirty="0">
                <a:solidFill>
                  <a:srgbClr val="17252C"/>
                </a:solidFill>
                <a:latin typeface="Calibri" pitchFamily="34" charset="0"/>
                <a:ea typeface="Calibri" pitchFamily="34" charset="-122"/>
                <a:cs typeface="Calibri" pitchFamily="34" charset="-120"/>
              </a:rPr>
              <a:t>Ticket length — our own 1,000 team rows</a:t>
            </a:r>
            <a:endParaRPr lang="en-US" sz="1200" dirty="0"/>
          </a:p>
        </p:txBody>
      </p:sp>
      <p:pic>
        <p:nvPicPr>
          <p:cNvPr id="33" name="Image 0" descr="/home/fokku/claude/ICT3113-PTO/slides/build/length_histogram_characters.png">    </p:cNvPr>
          <p:cNvPicPr>
            <a:picLocks noChangeAspect="1"/>
          </p:cNvPicPr>
          <p:nvPr/>
        </p:nvPicPr>
        <p:blipFill>
          <a:blip r:embed="rId1"/>
          <a:stretch>
            <a:fillRect/>
          </a:stretch>
        </p:blipFill>
        <p:spPr>
          <a:xfrm>
            <a:off x="7360920" y="1920240"/>
            <a:ext cx="4160520" cy="3383280"/>
          </a:xfrm>
          <a:prstGeom prst="rect">
            <a:avLst/>
          </a:prstGeom>
        </p:spPr>
      </p:pic>
      <p:sp>
        <p:nvSpPr>
          <p:cNvPr id="34" name="Text 31"/>
          <p:cNvSpPr txBox="1"/>
          <p:nvPr/>
        </p:nvSpPr>
        <p:spPr>
          <a:xfrm>
            <a:off x="7360920" y="5349240"/>
            <a:ext cx="4206240" cy="685800"/>
          </a:xfrm>
          <a:prstGeom prst="rect">
            <a:avLst/>
          </a:prstGeom>
          <a:noFill/>
          <a:ln/>
        </p:spPr>
        <p:txBody>
          <a:bodyPr wrap="square" lIns="762" tIns="762" rIns="762" bIns="762" rtlCol="0" anchor="t"/>
          <a:lstStyle/>
          <a:p>
            <a:pPr algn="l" indent="0" marL="0">
              <a:lnSpc>
                <a:spcPct val="100000"/>
              </a:lnSpc>
              <a:buNone/>
            </a:pPr>
            <a:r>
              <a:rPr lang="en-US" sz="1050" dirty="0">
                <a:solidFill>
                  <a:srgbClr val="17252C"/>
                </a:solidFill>
                <a:latin typeface="Calibri" pitchFamily="34" charset="0"/>
                <a:ea typeface="Calibri" pitchFamily="34" charset="-122"/>
                <a:cs typeface="Calibri" pitchFamily="34" charset="-120"/>
              </a:rPr>
              <a:t>Median 743.5 characters (≈ 186 tokens), p95 1,799, max 1,999. No row risks truncation at num_ctx 4096.</a:t>
            </a:r>
            <a:endParaRPr lang="en-US" sz="1050" dirty="0"/>
          </a:p>
        </p:txBody>
      </p:sp>
      <p:sp>
        <p:nvSpPr>
          <p:cNvPr id="25" name="Slide Number Placeholder 0"/>
          <p:cNvSpPr>
            <a:spLocks noGrp="1"/>
          </p:cNvSpPr>
          <p:nvPr>
            <p:ph type="sldNum" sz="quarter" idx="4294967295"/>
          </p:nvPr>
        </p:nvSpPr>
        <p:spPr>
          <a:xfrm>
            <a:off x="11231575"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B7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02920" y="292608"/>
            <a:ext cx="11185855" cy="566928"/>
          </a:xfrm>
          <a:prstGeom prst="rect">
            <a:avLst/>
          </a:prstGeom>
          <a:noFill/>
          <a:ln/>
        </p:spPr>
        <p:txBody>
          <a:bodyPr wrap="square" lIns="0" tIns="0" rIns="0" bIns="0" rtlCol="0" anchor="ctr"/>
          <a:lstStyle/>
          <a:p>
            <a:pPr indent="0" marL="0">
              <a:buNone/>
            </a:pPr>
            <a:r>
              <a:rPr lang="en-US" sz="2800" b="1" dirty="0">
                <a:solidFill>
                  <a:srgbClr val="17252C"/>
                </a:solidFill>
                <a:latin typeface="Cambria" pitchFamily="34" charset="0"/>
                <a:ea typeface="Cambria" pitchFamily="34" charset="-122"/>
                <a:cs typeface="Cambria" pitchFamily="34" charset="-120"/>
              </a:rPr>
              <a:t>Performance and accuracy requirements</a:t>
            </a:r>
            <a:endParaRPr lang="en-US" sz="2800" dirty="0"/>
          </a:p>
        </p:txBody>
      </p:sp>
      <p:sp>
        <p:nvSpPr>
          <p:cNvPr id="3" name="Text 1"/>
          <p:cNvSpPr txBox="1"/>
          <p:nvPr/>
        </p:nvSpPr>
        <p:spPr>
          <a:xfrm>
            <a:off x="502920" y="868680"/>
            <a:ext cx="11185855" cy="411480"/>
          </a:xfrm>
          <a:prstGeom prst="rect">
            <a:avLst/>
          </a:prstGeom>
          <a:noFill/>
          <a:ln/>
        </p:spPr>
        <p:txBody>
          <a:bodyPr wrap="square" lIns="0" tIns="0" rIns="0" bIns="0" rtlCol="0" anchor="t"/>
          <a:lstStyle/>
          <a:p>
            <a:pPr indent="0" marL="0">
              <a:buNone/>
            </a:pPr>
            <a:r>
              <a:rPr lang="en-US" sz="1500" dirty="0">
                <a:solidFill>
                  <a:srgbClr val="1F6F78"/>
                </a:solidFill>
                <a:latin typeface="Calibri" pitchFamily="34" charset="0"/>
                <a:ea typeface="Calibri" pitchFamily="34" charset="-122"/>
                <a:cs typeface="Calibri" pitchFamily="34" charset="-120"/>
              </a:rPr>
              <a:t>Testable statements derived from the workload model; accuracy is strict because a misrouted ticket costs more than a slow one.</a:t>
            </a:r>
            <a:endParaRPr lang="en-US" sz="1500" dirty="0"/>
          </a:p>
        </p:txBody>
      </p:sp>
      <p:sp>
        <p:nvSpPr>
          <p:cNvPr id="4" name="Text 2"/>
          <p:cNvSpPr txBox="1"/>
          <p:nvPr/>
        </p:nvSpPr>
        <p:spPr>
          <a:xfrm>
            <a:off x="502920" y="6446520"/>
            <a:ext cx="10362895" cy="292608"/>
          </a:xfrm>
          <a:prstGeom prst="rect">
            <a:avLst/>
          </a:prstGeom>
          <a:noFill/>
          <a:ln/>
        </p:spPr>
        <p:txBody>
          <a:bodyPr wrap="square" lIns="0" tIns="0" rIns="0" bIns="0" rtlCol="0" anchor="ctr"/>
          <a:lstStyle/>
          <a:p>
            <a:pPr indent="0" marL="0">
              <a:buNone/>
            </a:pPr>
            <a:r>
              <a:rPr lang="en-US" sz="900" dirty="0">
                <a:solidFill>
                  <a:srgbClr val="5B6B73"/>
                </a:solidFill>
                <a:latin typeface="Calibri" pitchFamily="34" charset="0"/>
                <a:ea typeface="Calibri" pitchFamily="34" charset="-122"/>
                <a:cs typeface="Calibri" pitchFamily="34" charset="-120"/>
              </a:rPr>
              <a:t>Source: workload/requirements.md (Part 4). Load requirements are judged on the worst of the three runs; UNPARSEABLE counts as wrong.</a:t>
            </a:r>
            <a:endParaRPr lang="en-US" sz="9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02920" y="1417320"/>
          <a:ext cx="11185855" cy="914400"/>
        </p:xfrm>
        <a:graphic>
          <a:graphicData uri="http://schemas.openxmlformats.org/drawingml/2006/table">
            <a:tbl>
              <a:tblPr/>
              <a:tblGrid>
                <a:gridCol w="502920"/>
                <a:gridCol w="3063240"/>
                <a:gridCol w="3749040"/>
                <a:gridCol w="3867912"/>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ID</a:t>
                      </a:r>
                      <a:endParaRPr lang="en-US" sz="11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Requirement (metric, threshold, percentile)</a:t>
                      </a:r>
                      <a:endParaRPr lang="en-US" sz="11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Load condition</a:t>
                      </a:r>
                      <a:endParaRPr lang="en-US" sz="11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Why this number</a:t>
                      </a:r>
                      <a:endParaRPr lang="en-US" sz="11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r>
              <a:tr h="0">
                <a:tc>
                  <a:txBody>
                    <a:bodyPr/>
                    <a:lstStyle/>
                    <a:p>
                      <a:pPr algn="ctr" indent="0" marL="0">
                        <a:buNone/>
                      </a:pPr>
                      <a:r>
                        <a:rPr lang="en-US" sz="1050" b="1" dirty="0">
                          <a:solidFill>
                            <a:srgbClr val="17252C"/>
                          </a:solidFill>
                          <a:latin typeface="Calibri" pitchFamily="34" charset="0"/>
                          <a:ea typeface="Calibri" pitchFamily="34" charset="-122"/>
                          <a:cs typeface="Calibri" pitchFamily="34" charset="-120"/>
                        </a:rPr>
                        <a:t>R1</a:t>
                      </a:r>
                      <a:endParaRPr lang="en-US" sz="105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1050" dirty="0">
                          <a:solidFill>
                            <a:srgbClr val="17252C"/>
                          </a:solidFill>
                          <a:latin typeface="Calibri" pitchFamily="34" charset="0"/>
                          <a:ea typeface="Calibri" pitchFamily="34" charset="-122"/>
                          <a:cs typeface="Calibri" pitchFamily="34" charset="-120"/>
                        </a:rPr>
                        <a:t>POST /tickets end-to-end response time: ≤ 10 s at p95</a:t>
                      </a:r>
                      <a:endParaRPr lang="en-US" sz="105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1050" dirty="0">
                          <a:solidFill>
                            <a:srgbClr val="17252C"/>
                          </a:solidFill>
                          <a:latin typeface="Calibri" pitchFamily="34" charset="0"/>
                          <a:ea typeface="Calibri" pitchFamily="34" charset="-122"/>
                          <a:cs typeface="Calibri" pitchFamily="34" charset="-120"/>
                        </a:rPr>
                        <a:t>load_post_tickets: 1 req/min, 600 s, 3 runs, each candidate model</a:t>
                      </a:r>
                      <a:endParaRPr lang="en-US" sz="105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1050" dirty="0">
                          <a:solidFill>
                            <a:srgbClr val="17252C"/>
                          </a:solidFill>
                          <a:latin typeface="Calibri" pitchFamily="34" charset="0"/>
                          <a:ea typeface="Calibri" pitchFamily="34" charset="-122"/>
                          <a:cs typeface="Calibri" pitchFamily="34" charset="-120"/>
                        </a:rPr>
                        <a:t>An agent waiting at the screen should get a routing answer within 10 s; tested at 1/min, about 42× the modelled peak.</a:t>
                      </a:r>
                      <a:endParaRPr lang="en-US" sz="105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r>
              <a:tr h="0">
                <a:tc>
                  <a:txBody>
                    <a:bodyPr/>
                    <a:lstStyle/>
                    <a:p>
                      <a:pPr algn="ctr" indent="0" marL="0">
                        <a:buNone/>
                      </a:pPr>
                      <a:r>
                        <a:rPr lang="en-US" sz="1050" b="1" dirty="0">
                          <a:solidFill>
                            <a:srgbClr val="17252C"/>
                          </a:solidFill>
                          <a:latin typeface="Calibri" pitchFamily="34" charset="0"/>
                          <a:ea typeface="Calibri" pitchFamily="34" charset="-122"/>
                          <a:cs typeface="Calibri" pitchFamily="34" charset="-120"/>
                        </a:rPr>
                        <a:t>R2</a:t>
                      </a:r>
                      <a:endParaRPr lang="en-US" sz="105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1050" dirty="0">
                          <a:solidFill>
                            <a:srgbClr val="17252C"/>
                          </a:solidFill>
                          <a:latin typeface="Calibri" pitchFamily="34" charset="0"/>
                          <a:ea typeface="Calibri" pitchFamily="34" charset="-122"/>
                          <a:cs typeface="Calibri" pitchFamily="34" charset="-120"/>
                        </a:rPr>
                        <a:t>Errors and backlog at sustained load: ≥ 95% of tickets sent are classified successfully (≤ 5% errors), and each run finishes within 660 s (no backlog)</a:t>
                      </a:r>
                      <a:endParaRPr lang="en-US" sz="105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1050" dirty="0">
                          <a:solidFill>
                            <a:srgbClr val="17252C"/>
                          </a:solidFill>
                          <a:latin typeface="Calibri" pitchFamily="34" charset="0"/>
                          <a:ea typeface="Calibri" pitchFamily="34" charset="-122"/>
                          <a:cs typeface="Calibri" pitchFamily="34" charset="-120"/>
                        </a:rPr>
                        <a:t>load_post_tickets: 12 req/min (720 tickets/hour offered), 600 s, 3 runs, each candidate model</a:t>
                      </a:r>
                      <a:endParaRPr lang="en-US" sz="105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1050" dirty="0">
                          <a:solidFill>
                            <a:srgbClr val="17252C"/>
                          </a:solidFill>
                          <a:latin typeface="Calibri" pitchFamily="34" charset="0"/>
                          <a:ea typeface="Calibri" pitchFamily="34" charset="-122"/>
                          <a:cs typeface="Calibri" pitchFamily="34" charset="-120"/>
                        </a:rPr>
                        <a:t>12/min = 720 tickets/hour, about 500× the modelled peak: the service must clear what arrives, finishing within 60 s of the last arrival.</a:t>
                      </a:r>
                      <a:endParaRPr lang="en-US" sz="105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r>
              <a:tr h="0">
                <a:tc>
                  <a:txBody>
                    <a:bodyPr/>
                    <a:lstStyle/>
                    <a:p>
                      <a:pPr algn="ctr" indent="0" marL="0">
                        <a:buNone/>
                      </a:pPr>
                      <a:r>
                        <a:rPr lang="en-US" sz="1050" b="1" dirty="0">
                          <a:solidFill>
                            <a:srgbClr val="17252C"/>
                          </a:solidFill>
                          <a:latin typeface="Calibri" pitchFamily="34" charset="0"/>
                          <a:ea typeface="Calibri" pitchFamily="34" charset="-122"/>
                          <a:cs typeface="Calibri" pitchFamily="34" charset="-120"/>
                        </a:rPr>
                        <a:t>R3</a:t>
                      </a:r>
                      <a:endParaRPr lang="en-US" sz="105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1050" dirty="0">
                          <a:solidFill>
                            <a:srgbClr val="17252C"/>
                          </a:solidFill>
                          <a:latin typeface="Calibri" pitchFamily="34" charset="0"/>
                          <a:ea typeface="Calibri" pitchFamily="34" charset="-122"/>
                          <a:cs typeface="Calibri" pitchFamily="34" charset="-120"/>
                        </a:rPr>
                        <a:t>Overall classification accuracy on the golden set: ≥ 90%</a:t>
                      </a:r>
                      <a:endParaRPr lang="en-US" sz="105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1050" dirty="0">
                          <a:solidFill>
                            <a:srgbClr val="17252C"/>
                          </a:solidFill>
                          <a:latin typeface="Calibri" pitchFamily="34" charset="0"/>
                          <a:ea typeface="Calibri" pitchFamily="34" charset="-122"/>
                          <a:cs typeface="Calibri" pitchFamily="34" charset="-120"/>
                        </a:rPr>
                        <a:t>POST /tickets; golden set measured serially, not under load, each candidate model.</a:t>
                      </a:r>
                      <a:endParaRPr lang="en-US" sz="105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1050" dirty="0">
                          <a:solidFill>
                            <a:srgbClr val="17252C"/>
                          </a:solidFill>
                          <a:latin typeface="Calibri" pitchFamily="34" charset="0"/>
                          <a:ea typeface="Calibri" pitchFamily="34" charset="-122"/>
                          <a:cs typeface="Calibri" pitchFamily="34" charset="-120"/>
                        </a:rPr>
                        <a:t>At about 1,500 tickets a year, 90% means at most about 150 misrouted tickets a year, each handled twice.</a:t>
                      </a:r>
                      <a:endParaRPr lang="en-US" sz="105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r>
              <a:tr h="0">
                <a:tc>
                  <a:txBody>
                    <a:bodyPr/>
                    <a:lstStyle/>
                    <a:p>
                      <a:pPr algn="ctr" indent="0" marL="0">
                        <a:buNone/>
                      </a:pPr>
                      <a:r>
                        <a:rPr lang="en-US" sz="1050" b="1" dirty="0">
                          <a:solidFill>
                            <a:srgbClr val="17252C"/>
                          </a:solidFill>
                          <a:latin typeface="Calibri" pitchFamily="34" charset="0"/>
                          <a:ea typeface="Calibri" pitchFamily="34" charset="-122"/>
                          <a:cs typeface="Calibri" pitchFamily="34" charset="-120"/>
                        </a:rPr>
                        <a:t>R4</a:t>
                      </a:r>
                      <a:endParaRPr lang="en-US" sz="105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1050" dirty="0">
                          <a:solidFill>
                            <a:srgbClr val="17252C"/>
                          </a:solidFill>
                          <a:latin typeface="Calibri" pitchFamily="34" charset="0"/>
                          <a:ea typeface="Calibri" pitchFamily="34" charset="-122"/>
                          <a:cs typeface="Calibri" pitchFamily="34" charset="-120"/>
                        </a:rPr>
                        <a:t>Per-category classification accuracy on the golden set: ≥ 80% for every category</a:t>
                      </a:r>
                      <a:endParaRPr lang="en-US" sz="105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1050" dirty="0">
                          <a:solidFill>
                            <a:srgbClr val="17252C"/>
                          </a:solidFill>
                          <a:latin typeface="Calibri" pitchFamily="34" charset="0"/>
                          <a:ea typeface="Calibri" pitchFamily="34" charset="-122"/>
                          <a:cs typeface="Calibri" pitchFamily="34" charset="-120"/>
                        </a:rPr>
                        <a:t>POST /tickets; golden set measured serially, not under load, each candidate model.</a:t>
                      </a:r>
                      <a:endParaRPr lang="en-US" sz="105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1050" dirty="0">
                          <a:solidFill>
                            <a:srgbClr val="17252C"/>
                          </a:solidFill>
                          <a:latin typeface="Calibri" pitchFamily="34" charset="0"/>
                          <a:ea typeface="Calibri" pitchFamily="34" charset="-122"/>
                          <a:cs typeface="Calibri" pitchFamily="34" charset="-120"/>
                        </a:rPr>
                        <a:t>Stops a strong overall figure hiding a failing category; one floor because the client ranks no category above another.</a:t>
                      </a:r>
                      <a:endParaRPr lang="en-US" sz="105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r>
              <a:tr h="0">
                <a:tc>
                  <a:txBody>
                    <a:bodyPr/>
                    <a:lstStyle/>
                    <a:p>
                      <a:pPr algn="ctr" indent="0" marL="0">
                        <a:buNone/>
                      </a:pPr>
                      <a:r>
                        <a:rPr lang="en-US" sz="1050" b="1" dirty="0">
                          <a:solidFill>
                            <a:srgbClr val="17252C"/>
                          </a:solidFill>
                          <a:latin typeface="Calibri" pitchFamily="34" charset="0"/>
                          <a:ea typeface="Calibri" pitchFamily="34" charset="-122"/>
                          <a:cs typeface="Calibri" pitchFamily="34" charset="-120"/>
                        </a:rPr>
                        <a:t>R5</a:t>
                      </a:r>
                      <a:endParaRPr lang="en-US" sz="105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1050" dirty="0">
                          <a:solidFill>
                            <a:srgbClr val="17252C"/>
                          </a:solidFill>
                          <a:latin typeface="Calibri" pitchFamily="34" charset="0"/>
                          <a:ea typeface="Calibri" pitchFamily="34" charset="-122"/>
                          <a:cs typeface="Calibri" pitchFamily="34" charset="-120"/>
                        </a:rPr>
                        <a:t>GET /search response time under mixed load: ≤ 2 s at p95</a:t>
                      </a:r>
                      <a:endParaRPr lang="en-US" sz="105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1050" dirty="0">
                          <a:solidFill>
                            <a:srgbClr val="17252C"/>
                          </a:solidFill>
                          <a:latin typeface="Calibri" pitchFamily="34" charset="0"/>
                          <a:ea typeface="Calibri" pitchFamily="34" charset="-122"/>
                          <a:cs typeface="Calibri" pitchFamily="34" charset="-120"/>
                        </a:rPr>
                        <a:t>mixed_load: 1 ticket req/min + 1 search req/min, 600 s, 3 runs, each candidate model; store starts empty and grows to about 10 tickets</a:t>
                      </a:r>
                      <a:endParaRPr lang="en-US" sz="105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1050" dirty="0">
                          <a:solidFill>
                            <a:srgbClr val="17252C"/>
                          </a:solidFill>
                          <a:latin typeface="Calibri" pitchFamily="34" charset="0"/>
                          <a:ea typeface="Calibri" pitchFamily="34" charset="-122"/>
                          <a:cs typeface="Calibri" pitchFamily="34" charset="-120"/>
                        </a:rPr>
                        <a:t>Agents search while classification runs; with about 10 stored tickets this tests contention with Ollama, not scan cost.</a:t>
                      </a:r>
                      <a:endParaRPr lang="en-US" sz="105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r>
            </a:tbl>
          </a:graphicData>
        </a:graphic>
      </p:graphicFrame>
      <p:sp>
        <p:nvSpPr>
          <p:cNvPr id="6" name="Shape 3"/>
          <p:cNvSpPr/>
          <p:nvPr/>
        </p:nvSpPr>
        <p:spPr>
          <a:xfrm>
            <a:off x="502920" y="5257800"/>
            <a:ext cx="11185855" cy="868680"/>
          </a:xfrm>
          <a:prstGeom prst="roundRect">
            <a:avLst>
              <a:gd name="adj" fmla="val 8421"/>
            </a:avLst>
          </a:prstGeom>
          <a:solidFill>
            <a:srgbClr val="0E2A33"/>
          </a:solidFill>
          <a:ln w="12700">
            <a:solidFill>
              <a:srgbClr val="0E2A33"/>
            </a:solidFill>
            <a:prstDash val="solid"/>
          </a:ln>
        </p:spPr>
      </p:sp>
      <p:sp>
        <p:nvSpPr>
          <p:cNvPr id="7" name="Text 4"/>
          <p:cNvSpPr txBox="1"/>
          <p:nvPr/>
        </p:nvSpPr>
        <p:spPr>
          <a:xfrm>
            <a:off x="640080" y="5303520"/>
            <a:ext cx="10911535" cy="777240"/>
          </a:xfrm>
          <a:prstGeom prst="rect">
            <a:avLst/>
          </a:prstGeom>
          <a:noFill/>
          <a:ln/>
        </p:spPr>
        <p:txBody>
          <a:bodyPr wrap="square" lIns="762" tIns="762" rIns="762" bIns="762" rtlCol="0" anchor="ctr"/>
          <a:lstStyle/>
          <a:p>
            <a:pPr algn="l" indent="0" marL="0">
              <a:lnSpc>
                <a:spcPct val="100000"/>
              </a:lnSpc>
              <a:buNone/>
            </a:pPr>
            <a:r>
              <a:rPr lang="en-US" sz="1300" b="1" dirty="0">
                <a:solidFill>
                  <a:srgbClr val="E39B2D"/>
                </a:solidFill>
                <a:latin typeface="Calibri" pitchFamily="34" charset="0"/>
                <a:ea typeface="Calibri" pitchFamily="34" charset="-122"/>
                <a:cs typeface="Calibri" pitchFamily="34" charset="-120"/>
              </a:rPr>
              <a:t>Position: </a:t>
            </a:r>
            <a:pPr algn="l" indent="0" marL="0">
              <a:lnSpc>
                <a:spcPct val="100000"/>
              </a:lnSpc>
              <a:buNone/>
            </a:pPr>
            <a:r>
              <a:rPr lang="en-US" sz="1300" dirty="0">
                <a:solidFill>
                  <a:srgbClr val="FFFFFF"/>
                </a:solidFill>
                <a:latin typeface="Calibri" pitchFamily="34" charset="0"/>
                <a:ea typeface="Calibri" pitchFamily="34" charset="-122"/>
                <a:cs typeface="Calibri" pitchFamily="34" charset="-120"/>
              </a:rPr>
              <a:t>a misrouted ticket costs the client more than a slow triage. </a:t>
            </a:r>
            <a:pPr algn="l" indent="0" marL="0">
              <a:lnSpc>
                <a:spcPct val="100000"/>
              </a:lnSpc>
              <a:buNone/>
            </a:pPr>
            <a:r>
              <a:rPr lang="en-US" sz="1300" dirty="0">
                <a:solidFill>
                  <a:srgbClr val="9FB7BE"/>
                </a:solidFill>
                <a:latin typeface="Calibri" pitchFamily="34" charset="0"/>
                <a:ea typeface="Calibri" pitchFamily="34" charset="-122"/>
                <a:cs typeface="Calibri" pitchFamily="34" charset="-120"/>
              </a:rPr>
              <a:t>If no candidate meets everything, concede R5 first, then R2, then R1; R3 and R4 last.</a:t>
            </a:r>
            <a:endParaRPr lang="en-US" sz="1300" dirty="0"/>
          </a:p>
        </p:txBody>
      </p:sp>
      <p:sp>
        <p:nvSpPr>
          <p:cNvPr id="25" name="Slide Number Placeholder 0"/>
          <p:cNvSpPr>
            <a:spLocks noGrp="1"/>
          </p:cNvSpPr>
          <p:nvPr>
            <p:ph type="sldNum" sz="quarter" idx="4294967295"/>
          </p:nvPr>
        </p:nvSpPr>
        <p:spPr>
          <a:xfrm>
            <a:off x="11231575"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B7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02920" y="292608"/>
            <a:ext cx="11185855" cy="566928"/>
          </a:xfrm>
          <a:prstGeom prst="rect">
            <a:avLst/>
          </a:prstGeom>
          <a:noFill/>
          <a:ln/>
        </p:spPr>
        <p:txBody>
          <a:bodyPr wrap="square" lIns="0" tIns="0" rIns="0" bIns="0" rtlCol="0" anchor="ctr"/>
          <a:lstStyle/>
          <a:p>
            <a:pPr indent="0" marL="0">
              <a:buNone/>
            </a:pPr>
            <a:r>
              <a:rPr lang="en-US" sz="2800" b="1" dirty="0">
                <a:solidFill>
                  <a:srgbClr val="17252C"/>
                </a:solidFill>
                <a:latin typeface="Cambria" pitchFamily="34" charset="0"/>
                <a:ea typeface="Cambria" pitchFamily="34" charset="-122"/>
                <a:cs typeface="Cambria" pitchFamily="34" charset="-120"/>
              </a:rPr>
              <a:t>Candidate models</a:t>
            </a:r>
            <a:endParaRPr lang="en-US" sz="2800" dirty="0"/>
          </a:p>
        </p:txBody>
      </p:sp>
      <p:sp>
        <p:nvSpPr>
          <p:cNvPr id="3" name="Text 1"/>
          <p:cNvSpPr txBox="1"/>
          <p:nvPr/>
        </p:nvSpPr>
        <p:spPr>
          <a:xfrm>
            <a:off x="502920" y="868680"/>
            <a:ext cx="11185855" cy="411480"/>
          </a:xfrm>
          <a:prstGeom prst="rect">
            <a:avLst/>
          </a:prstGeom>
          <a:noFill/>
          <a:ln/>
        </p:spPr>
        <p:txBody>
          <a:bodyPr wrap="square" lIns="0" tIns="0" rIns="0" bIns="0" rtlCol="0" anchor="t"/>
          <a:lstStyle/>
          <a:p>
            <a:pPr indent="0" marL="0">
              <a:buNone/>
            </a:pPr>
            <a:r>
              <a:rPr lang="en-US" sz="1500" dirty="0">
                <a:solidFill>
                  <a:srgbClr val="1F6F78"/>
                </a:solidFill>
                <a:latin typeface="Calibri" pitchFamily="34" charset="0"/>
                <a:ea typeface="Calibri" pitchFamily="34" charset="-122"/>
                <a:cs typeface="Calibri" pitchFamily="34" charset="-120"/>
              </a:rPr>
              <a:t>Four CPU-feasible models across three size classes make the speed-versus-accuracy trade-off visible; each is pinned by tag and digest.</a:t>
            </a:r>
            <a:endParaRPr lang="en-US" sz="1500" dirty="0"/>
          </a:p>
        </p:txBody>
      </p:sp>
      <p:sp>
        <p:nvSpPr>
          <p:cNvPr id="4" name="Text 2"/>
          <p:cNvSpPr txBox="1"/>
          <p:nvPr/>
        </p:nvSpPr>
        <p:spPr>
          <a:xfrm>
            <a:off x="502920" y="6446520"/>
            <a:ext cx="10362895" cy="292608"/>
          </a:xfrm>
          <a:prstGeom prst="rect">
            <a:avLst/>
          </a:prstGeom>
          <a:noFill/>
          <a:ln/>
        </p:spPr>
        <p:txBody>
          <a:bodyPr wrap="square" lIns="0" tIns="0" rIns="0" bIns="0" rtlCol="0" anchor="ctr"/>
          <a:lstStyle/>
          <a:p>
            <a:pPr indent="0" marL="0">
              <a:buNone/>
            </a:pPr>
            <a:r>
              <a:rPr lang="en-US" sz="900" dirty="0">
                <a:solidFill>
                  <a:srgbClr val="5B6B73"/>
                </a:solidFill>
                <a:latin typeface="Calibri" pitchFamily="34" charset="0"/>
                <a:ea typeface="Calibri" pitchFamily="34" charset="-122"/>
                <a:cs typeface="Calibri" pitchFamily="34" charset="-120"/>
              </a:rPr>
              <a:t>Source: models/models.yaml (digests written by scripts/pull_and_pin_models.sh), models/candidates.md; licences in [references]</a:t>
            </a:r>
            <a:endParaRPr lang="en-US" sz="9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02920" y="1417320"/>
          <a:ext cx="7726680" cy="914400"/>
        </p:xfrm>
        <a:graphic>
          <a:graphicData uri="http://schemas.openxmlformats.org/drawingml/2006/table">
            <a:tbl>
              <a:tblPr/>
              <a:tblGrid>
                <a:gridCol w="1051560"/>
                <a:gridCol w="1325880"/>
                <a:gridCol w="868680"/>
                <a:gridCol w="914400"/>
                <a:gridCol w="777240"/>
                <a:gridCol w="1143000"/>
                <a:gridCol w="1645920"/>
              </a:tblGrid>
              <a:tr h="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Ollama tag</a:t>
                      </a:r>
                      <a:endParaRPr lang="en-US" sz="105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Digest (sha256, first 12)</a:t>
                      </a:r>
                      <a:endParaRPr lang="en-US" sz="105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Parameters</a:t>
                      </a:r>
                      <a:endParaRPr lang="en-US" sz="105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Quantisation</a:t>
                      </a:r>
                      <a:endParaRPr lang="en-US" sz="105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Size class</a:t>
                      </a:r>
                      <a:endParaRPr lang="en-US" sz="105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Licence</a:t>
                      </a:r>
                      <a:endParaRPr lang="en-US" sz="105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In the set to test</a:t>
                      </a:r>
                      <a:endParaRPr lang="en-US" sz="105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r>
              <a:tr h="0">
                <a:tc>
                  <a:txBody>
                    <a:bodyPr/>
                    <a:lstStyle/>
                    <a:p>
                      <a:pPr algn="l" indent="0" marL="0">
                        <a:buNone/>
                      </a:pPr>
                      <a:r>
                        <a:rPr lang="en-US" sz="1000" b="1" dirty="0">
                          <a:solidFill>
                            <a:srgbClr val="17252C"/>
                          </a:solidFill>
                          <a:latin typeface="Calibri" pitchFamily="34" charset="0"/>
                          <a:ea typeface="Calibri" pitchFamily="34" charset="-122"/>
                          <a:cs typeface="Calibri" pitchFamily="34" charset="-120"/>
                        </a:rPr>
                        <a:t>llama3.2:1b-instruct-q4_K_M</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7252C"/>
                          </a:solidFill>
                          <a:latin typeface="Calibri" pitchFamily="34" charset="0"/>
                          <a:ea typeface="Calibri" pitchFamily="34" charset="-122"/>
                          <a:cs typeface="Calibri" pitchFamily="34" charset="-120"/>
                        </a:rPr>
                        <a:t>22bc6b92eb01</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1.24B</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Q4_K_M</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sub-2B</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Llama 3.2 Community License (custom)</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Floor: how cheap can we go before instruction-following breaks?</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17252C"/>
                          </a:solidFill>
                          <a:latin typeface="Calibri" pitchFamily="34" charset="0"/>
                          <a:ea typeface="Calibri" pitchFamily="34" charset="-122"/>
                          <a:cs typeface="Calibri" pitchFamily="34" charset="-120"/>
                        </a:rPr>
                        <a:t>llama3.2:3b</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l" indent="0" marL="0">
                        <a:buNone/>
                      </a:pPr>
                      <a:r>
                        <a:rPr lang="en-US" sz="1000" dirty="0">
                          <a:solidFill>
                            <a:srgbClr val="17252C"/>
                          </a:solidFill>
                          <a:latin typeface="Calibri" pitchFamily="34" charset="0"/>
                          <a:ea typeface="Calibri" pitchFamily="34" charset="-122"/>
                          <a:cs typeface="Calibri" pitchFamily="34" charset="-120"/>
                        </a:rPr>
                        <a:t>a80c4f17acd5</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3.21B</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Q4_K_M</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3-4B</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Llama 3.2 Community License (custom)</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Same family one size up: isolates the effect of size.</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r>
              <a:tr h="0">
                <a:tc>
                  <a:txBody>
                    <a:bodyPr/>
                    <a:lstStyle/>
                    <a:p>
                      <a:pPr algn="l" indent="0" marL="0">
                        <a:buNone/>
                      </a:pPr>
                      <a:r>
                        <a:rPr lang="en-US" sz="1000" b="1" dirty="0">
                          <a:solidFill>
                            <a:srgbClr val="17252C"/>
                          </a:solidFill>
                          <a:latin typeface="Calibri" pitchFamily="34" charset="0"/>
                          <a:ea typeface="Calibri" pitchFamily="34" charset="-122"/>
                          <a:cs typeface="Calibri" pitchFamily="34" charset="-120"/>
                        </a:rPr>
                        <a:t>granite4:3b</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7252C"/>
                          </a:solidFill>
                          <a:latin typeface="Calibri" pitchFamily="34" charset="0"/>
                          <a:ea typeface="Calibri" pitchFamily="34" charset="-122"/>
                          <a:cs typeface="Calibri" pitchFamily="34" charset="-120"/>
                        </a:rPr>
                        <a:t>89962fcc7523</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3.4B</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Q4_K_M</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3-4B</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Apache License 2.0</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Same size, Apache-2.0: does a licence-clean model cost accuracy?</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17252C"/>
                          </a:solidFill>
                          <a:latin typeface="Calibri" pitchFamily="34" charset="0"/>
                          <a:ea typeface="Calibri" pitchFamily="34" charset="-122"/>
                          <a:cs typeface="Calibri" pitchFamily="34" charset="-120"/>
                        </a:rPr>
                        <a:t>qwen2.5:7b</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l" indent="0" marL="0">
                        <a:buNone/>
                      </a:pPr>
                      <a:r>
                        <a:rPr lang="en-US" sz="1000" dirty="0">
                          <a:solidFill>
                            <a:srgbClr val="17252C"/>
                          </a:solidFill>
                          <a:latin typeface="Calibri" pitchFamily="34" charset="0"/>
                          <a:ea typeface="Calibri" pitchFamily="34" charset="-122"/>
                          <a:cs typeface="Calibri" pitchFamily="34" charset="-120"/>
                        </a:rPr>
                        <a:t>845dbda0ea48</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7.62B</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Q4_K_M</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7-8B</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Apache License 2.0</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Ceiling: largest honestly CPU-servable model; in the set to be slow.</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r>
            </a:tbl>
          </a:graphicData>
        </a:graphic>
      </p:graphicFrame>
      <p:graphicFrame>
        <p:nvGraphicFramePr>
          <p:cNvPr id="6" name="Chart 0" descr=""/>
          <p:cNvGraphicFramePr/>
          <p:nvPr/>
        </p:nvGraphicFramePr>
        <p:xfrm>
          <a:off x="8412480" y="1371600"/>
          <a:ext cx="3291840" cy="2834640"/>
        </p:xfrm>
        <a:graphic xmlns:a="http://schemas.openxmlformats.org/drawingml/2006/main">
          <a:graphicData uri="http://schemas.openxmlformats.org/drawingml/2006/chart">
            <c:chart xmlns:c="http://schemas.openxmlformats.org/drawingml/2006/chart" r:id="rId1"/>
          </a:graphicData>
        </a:graphic>
      </p:graphicFrame>
      <p:sp>
        <p:nvSpPr>
          <p:cNvPr id="7" name="Shape 3"/>
          <p:cNvSpPr/>
          <p:nvPr/>
        </p:nvSpPr>
        <p:spPr>
          <a:xfrm>
            <a:off x="502920" y="4480560"/>
            <a:ext cx="7726680" cy="1645920"/>
          </a:xfrm>
          <a:prstGeom prst="roundRect">
            <a:avLst>
              <a:gd name="adj" fmla="val 4444"/>
            </a:avLst>
          </a:prstGeom>
          <a:solidFill>
            <a:srgbClr val="EEF3F4"/>
          </a:solidFill>
          <a:ln w="12700">
            <a:solidFill>
              <a:srgbClr val="EEF3F4"/>
            </a:solidFill>
            <a:prstDash val="solid"/>
          </a:ln>
        </p:spPr>
      </p:sp>
      <p:sp>
        <p:nvSpPr>
          <p:cNvPr id="8" name="Text 4"/>
          <p:cNvSpPr txBox="1"/>
          <p:nvPr/>
        </p:nvSpPr>
        <p:spPr>
          <a:xfrm>
            <a:off x="594360" y="4526280"/>
            <a:ext cx="7543800" cy="1554480"/>
          </a:xfrm>
          <a:prstGeom prst="rect">
            <a:avLst/>
          </a:prstGeom>
          <a:noFill/>
          <a:ln/>
        </p:spPr>
        <p:txBody>
          <a:bodyPr wrap="square" lIns="762" tIns="762" rIns="762" bIns="762" rtlCol="0" anchor="t"/>
          <a:lstStyle/>
          <a:p>
            <a:pPr algn="l" indent="0" marL="0">
              <a:lnSpc>
                <a:spcPct val="100000"/>
              </a:lnSpc>
              <a:spcAft>
                <a:spcPts val="400"/>
              </a:spcAft>
              <a:buNone/>
            </a:pPr>
            <a:r>
              <a:rPr lang="en-US" sz="1100" b="1" dirty="0">
                <a:solidFill>
                  <a:srgbClr val="1F6F78"/>
                </a:solidFill>
                <a:latin typeface="Calibri" pitchFamily="34" charset="0"/>
                <a:ea typeface="Calibri" pitchFamily="34" charset="-122"/>
                <a:cs typeface="Calibri" pitchFamily="34" charset="-120"/>
              </a:rPr>
              <a:t>Notes for the reader</a:t>
            </a:r>
            <a:endParaRPr lang="en-US" sz="1100" dirty="0"/>
          </a:p>
          <a:p>
            <a:pPr algn="l" marL="342900" indent="-342900">
              <a:lnSpc>
                <a:spcPct val="100000"/>
              </a:lnSpc>
              <a:spcAft>
                <a:spcPts val="400"/>
              </a:spcAft>
              <a:buSzPct val="100000"/>
              <a:buChar char="•"/>
            </a:pPr>
            <a:r>
              <a:rPr lang="en-US" sz="1100" dirty="0">
                <a:solidFill>
                  <a:srgbClr val="17252C"/>
                </a:solidFill>
                <a:latin typeface="Calibri" pitchFamily="34" charset="0"/>
                <a:ea typeface="Calibri" pitchFamily="34" charset="-122"/>
                <a:cs typeface="Calibri" pitchFamily="34" charset="-120"/>
              </a:rPr>
              <a:t>All four at Q4_K_M: we pinned llama3.2:1b-instruct-q4_K_M rather than the bare llama3.2:1b tag (Ollama ships that at Q8_0), so the Llama 1B-versus-3B pair varies size alone.</a:t>
            </a:r>
            <a:endParaRPr lang="en-US" sz="1100" dirty="0"/>
          </a:p>
          <a:p>
            <a:pPr algn="l" marL="342900" indent="-342900">
              <a:lnSpc>
                <a:spcPct val="100000"/>
              </a:lnSpc>
              <a:spcAft>
                <a:spcPts val="400"/>
              </a:spcAft>
              <a:buSzPct val="100000"/>
              <a:buChar char="•"/>
            </a:pPr>
            <a:r>
              <a:rPr lang="en-US" sz="1100" dirty="0">
                <a:solidFill>
                  <a:srgbClr val="17252C"/>
                </a:solidFill>
                <a:latin typeface="Calibri" pitchFamily="34" charset="0"/>
                <a:ea typeface="Calibri" pitchFamily="34" charset="-122"/>
                <a:cs typeface="Calibri" pitchFamily="34" charset="-120"/>
              </a:rPr>
              <a:t>Rejected on purpose: qwen2.5:3b (Qwen Research licence, non-commercial), Qwen3 (thinking mode floods a one-word reply), Gemma (pass-through use terms), anything above 8B (not CPU-servable).</a:t>
            </a:r>
            <a:endParaRPr lang="en-US" sz="1100" dirty="0"/>
          </a:p>
        </p:txBody>
      </p:sp>
      <p:sp>
        <p:nvSpPr>
          <p:cNvPr id="9" name="Shape 5"/>
          <p:cNvSpPr/>
          <p:nvPr/>
        </p:nvSpPr>
        <p:spPr>
          <a:xfrm>
            <a:off x="8412480" y="4480560"/>
            <a:ext cx="3273552" cy="1645920"/>
          </a:xfrm>
          <a:prstGeom prst="roundRect">
            <a:avLst>
              <a:gd name="adj" fmla="val 4444"/>
            </a:avLst>
          </a:prstGeom>
          <a:solidFill>
            <a:srgbClr val="0E2A33"/>
          </a:solidFill>
          <a:ln w="12700">
            <a:solidFill>
              <a:srgbClr val="0E2A33"/>
            </a:solidFill>
            <a:prstDash val="solid"/>
          </a:ln>
        </p:spPr>
      </p:sp>
      <p:sp>
        <p:nvSpPr>
          <p:cNvPr id="10" name="Text 6"/>
          <p:cNvSpPr txBox="1"/>
          <p:nvPr/>
        </p:nvSpPr>
        <p:spPr>
          <a:xfrm>
            <a:off x="8503920" y="4526280"/>
            <a:ext cx="3108960" cy="1554480"/>
          </a:xfrm>
          <a:prstGeom prst="rect">
            <a:avLst/>
          </a:prstGeom>
          <a:noFill/>
          <a:ln/>
        </p:spPr>
        <p:txBody>
          <a:bodyPr wrap="square" lIns="762" tIns="762" rIns="762" bIns="762" rtlCol="0" anchor="t"/>
          <a:lstStyle/>
          <a:p>
            <a:pPr algn="l" indent="0" marL="0">
              <a:lnSpc>
                <a:spcPct val="100000"/>
              </a:lnSpc>
              <a:buNone/>
            </a:pPr>
            <a:r>
              <a:rPr lang="en-US" sz="1100" b="1" dirty="0">
                <a:solidFill>
                  <a:srgbClr val="E39B2D"/>
                </a:solidFill>
                <a:latin typeface="Calibri" pitchFamily="34" charset="0"/>
                <a:ea typeface="Calibri" pitchFamily="34" charset="-122"/>
                <a:cs typeface="Calibri" pitchFamily="34" charset="-120"/>
              </a:rPr>
              <a:t>CPU only, one model at a time</a:t>
            </a:r>
            <a:endParaRPr lang="en-US" sz="1100" dirty="0"/>
          </a:p>
          <a:p>
            <a:pPr algn="l" indent="0" marL="0">
              <a:lnSpc>
                <a:spcPct val="100000"/>
              </a:lnSpc>
              <a:buNone/>
            </a:pPr>
            <a:r>
              <a:rPr lang="en-US" sz="1100" dirty="0">
                <a:solidFill>
                  <a:srgbClr val="FFFFFF"/>
                </a:solidFill>
                <a:latin typeface="Calibri" pitchFamily="34" charset="0"/>
                <a:ea typeface="Calibri" pitchFamily="34" charset="-122"/>
                <a:cs typeface="Calibri" pitchFamily="34" charset="-120"/>
              </a:rPr>
              <a:t>Served by Ollama 0.34.3 in Docker with no GPU device. The same tag and digest are recorded in every run's metadata.json.</a:t>
            </a:r>
            <a:endParaRPr lang="en-US" sz="1100" dirty="0"/>
          </a:p>
        </p:txBody>
      </p:sp>
      <p:sp>
        <p:nvSpPr>
          <p:cNvPr id="25" name="Slide Number Placeholder 0"/>
          <p:cNvSpPr>
            <a:spLocks noGrp="1"/>
          </p:cNvSpPr>
          <p:nvPr>
            <p:ph type="sldNum" sz="quarter" idx="4294967295"/>
          </p:nvPr>
        </p:nvSpPr>
        <p:spPr>
          <a:xfrm>
            <a:off x="11231575"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B7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02920" y="292608"/>
            <a:ext cx="11185855" cy="566928"/>
          </a:xfrm>
          <a:prstGeom prst="rect">
            <a:avLst/>
          </a:prstGeom>
          <a:noFill/>
          <a:ln/>
        </p:spPr>
        <p:txBody>
          <a:bodyPr wrap="square" lIns="0" tIns="0" rIns="0" bIns="0" rtlCol="0" anchor="ctr"/>
          <a:lstStyle/>
          <a:p>
            <a:pPr indent="0" marL="0">
              <a:buNone/>
            </a:pPr>
            <a:r>
              <a:rPr lang="en-US" sz="2800" b="1" dirty="0">
                <a:solidFill>
                  <a:srgbClr val="17252C"/>
                </a:solidFill>
                <a:latin typeface="Cambria" pitchFamily="34" charset="0"/>
                <a:ea typeface="Cambria" pitchFamily="34" charset="-122"/>
                <a:cs typeface="Cambria" pitchFamily="34" charset="-120"/>
              </a:rPr>
              <a:t>Golden test set</a:t>
            </a:r>
            <a:endParaRPr lang="en-US" sz="2800" dirty="0"/>
          </a:p>
        </p:txBody>
      </p:sp>
      <p:sp>
        <p:nvSpPr>
          <p:cNvPr id="3" name="Text 1"/>
          <p:cNvSpPr txBox="1"/>
          <p:nvPr/>
        </p:nvSpPr>
        <p:spPr>
          <a:xfrm>
            <a:off x="502920" y="868680"/>
            <a:ext cx="11185855" cy="411480"/>
          </a:xfrm>
          <a:prstGeom prst="rect">
            <a:avLst/>
          </a:prstGeom>
          <a:noFill/>
          <a:ln/>
        </p:spPr>
        <p:txBody>
          <a:bodyPr wrap="square" lIns="0" tIns="0" rIns="0" bIns="0" rtlCol="0" anchor="t"/>
          <a:lstStyle/>
          <a:p>
            <a:pPr indent="0" marL="0">
              <a:buNone/>
            </a:pPr>
            <a:r>
              <a:rPr lang="en-US" sz="1500" dirty="0">
                <a:solidFill>
                  <a:srgbClr val="1F6F78"/>
                </a:solidFill>
                <a:latin typeface="Calibri" pitchFamily="34" charset="0"/>
                <a:ea typeface="Calibri" pitchFamily="34" charset="-122"/>
                <a:cs typeface="Calibri" pitchFamily="34" charset="-120"/>
              </a:rPr>
              <a:t>200 tickets labelled independently by two people, every disagreement resolved by discussion, frozen before the first benchmark.</a:t>
            </a:r>
            <a:endParaRPr lang="en-US" sz="1500" dirty="0"/>
          </a:p>
        </p:txBody>
      </p:sp>
      <p:sp>
        <p:nvSpPr>
          <p:cNvPr id="4" name="Text 2"/>
          <p:cNvSpPr txBox="1"/>
          <p:nvPr/>
        </p:nvSpPr>
        <p:spPr>
          <a:xfrm>
            <a:off x="502920" y="6446520"/>
            <a:ext cx="10362895" cy="292608"/>
          </a:xfrm>
          <a:prstGeom prst="rect">
            <a:avLst/>
          </a:prstGeom>
          <a:noFill/>
          <a:ln/>
        </p:spPr>
        <p:txBody>
          <a:bodyPr wrap="square" lIns="0" tIns="0" rIns="0" bIns="0" rtlCol="0" anchor="ctr"/>
          <a:lstStyle/>
          <a:p>
            <a:pPr indent="0" marL="0">
              <a:buNone/>
            </a:pPr>
            <a:r>
              <a:rPr lang="en-US" sz="900" dirty="0">
                <a:solidFill>
                  <a:srgbClr val="5B6B73"/>
                </a:solidFill>
                <a:latin typeface="Calibri" pitchFamily="34" charset="0"/>
                <a:ea typeface="Calibri" pitchFamily="34" charset="-122"/>
                <a:cs typeface="Calibri" pitchFamily="34" charset="-120"/>
              </a:rPr>
              <a:t>Source: labelling/protocol.md (revision log), labeller_A.csv, labeller_B.csv, agreement_report.txt, resolutions.md/.csv; golden/golden_set.csv; freeze: git tag golden-freeze</a:t>
            </a:r>
            <a:endParaRPr lang="en-US" sz="900" dirty="0"/>
          </a:p>
        </p:txBody>
      </p:sp>
      <p:sp>
        <p:nvSpPr>
          <p:cNvPr id="5" name="Shape 3"/>
          <p:cNvSpPr/>
          <p:nvPr/>
        </p:nvSpPr>
        <p:spPr>
          <a:xfrm>
            <a:off x="502920" y="1417320"/>
            <a:ext cx="2377440" cy="1417320"/>
          </a:xfrm>
          <a:prstGeom prst="roundRect">
            <a:avLst>
              <a:gd name="adj" fmla="val 5161"/>
            </a:avLst>
          </a:prstGeom>
          <a:solidFill>
            <a:srgbClr val="EEF3F4"/>
          </a:solidFill>
          <a:ln w="12700">
            <a:solidFill>
              <a:srgbClr val="EEF3F4"/>
            </a:solidFill>
            <a:prstDash val="solid"/>
          </a:ln>
        </p:spPr>
      </p:sp>
      <p:sp>
        <p:nvSpPr>
          <p:cNvPr id="6" name="Text 4"/>
          <p:cNvSpPr txBox="1"/>
          <p:nvPr/>
        </p:nvSpPr>
        <p:spPr>
          <a:xfrm>
            <a:off x="612648" y="1463040"/>
            <a:ext cx="2194560" cy="548640"/>
          </a:xfrm>
          <a:prstGeom prst="rect">
            <a:avLst/>
          </a:prstGeom>
          <a:noFill/>
          <a:ln/>
        </p:spPr>
        <p:txBody>
          <a:bodyPr wrap="square" lIns="0" tIns="0" rIns="0" bIns="0" rtlCol="0" anchor="t"/>
          <a:lstStyle/>
          <a:p>
            <a:pPr algn="l" indent="0" marL="0">
              <a:lnSpc>
                <a:spcPct val="100000"/>
              </a:lnSpc>
              <a:buNone/>
            </a:pPr>
            <a:r>
              <a:rPr lang="en-US" sz="2600" b="1" dirty="0">
                <a:solidFill>
                  <a:srgbClr val="0E2A33"/>
                </a:solidFill>
                <a:latin typeface="Cambria" pitchFamily="34" charset="0"/>
                <a:ea typeface="Cambria" pitchFamily="34" charset="-122"/>
                <a:cs typeface="Cambria" pitchFamily="34" charset="-120"/>
              </a:rPr>
              <a:t>200</a:t>
            </a:r>
            <a:endParaRPr lang="en-US" sz="2600" dirty="0"/>
          </a:p>
        </p:txBody>
      </p:sp>
      <p:sp>
        <p:nvSpPr>
          <p:cNvPr id="7" name="Text 5"/>
          <p:cNvSpPr txBox="1"/>
          <p:nvPr/>
        </p:nvSpPr>
        <p:spPr>
          <a:xfrm>
            <a:off x="612648" y="1984248"/>
            <a:ext cx="2194560" cy="274320"/>
          </a:xfrm>
          <a:prstGeom prst="rect">
            <a:avLst/>
          </a:prstGeom>
          <a:noFill/>
          <a:ln/>
        </p:spPr>
        <p:txBody>
          <a:bodyPr wrap="square" lIns="0" tIns="0" rIns="0" bIns="0" rtlCol="0" anchor="t"/>
          <a:lstStyle/>
          <a:p>
            <a:pPr algn="l" indent="0" marL="0">
              <a:lnSpc>
                <a:spcPct val="100000"/>
              </a:lnSpc>
              <a:buNone/>
            </a:pPr>
            <a:r>
              <a:rPr lang="en-US" sz="1100" b="1" dirty="0">
                <a:solidFill>
                  <a:srgbClr val="1F6F78"/>
                </a:solidFill>
                <a:latin typeface="Calibri" pitchFamily="34" charset="0"/>
                <a:ea typeface="Calibri" pitchFamily="34" charset="-122"/>
                <a:cs typeface="Calibri" pitchFamily="34" charset="-120"/>
              </a:rPr>
              <a:t>tickets</a:t>
            </a:r>
            <a:endParaRPr lang="en-US" sz="1100" dirty="0"/>
          </a:p>
        </p:txBody>
      </p:sp>
      <p:sp>
        <p:nvSpPr>
          <p:cNvPr id="8" name="Text 6"/>
          <p:cNvSpPr txBox="1"/>
          <p:nvPr/>
        </p:nvSpPr>
        <p:spPr>
          <a:xfrm>
            <a:off x="612648" y="2240280"/>
            <a:ext cx="2194560" cy="548640"/>
          </a:xfrm>
          <a:prstGeom prst="rect">
            <a:avLst/>
          </a:prstGeom>
          <a:noFill/>
          <a:ln/>
        </p:spPr>
        <p:txBody>
          <a:bodyPr wrap="square" lIns="0" tIns="0" rIns="0" bIns="0" rtlCol="0" anchor="t"/>
          <a:lstStyle/>
          <a:p>
            <a:pPr algn="l" indent="0" marL="0">
              <a:lnSpc>
                <a:spcPct val="100000"/>
              </a:lnSpc>
              <a:buNone/>
            </a:pPr>
            <a:r>
              <a:rPr lang="en-US" sz="1000" dirty="0">
                <a:solidFill>
                  <a:srgbClr val="17252C"/>
                </a:solidFill>
                <a:latin typeface="Calibri" pitchFamily="34" charset="0"/>
                <a:ea typeface="Calibri" pitchFamily="34" charset="-122"/>
                <a:cs typeface="Calibri" pitchFamily="34" charset="-120"/>
              </a:rPr>
              <a:t>random sample of team rows 10000–10999 (seed 3113); 19–41 per category</a:t>
            </a:r>
            <a:endParaRPr lang="en-US" sz="1000" dirty="0"/>
          </a:p>
        </p:txBody>
      </p:sp>
      <p:sp>
        <p:nvSpPr>
          <p:cNvPr id="9" name="Shape 7"/>
          <p:cNvSpPr/>
          <p:nvPr/>
        </p:nvSpPr>
        <p:spPr>
          <a:xfrm>
            <a:off x="3017520" y="1417320"/>
            <a:ext cx="2377440" cy="1417320"/>
          </a:xfrm>
          <a:prstGeom prst="roundRect">
            <a:avLst>
              <a:gd name="adj" fmla="val 5161"/>
            </a:avLst>
          </a:prstGeom>
          <a:solidFill>
            <a:srgbClr val="EEF3F4"/>
          </a:solidFill>
          <a:ln w="12700">
            <a:solidFill>
              <a:srgbClr val="EEF3F4"/>
            </a:solidFill>
            <a:prstDash val="solid"/>
          </a:ln>
        </p:spPr>
      </p:sp>
      <p:sp>
        <p:nvSpPr>
          <p:cNvPr id="10" name="Text 8"/>
          <p:cNvSpPr txBox="1"/>
          <p:nvPr/>
        </p:nvSpPr>
        <p:spPr>
          <a:xfrm>
            <a:off x="3127248" y="1463040"/>
            <a:ext cx="2194560" cy="548640"/>
          </a:xfrm>
          <a:prstGeom prst="rect">
            <a:avLst/>
          </a:prstGeom>
          <a:noFill/>
          <a:ln/>
        </p:spPr>
        <p:txBody>
          <a:bodyPr wrap="square" lIns="0" tIns="0" rIns="0" bIns="0" rtlCol="0" anchor="t"/>
          <a:lstStyle/>
          <a:p>
            <a:pPr algn="l" indent="0" marL="0">
              <a:lnSpc>
                <a:spcPct val="100000"/>
              </a:lnSpc>
              <a:buNone/>
            </a:pPr>
            <a:r>
              <a:rPr lang="en-US" sz="2600" b="1" dirty="0">
                <a:solidFill>
                  <a:srgbClr val="0E2A33"/>
                </a:solidFill>
                <a:latin typeface="Cambria" pitchFamily="34" charset="0"/>
                <a:ea typeface="Cambria" pitchFamily="34" charset="-122"/>
                <a:cs typeface="Cambria" pitchFamily="34" charset="-120"/>
              </a:rPr>
              <a:t>κ = 0.599</a:t>
            </a:r>
            <a:endParaRPr lang="en-US" sz="2600" dirty="0"/>
          </a:p>
        </p:txBody>
      </p:sp>
      <p:sp>
        <p:nvSpPr>
          <p:cNvPr id="11" name="Text 9"/>
          <p:cNvSpPr txBox="1"/>
          <p:nvPr/>
        </p:nvSpPr>
        <p:spPr>
          <a:xfrm>
            <a:off x="3127248" y="1984248"/>
            <a:ext cx="2194560" cy="274320"/>
          </a:xfrm>
          <a:prstGeom prst="rect">
            <a:avLst/>
          </a:prstGeom>
          <a:noFill/>
          <a:ln/>
        </p:spPr>
        <p:txBody>
          <a:bodyPr wrap="square" lIns="0" tIns="0" rIns="0" bIns="0" rtlCol="0" anchor="t"/>
          <a:lstStyle/>
          <a:p>
            <a:pPr algn="l" indent="0" marL="0">
              <a:lnSpc>
                <a:spcPct val="100000"/>
              </a:lnSpc>
              <a:buNone/>
            </a:pPr>
            <a:r>
              <a:rPr lang="en-US" sz="1100" b="1" dirty="0">
                <a:solidFill>
                  <a:srgbClr val="1F6F78"/>
                </a:solidFill>
                <a:latin typeface="Calibri" pitchFamily="34" charset="0"/>
                <a:ea typeface="Calibri" pitchFamily="34" charset="-122"/>
                <a:cs typeface="Calibri" pitchFamily="34" charset="-120"/>
              </a:rPr>
              <a:t>Cohen's kappa (moderate)</a:t>
            </a:r>
            <a:endParaRPr lang="en-US" sz="1100" dirty="0"/>
          </a:p>
        </p:txBody>
      </p:sp>
      <p:sp>
        <p:nvSpPr>
          <p:cNvPr id="12" name="Text 10"/>
          <p:cNvSpPr txBox="1"/>
          <p:nvPr/>
        </p:nvSpPr>
        <p:spPr>
          <a:xfrm>
            <a:off x="3127248" y="2240280"/>
            <a:ext cx="2194560" cy="548640"/>
          </a:xfrm>
          <a:prstGeom prst="rect">
            <a:avLst/>
          </a:prstGeom>
          <a:noFill/>
          <a:ln/>
        </p:spPr>
        <p:txBody>
          <a:bodyPr wrap="square" lIns="0" tIns="0" rIns="0" bIns="0" rtlCol="0" anchor="t"/>
          <a:lstStyle/>
          <a:p>
            <a:pPr algn="l" indent="0" marL="0">
              <a:lnSpc>
                <a:spcPct val="100000"/>
              </a:lnSpc>
              <a:buNone/>
            </a:pPr>
            <a:r>
              <a:rPr lang="en-US" sz="1000" dirty="0">
                <a:solidFill>
                  <a:srgbClr val="17252C"/>
                </a:solidFill>
                <a:latin typeface="Calibri" pitchFamily="34" charset="0"/>
                <a:ea typeface="Calibri" pitchFamily="34" charset="-122"/>
                <a:cs typeface="Calibri" pitchFamily="34" charset="-120"/>
              </a:rPr>
              <a:t>132 of 200 labels agreed (66%) before discussion</a:t>
            </a:r>
            <a:endParaRPr lang="en-US" sz="1000" dirty="0"/>
          </a:p>
        </p:txBody>
      </p:sp>
      <p:sp>
        <p:nvSpPr>
          <p:cNvPr id="13" name="Shape 11"/>
          <p:cNvSpPr/>
          <p:nvPr/>
        </p:nvSpPr>
        <p:spPr>
          <a:xfrm>
            <a:off x="5532120" y="1417320"/>
            <a:ext cx="2377440" cy="1417320"/>
          </a:xfrm>
          <a:prstGeom prst="roundRect">
            <a:avLst>
              <a:gd name="adj" fmla="val 5161"/>
            </a:avLst>
          </a:prstGeom>
          <a:solidFill>
            <a:srgbClr val="EEF3F4"/>
          </a:solidFill>
          <a:ln w="12700">
            <a:solidFill>
              <a:srgbClr val="EEF3F4"/>
            </a:solidFill>
            <a:prstDash val="solid"/>
          </a:ln>
        </p:spPr>
      </p:sp>
      <p:sp>
        <p:nvSpPr>
          <p:cNvPr id="14" name="Text 12"/>
          <p:cNvSpPr txBox="1"/>
          <p:nvPr/>
        </p:nvSpPr>
        <p:spPr>
          <a:xfrm>
            <a:off x="5641848" y="1463040"/>
            <a:ext cx="2194560" cy="548640"/>
          </a:xfrm>
          <a:prstGeom prst="rect">
            <a:avLst/>
          </a:prstGeom>
          <a:noFill/>
          <a:ln/>
        </p:spPr>
        <p:txBody>
          <a:bodyPr wrap="square" lIns="0" tIns="0" rIns="0" bIns="0" rtlCol="0" anchor="t"/>
          <a:lstStyle/>
          <a:p>
            <a:pPr algn="l" indent="0" marL="0">
              <a:lnSpc>
                <a:spcPct val="100000"/>
              </a:lnSpc>
              <a:buNone/>
            </a:pPr>
            <a:r>
              <a:rPr lang="en-US" sz="2600" b="1" dirty="0">
                <a:solidFill>
                  <a:srgbClr val="0E2A33"/>
                </a:solidFill>
                <a:latin typeface="Cambria" pitchFamily="34" charset="0"/>
                <a:ea typeface="Cambria" pitchFamily="34" charset="-122"/>
                <a:cs typeface="Cambria" pitchFamily="34" charset="-120"/>
              </a:rPr>
              <a:t>68</a:t>
            </a:r>
            <a:endParaRPr lang="en-US" sz="2600" dirty="0"/>
          </a:p>
        </p:txBody>
      </p:sp>
      <p:sp>
        <p:nvSpPr>
          <p:cNvPr id="15" name="Text 13"/>
          <p:cNvSpPr txBox="1"/>
          <p:nvPr/>
        </p:nvSpPr>
        <p:spPr>
          <a:xfrm>
            <a:off x="5641848" y="1984248"/>
            <a:ext cx="2194560" cy="274320"/>
          </a:xfrm>
          <a:prstGeom prst="rect">
            <a:avLst/>
          </a:prstGeom>
          <a:noFill/>
          <a:ln/>
        </p:spPr>
        <p:txBody>
          <a:bodyPr wrap="square" lIns="0" tIns="0" rIns="0" bIns="0" rtlCol="0" anchor="t"/>
          <a:lstStyle/>
          <a:p>
            <a:pPr algn="l" indent="0" marL="0">
              <a:lnSpc>
                <a:spcPct val="100000"/>
              </a:lnSpc>
              <a:buNone/>
            </a:pPr>
            <a:r>
              <a:rPr lang="en-US" sz="1100" b="1" dirty="0">
                <a:solidFill>
                  <a:srgbClr val="1F6F78"/>
                </a:solidFill>
                <a:latin typeface="Calibri" pitchFamily="34" charset="0"/>
                <a:ea typeface="Calibri" pitchFamily="34" charset="-122"/>
                <a:cs typeface="Calibri" pitchFamily="34" charset="-120"/>
              </a:rPr>
              <a:t>disagreements, all resolved</a:t>
            </a:r>
            <a:endParaRPr lang="en-US" sz="1100" dirty="0"/>
          </a:p>
        </p:txBody>
      </p:sp>
      <p:sp>
        <p:nvSpPr>
          <p:cNvPr id="16" name="Text 14"/>
          <p:cNvSpPr txBox="1"/>
          <p:nvPr/>
        </p:nvSpPr>
        <p:spPr>
          <a:xfrm>
            <a:off x="5641848" y="2240280"/>
            <a:ext cx="2194560" cy="548640"/>
          </a:xfrm>
          <a:prstGeom prst="rect">
            <a:avLst/>
          </a:prstGeom>
          <a:noFill/>
          <a:ln/>
        </p:spPr>
        <p:txBody>
          <a:bodyPr wrap="square" lIns="0" tIns="0" rIns="0" bIns="0" rtlCol="0" anchor="t"/>
          <a:lstStyle/>
          <a:p>
            <a:pPr algn="l" indent="0" marL="0">
              <a:lnSpc>
                <a:spcPct val="100000"/>
              </a:lnSpc>
              <a:buNone/>
            </a:pPr>
            <a:r>
              <a:rPr lang="en-US" sz="1000" dirty="0">
                <a:solidFill>
                  <a:srgbClr val="17252C"/>
                </a:solidFill>
                <a:latin typeface="Calibri" pitchFamily="34" charset="0"/>
                <a:ea typeface="Calibri" pitchFamily="34" charset="-122"/>
                <a:cs typeface="Calibri" pitchFamily="34" charset="-120"/>
              </a:rPr>
              <a:t>68 recorded resolutions; 6 rule revisions (R1–R6)</a:t>
            </a:r>
            <a:endParaRPr lang="en-US" sz="1000" dirty="0"/>
          </a:p>
        </p:txBody>
      </p:sp>
      <p:graphicFrame>
        <p:nvGraphicFramePr>
          <p:cNvPr id="17" name="Chart 0" descr=""/>
          <p:cNvGraphicFramePr/>
          <p:nvPr/>
        </p:nvGraphicFramePr>
        <p:xfrm>
          <a:off x="8092440" y="1325880"/>
          <a:ext cx="3611880" cy="2514600"/>
        </p:xfrm>
        <a:graphic xmlns:a="http://schemas.openxmlformats.org/drawingml/2006/main">
          <a:graphicData uri="http://schemas.openxmlformats.org/drawingml/2006/chart">
            <c:chart xmlns:c="http://schemas.openxmlformats.org/drawingml/2006/chart" r:id="rId1"/>
          </a:graphicData>
        </a:graphic>
      </p:graphicFrame>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2971800"/>
          <a:ext cx="7452360" cy="914400"/>
        </p:xfrm>
        <a:graphic>
          <a:graphicData uri="http://schemas.openxmlformats.org/drawingml/2006/table">
            <a:tbl>
              <a:tblPr/>
              <a:tblGrid>
                <a:gridCol w="457200"/>
                <a:gridCol w="6400800"/>
                <a:gridCol w="594360"/>
              </a:tblGrid>
              <a:tr h="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Rev.</a:t>
                      </a:r>
                      <a:endParaRPr lang="en-US" sz="950" dirty="0">
                        <a:latin typeface="Calibri" charset="0"/>
                        <a:ea typeface="Calibri" charset="0"/>
                        <a:cs typeface="Calibri" charset="0"/>
                      </a:endParaRPr>
                    </a:p>
                  </a:txBody>
                  <a:tcPr marL="50800" marR="508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Protocol change (2 Oct)</a:t>
                      </a:r>
                      <a:endParaRPr lang="en-US" sz="950" dirty="0">
                        <a:latin typeface="Calibri" charset="0"/>
                        <a:ea typeface="Calibri" charset="0"/>
                        <a:cs typeface="Calibri" charset="0"/>
                      </a:endParaRPr>
                    </a:p>
                  </a:txBody>
                  <a:tcPr marL="50800" marR="508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Rows</a:t>
                      </a:r>
                      <a:endParaRPr lang="en-US" sz="950" dirty="0">
                        <a:latin typeface="Calibri" charset="0"/>
                        <a:ea typeface="Calibri" charset="0"/>
                        <a:cs typeface="Calibri" charset="0"/>
                      </a:endParaRPr>
                    </a:p>
                  </a:txBody>
                  <a:tcPr marL="50800" marR="508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r>
              <a:tr h="0">
                <a:tc>
                  <a:txBody>
                    <a:bodyPr/>
                    <a:lstStyle/>
                    <a:p>
                      <a:pPr algn="ctr" indent="0" marL="0">
                        <a:buNone/>
                      </a:pPr>
                      <a:r>
                        <a:rPr lang="en-US" sz="900" b="1" dirty="0">
                          <a:solidFill>
                            <a:srgbClr val="17252C"/>
                          </a:solidFill>
                          <a:latin typeface="Calibri" pitchFamily="34" charset="0"/>
                          <a:ea typeface="Calibri" pitchFamily="34" charset="-122"/>
                          <a:cs typeface="Calibri" pitchFamily="34" charset="-120"/>
                        </a:rPr>
                        <a:t>R0</a:t>
                      </a:r>
                      <a:endParaRPr lang="en-US" sz="900" dirty="0">
                        <a:latin typeface="Calibri" charset="0"/>
                        <a:ea typeface="Calibri" charset="0"/>
                        <a:cs typeface="Calibri" charset="0"/>
                      </a:endParaRPr>
                    </a:p>
                  </a:txBody>
                  <a:tcPr marL="50800" marR="508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900" dirty="0">
                          <a:solidFill>
                            <a:srgbClr val="17252C"/>
                          </a:solidFill>
                          <a:latin typeface="Calibri" pitchFamily="34" charset="0"/>
                          <a:ea typeface="Calibri" pitchFamily="34" charset="-122"/>
                          <a:cs typeface="Calibri" pitchFamily="34" charset="-120"/>
                        </a:rPr>
                        <a:t>Protocol text completed for the first time: confidence levels, the seven category definitions, E1 to E7, the procedure for uncovered cases and the…</a:t>
                      </a:r>
                      <a:endParaRPr lang="en-US" sz="900" dirty="0">
                        <a:latin typeface="Calibri" charset="0"/>
                        <a:ea typeface="Calibri" charset="0"/>
                        <a:cs typeface="Calibri" charset="0"/>
                      </a:endParaRPr>
                    </a:p>
                  </a:txBody>
                  <a:tcPr marL="50800" marR="508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7252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50800" marR="508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r>
              <a:tr h="0">
                <a:tc>
                  <a:txBody>
                    <a:bodyPr/>
                    <a:lstStyle/>
                    <a:p>
                      <a:pPr algn="ctr" indent="0" marL="0">
                        <a:buNone/>
                      </a:pPr>
                      <a:r>
                        <a:rPr lang="en-US" sz="900" b="1" dirty="0">
                          <a:solidFill>
                            <a:srgbClr val="17252C"/>
                          </a:solidFill>
                          <a:latin typeface="Calibri" pitchFamily="34" charset="0"/>
                          <a:ea typeface="Calibri" pitchFamily="34" charset="-122"/>
                          <a:cs typeface="Calibri" pitchFamily="34" charset="-120"/>
                        </a:rPr>
                        <a:t>R1</a:t>
                      </a:r>
                      <a:endParaRPr lang="en-US" sz="900" dirty="0">
                        <a:latin typeface="Calibri" charset="0"/>
                        <a:ea typeface="Calibri" charset="0"/>
                        <a:cs typeface="Calibri" charset="0"/>
                      </a:endParaRPr>
                    </a:p>
                  </a:txBody>
                  <a:tcPr marL="50800" marR="508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900" dirty="0">
                          <a:solidFill>
                            <a:srgbClr val="17252C"/>
                          </a:solidFill>
                          <a:latin typeface="Calibri" pitchFamily="34" charset="0"/>
                          <a:ea typeface="Calibri" pitchFamily="34" charset="-122"/>
                          <a:cs typeface="Calibri" pitchFamily="34" charset="-120"/>
                        </a:rPr>
                        <a:t>Mortgage definition: escrow handling, loan modification and loss mitigation, payment disputes and unauthorised account changes at a mortgage…</a:t>
                      </a:r>
                      <a:endParaRPr lang="en-US" sz="900" dirty="0">
                        <a:latin typeface="Calibri" charset="0"/>
                        <a:ea typeface="Calibri" charset="0"/>
                        <a:cs typeface="Calibri" charset="0"/>
                      </a:endParaRPr>
                    </a:p>
                  </a:txBody>
                  <a:tcPr marL="50800" marR="508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ctr" indent="0" marL="0">
                        <a:buNone/>
                      </a:pPr>
                      <a:r>
                        <a:rPr lang="en-US" sz="900" dirty="0">
                          <a:solidFill>
                            <a:srgbClr val="17252C"/>
                          </a:solidFill>
                          <a:latin typeface="Calibri" pitchFamily="34" charset="0"/>
                          <a:ea typeface="Calibri" pitchFamily="34" charset="-122"/>
                          <a:cs typeface="Calibri" pitchFamily="34" charset="-120"/>
                        </a:rPr>
                        <a:t>6</a:t>
                      </a:r>
                      <a:endParaRPr lang="en-US" sz="900" dirty="0">
                        <a:latin typeface="Calibri" charset="0"/>
                        <a:ea typeface="Calibri" charset="0"/>
                        <a:cs typeface="Calibri" charset="0"/>
                      </a:endParaRPr>
                    </a:p>
                  </a:txBody>
                  <a:tcPr marL="50800" marR="508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r>
              <a:tr h="0">
                <a:tc>
                  <a:txBody>
                    <a:bodyPr/>
                    <a:lstStyle/>
                    <a:p>
                      <a:pPr algn="ctr" indent="0" marL="0">
                        <a:buNone/>
                      </a:pPr>
                      <a:r>
                        <a:rPr lang="en-US" sz="900" b="1" dirty="0">
                          <a:solidFill>
                            <a:srgbClr val="17252C"/>
                          </a:solidFill>
                          <a:latin typeface="Calibri" pitchFamily="34" charset="0"/>
                          <a:ea typeface="Calibri" pitchFamily="34" charset="-122"/>
                          <a:cs typeface="Calibri" pitchFamily="34" charset="-120"/>
                        </a:rPr>
                        <a:t>R2</a:t>
                      </a:r>
                      <a:endParaRPr lang="en-US" sz="900" dirty="0">
                        <a:latin typeface="Calibri" charset="0"/>
                        <a:ea typeface="Calibri" charset="0"/>
                        <a:cs typeface="Calibri" charset="0"/>
                      </a:endParaRPr>
                    </a:p>
                  </a:txBody>
                  <a:tcPr marL="50800" marR="508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900" dirty="0">
                          <a:solidFill>
                            <a:srgbClr val="17252C"/>
                          </a:solidFill>
                          <a:latin typeface="Calibri" pitchFamily="34" charset="0"/>
                          <a:ea typeface="Calibri" pitchFamily="34" charset="-122"/>
                          <a:cs typeface="Calibri" pitchFamily="34" charset="-120"/>
                        </a:rPr>
                        <a:t>E7 and Debt collection definition: a collector's conduct (including collecting a settled debt, ignoring validation, or re-reporting after an…</a:t>
                      </a:r>
                      <a:endParaRPr lang="en-US" sz="900" dirty="0">
                        <a:latin typeface="Calibri" charset="0"/>
                        <a:ea typeface="Calibri" charset="0"/>
                        <a:cs typeface="Calibri" charset="0"/>
                      </a:endParaRPr>
                    </a:p>
                  </a:txBody>
                  <a:tcPr marL="50800" marR="508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7252C"/>
                          </a:solidFill>
                          <a:latin typeface="Calibri" pitchFamily="34" charset="0"/>
                          <a:ea typeface="Calibri" pitchFamily="34" charset="-122"/>
                          <a:cs typeface="Calibri" pitchFamily="34" charset="-120"/>
                        </a:rPr>
                        <a:t>7</a:t>
                      </a:r>
                      <a:endParaRPr lang="en-US" sz="900" dirty="0">
                        <a:latin typeface="Calibri" charset="0"/>
                        <a:ea typeface="Calibri" charset="0"/>
                        <a:cs typeface="Calibri" charset="0"/>
                      </a:endParaRPr>
                    </a:p>
                  </a:txBody>
                  <a:tcPr marL="50800" marR="508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r>
              <a:tr h="0">
                <a:tc>
                  <a:txBody>
                    <a:bodyPr/>
                    <a:lstStyle/>
                    <a:p>
                      <a:pPr algn="ctr" indent="0" marL="0">
                        <a:buNone/>
                      </a:pPr>
                      <a:r>
                        <a:rPr lang="en-US" sz="900" b="1" dirty="0">
                          <a:solidFill>
                            <a:srgbClr val="17252C"/>
                          </a:solidFill>
                          <a:latin typeface="Calibri" pitchFamily="34" charset="0"/>
                          <a:ea typeface="Calibri" pitchFamily="34" charset="-122"/>
                          <a:cs typeface="Calibri" pitchFamily="34" charset="-120"/>
                        </a:rPr>
                        <a:t>R3</a:t>
                      </a:r>
                      <a:endParaRPr lang="en-US" sz="900" dirty="0">
                        <a:latin typeface="Calibri" charset="0"/>
                        <a:ea typeface="Calibri" charset="0"/>
                        <a:cs typeface="Calibri" charset="0"/>
                      </a:endParaRPr>
                    </a:p>
                  </a:txBody>
                  <a:tcPr marL="50800" marR="508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900" dirty="0">
                          <a:solidFill>
                            <a:srgbClr val="17252C"/>
                          </a:solidFill>
                          <a:latin typeface="Calibri" pitchFamily="34" charset="0"/>
                          <a:ea typeface="Calibri" pitchFamily="34" charset="-122"/>
                          <a:cs typeface="Calibri" pitchFamily="34" charset="-120"/>
                        </a:rPr>
                        <a:t>E1 and Credit reporting definition: a complaint whose only remedy is a change to the credit file (FCRA boilerplate, unauthorised accounts or…</a:t>
                      </a:r>
                      <a:endParaRPr lang="en-US" sz="900" dirty="0">
                        <a:latin typeface="Calibri" charset="0"/>
                        <a:ea typeface="Calibri" charset="0"/>
                        <a:cs typeface="Calibri" charset="0"/>
                      </a:endParaRPr>
                    </a:p>
                  </a:txBody>
                  <a:tcPr marL="50800" marR="508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ctr" indent="0" marL="0">
                        <a:buNone/>
                      </a:pPr>
                      <a:r>
                        <a:rPr lang="en-US" sz="900" dirty="0">
                          <a:solidFill>
                            <a:srgbClr val="17252C"/>
                          </a:solidFill>
                          <a:latin typeface="Calibri" pitchFamily="34" charset="0"/>
                          <a:ea typeface="Calibri" pitchFamily="34" charset="-122"/>
                          <a:cs typeface="Calibri" pitchFamily="34" charset="-120"/>
                        </a:rPr>
                        <a:t>16</a:t>
                      </a:r>
                      <a:endParaRPr lang="en-US" sz="900" dirty="0">
                        <a:latin typeface="Calibri" charset="0"/>
                        <a:ea typeface="Calibri" charset="0"/>
                        <a:cs typeface="Calibri" charset="0"/>
                      </a:endParaRPr>
                    </a:p>
                  </a:txBody>
                  <a:tcPr marL="50800" marR="508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r>
              <a:tr h="0">
                <a:tc>
                  <a:txBody>
                    <a:bodyPr/>
                    <a:lstStyle/>
                    <a:p>
                      <a:pPr algn="ctr" indent="0" marL="0">
                        <a:buNone/>
                      </a:pPr>
                      <a:r>
                        <a:rPr lang="en-US" sz="900" b="1" dirty="0">
                          <a:solidFill>
                            <a:srgbClr val="17252C"/>
                          </a:solidFill>
                          <a:latin typeface="Calibri" pitchFamily="34" charset="0"/>
                          <a:ea typeface="Calibri" pitchFamily="34" charset="-122"/>
                          <a:cs typeface="Calibri" pitchFamily="34" charset="-120"/>
                        </a:rPr>
                        <a:t>R4</a:t>
                      </a:r>
                      <a:endParaRPr lang="en-US" sz="900" dirty="0">
                        <a:latin typeface="Calibri" charset="0"/>
                        <a:ea typeface="Calibri" charset="0"/>
                        <a:cs typeface="Calibri" charset="0"/>
                      </a:endParaRPr>
                    </a:p>
                  </a:txBody>
                  <a:tcPr marL="50800" marR="508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900" dirty="0">
                          <a:solidFill>
                            <a:srgbClr val="17252C"/>
                          </a:solidFill>
                          <a:latin typeface="Calibri" pitchFamily="34" charset="0"/>
                          <a:ea typeface="Calibri" pitchFamily="34" charset="-122"/>
                          <a:cs typeface="Calibri" pitchFamily="34" charset="-120"/>
                        </a:rPr>
                        <a:t>Credit card definition: prepaid and gift cards sold as cards, and PayPal Credit style accounts, are Credit card.</a:t>
                      </a:r>
                      <a:endParaRPr lang="en-US" sz="900" dirty="0">
                        <a:latin typeface="Calibri" charset="0"/>
                        <a:ea typeface="Calibri" charset="0"/>
                        <a:cs typeface="Calibri" charset="0"/>
                      </a:endParaRPr>
                    </a:p>
                  </a:txBody>
                  <a:tcPr marL="50800" marR="508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7252C"/>
                          </a:solidFill>
                          <a:latin typeface="Calibri" pitchFamily="34" charset="0"/>
                          <a:ea typeface="Calibri" pitchFamily="34" charset="-122"/>
                          <a:cs typeface="Calibri" pitchFamily="34" charset="-120"/>
                        </a:rPr>
                        <a:t>6</a:t>
                      </a:r>
                      <a:endParaRPr lang="en-US" sz="900" dirty="0">
                        <a:latin typeface="Calibri" charset="0"/>
                        <a:ea typeface="Calibri" charset="0"/>
                        <a:cs typeface="Calibri" charset="0"/>
                      </a:endParaRPr>
                    </a:p>
                  </a:txBody>
                  <a:tcPr marL="50800" marR="508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r>
              <a:tr h="0">
                <a:tc>
                  <a:txBody>
                    <a:bodyPr/>
                    <a:lstStyle/>
                    <a:p>
                      <a:pPr algn="ctr" indent="0" marL="0">
                        <a:buNone/>
                      </a:pPr>
                      <a:r>
                        <a:rPr lang="en-US" sz="900" b="1" dirty="0">
                          <a:solidFill>
                            <a:srgbClr val="17252C"/>
                          </a:solidFill>
                          <a:latin typeface="Calibri" pitchFamily="34" charset="0"/>
                          <a:ea typeface="Calibri" pitchFamily="34" charset="-122"/>
                          <a:cs typeface="Calibri" pitchFamily="34" charset="-120"/>
                        </a:rPr>
                        <a:t>R5</a:t>
                      </a:r>
                      <a:endParaRPr lang="en-US" sz="900" dirty="0">
                        <a:latin typeface="Calibri" charset="0"/>
                        <a:ea typeface="Calibri" charset="0"/>
                        <a:cs typeface="Calibri" charset="0"/>
                      </a:endParaRPr>
                    </a:p>
                  </a:txBody>
                  <a:tcPr marL="50800" marR="508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900" dirty="0">
                          <a:solidFill>
                            <a:srgbClr val="17252C"/>
                          </a:solidFill>
                          <a:latin typeface="Calibri" pitchFamily="34" charset="0"/>
                          <a:ea typeface="Calibri" pitchFamily="34" charset="-122"/>
                          <a:cs typeface="Calibri" pitchFamily="34" charset="-120"/>
                        </a:rPr>
                        <a:t>Consumer loan definition: student loan forgiveness, consolidation, deferment and repayment are Consumer loan, not Debt collection or Credit reporting.</a:t>
                      </a:r>
                      <a:endParaRPr lang="en-US" sz="900" dirty="0">
                        <a:latin typeface="Calibri" charset="0"/>
                        <a:ea typeface="Calibri" charset="0"/>
                        <a:cs typeface="Calibri" charset="0"/>
                      </a:endParaRPr>
                    </a:p>
                  </a:txBody>
                  <a:tcPr marL="50800" marR="508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ctr" indent="0" marL="0">
                        <a:buNone/>
                      </a:pPr>
                      <a:r>
                        <a:rPr lang="en-US" sz="900" dirty="0">
                          <a:solidFill>
                            <a:srgbClr val="17252C"/>
                          </a:solidFill>
                          <a:latin typeface="Calibri" pitchFamily="34" charset="0"/>
                          <a:ea typeface="Calibri" pitchFamily="34" charset="-122"/>
                          <a:cs typeface="Calibri" pitchFamily="34" charset="-120"/>
                        </a:rPr>
                        <a:t>4</a:t>
                      </a:r>
                      <a:endParaRPr lang="en-US" sz="900" dirty="0">
                        <a:latin typeface="Calibri" charset="0"/>
                        <a:ea typeface="Calibri" charset="0"/>
                        <a:cs typeface="Calibri" charset="0"/>
                      </a:endParaRPr>
                    </a:p>
                  </a:txBody>
                  <a:tcPr marL="50800" marR="508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r>
              <a:tr h="0">
                <a:tc>
                  <a:txBody>
                    <a:bodyPr/>
                    <a:lstStyle/>
                    <a:p>
                      <a:pPr algn="ctr" indent="0" marL="0">
                        <a:buNone/>
                      </a:pPr>
                      <a:r>
                        <a:rPr lang="en-US" sz="900" b="1" dirty="0">
                          <a:solidFill>
                            <a:srgbClr val="17252C"/>
                          </a:solidFill>
                          <a:latin typeface="Calibri" pitchFamily="34" charset="0"/>
                          <a:ea typeface="Calibri" pitchFamily="34" charset="-122"/>
                          <a:cs typeface="Calibri" pitchFamily="34" charset="-120"/>
                        </a:rPr>
                        <a:t>R6</a:t>
                      </a:r>
                      <a:endParaRPr lang="en-US" sz="900" dirty="0">
                        <a:latin typeface="Calibri" charset="0"/>
                        <a:ea typeface="Calibri" charset="0"/>
                        <a:cs typeface="Calibri" charset="0"/>
                      </a:endParaRPr>
                    </a:p>
                  </a:txBody>
                  <a:tcPr marL="50800" marR="508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900" dirty="0">
                          <a:solidFill>
                            <a:srgbClr val="17252C"/>
                          </a:solidFill>
                          <a:latin typeface="Calibri" pitchFamily="34" charset="0"/>
                          <a:ea typeface="Calibri" pitchFamily="34" charset="-122"/>
                          <a:cs typeface="Calibri" pitchFamily="34" charset="-120"/>
                        </a:rPr>
                        <a:t>Bank account and Money transfer definitions: account freezes, closures, and unauthorised transactions on a deposit account are Bank account or…</a:t>
                      </a:r>
                      <a:endParaRPr lang="en-US" sz="900" dirty="0">
                        <a:latin typeface="Calibri" charset="0"/>
                        <a:ea typeface="Calibri" charset="0"/>
                        <a:cs typeface="Calibri" charset="0"/>
                      </a:endParaRPr>
                    </a:p>
                  </a:txBody>
                  <a:tcPr marL="50800" marR="508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7252C"/>
                          </a:solidFill>
                          <a:latin typeface="Calibri" pitchFamily="34" charset="0"/>
                          <a:ea typeface="Calibri" pitchFamily="34" charset="-122"/>
                          <a:cs typeface="Calibri" pitchFamily="34" charset="-120"/>
                        </a:rPr>
                        <a:t>3</a:t>
                      </a:r>
                      <a:endParaRPr lang="en-US" sz="900" dirty="0">
                        <a:latin typeface="Calibri" charset="0"/>
                        <a:ea typeface="Calibri" charset="0"/>
                        <a:cs typeface="Calibri" charset="0"/>
                      </a:endParaRPr>
                    </a:p>
                  </a:txBody>
                  <a:tcPr marL="50800" marR="508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r>
            </a:tbl>
          </a:graphicData>
        </a:graphic>
      </p:graphicFrame>
      <p:sp>
        <p:nvSpPr>
          <p:cNvPr id="19" name="Shape 15"/>
          <p:cNvSpPr/>
          <p:nvPr/>
        </p:nvSpPr>
        <p:spPr>
          <a:xfrm>
            <a:off x="8092440" y="3931920"/>
            <a:ext cx="3611880" cy="1024128"/>
          </a:xfrm>
          <a:prstGeom prst="roundRect">
            <a:avLst>
              <a:gd name="adj" fmla="val 7143"/>
            </a:avLst>
          </a:prstGeom>
          <a:solidFill>
            <a:srgbClr val="FBEBD2"/>
          </a:solidFill>
          <a:ln w="12700">
            <a:solidFill>
              <a:srgbClr val="FBEBD2"/>
            </a:solidFill>
            <a:prstDash val="solid"/>
          </a:ln>
        </p:spPr>
      </p:sp>
      <p:sp>
        <p:nvSpPr>
          <p:cNvPr id="20" name="Text 16"/>
          <p:cNvSpPr txBox="1"/>
          <p:nvPr/>
        </p:nvSpPr>
        <p:spPr>
          <a:xfrm>
            <a:off x="8156448" y="3959352"/>
            <a:ext cx="3493008" cy="969264"/>
          </a:xfrm>
          <a:prstGeom prst="rect">
            <a:avLst/>
          </a:prstGeom>
          <a:noFill/>
          <a:ln/>
        </p:spPr>
        <p:txBody>
          <a:bodyPr wrap="square" lIns="762" tIns="762" rIns="762" bIns="762" rtlCol="0" anchor="t"/>
          <a:lstStyle/>
          <a:p>
            <a:pPr algn="l" indent="0" marL="0">
              <a:lnSpc>
                <a:spcPct val="100000"/>
              </a:lnSpc>
              <a:buNone/>
            </a:pPr>
            <a:r>
              <a:rPr lang="en-US" sz="950" b="1" dirty="0">
                <a:solidFill>
                  <a:srgbClr val="17252C"/>
                </a:solidFill>
                <a:latin typeface="Calibri" pitchFamily="34" charset="0"/>
                <a:ea typeface="Calibri" pitchFamily="34" charset="-122"/>
                <a:cs typeface="Calibri" pitchFamily="34" charset="-120"/>
              </a:rPr>
              <a:t>Row 10666: </a:t>
            </a:r>
            <a:pPr algn="l" indent="0" marL="0">
              <a:lnSpc>
                <a:spcPct val="100000"/>
              </a:lnSpc>
              <a:buNone/>
            </a:pPr>
            <a:r>
              <a:rPr lang="en-US" sz="950" dirty="0">
                <a:solidFill>
                  <a:srgbClr val="17252C"/>
                </a:solidFill>
                <a:latin typeface="Calibri" pitchFamily="34" charset="0"/>
                <a:ea typeface="Calibri" pitchFamily="34" charset="-122"/>
                <a:cs typeface="Calibri" pitchFamily="34" charset="-120"/>
              </a:rPr>
              <a:t>Debt collection vs Credit card → </a:t>
            </a:r>
            <a:pPr algn="l" indent="0" marL="0">
              <a:lnSpc>
                <a:spcPct val="100000"/>
              </a:lnSpc>
              <a:buNone/>
            </a:pPr>
            <a:r>
              <a:rPr lang="en-US" sz="950" b="1" dirty="0">
                <a:solidFill>
                  <a:srgbClr val="1F6F78"/>
                </a:solidFill>
                <a:latin typeface="Calibri" pitchFamily="34" charset="0"/>
                <a:ea typeface="Calibri" pitchFamily="34" charset="-122"/>
                <a:cs typeface="Calibri" pitchFamily="34" charset="-120"/>
              </a:rPr>
              <a:t>Debt collection</a:t>
            </a:r>
            <a:pPr algn="l" indent="0" marL="0">
              <a:lnSpc>
                <a:spcPct val="100000"/>
              </a:lnSpc>
              <a:buNone/>
            </a:pPr>
            <a:r>
              <a:rPr lang="en-US" sz="950" dirty="0">
                <a:solidFill>
                  <a:srgbClr val="5B6B73"/>
                </a:solidFill>
                <a:latin typeface="Calibri" pitchFamily="34" charset="0"/>
                <a:ea typeface="Calibri" pitchFamily="34" charset="-122"/>
                <a:cs typeface="Calibri" pitchFamily="34" charset="-120"/>
              </a:rPr>
              <a:t> (R2). </a:t>
            </a:r>
            <a:pPr algn="l" indent="0" marL="0">
              <a:lnSpc>
                <a:spcPct val="100000"/>
              </a:lnSpc>
              <a:buNone/>
            </a:pPr>
            <a:r>
              <a:rPr lang="en-US" sz="950" dirty="0">
                <a:solidFill>
                  <a:srgbClr val="17252C"/>
                </a:solidFill>
                <a:latin typeface="Calibri" pitchFamily="34" charset="0"/>
                <a:ea typeface="Calibri" pitchFamily="34" charset="-122"/>
                <a:cs typeface="Calibri" pitchFamily="34" charset="-120"/>
              </a:rPr>
              <a:t>Sunrise Credit Service is trying to collect a card debt the consumer already paid and settled, and is threatening to force repayment. The complaint is about the…</a:t>
            </a:r>
            <a:endParaRPr lang="en-US" sz="950" dirty="0"/>
          </a:p>
        </p:txBody>
      </p:sp>
      <p:sp>
        <p:nvSpPr>
          <p:cNvPr id="21" name="Shape 17"/>
          <p:cNvSpPr/>
          <p:nvPr/>
        </p:nvSpPr>
        <p:spPr>
          <a:xfrm>
            <a:off x="8092440" y="5047488"/>
            <a:ext cx="3611880" cy="1024128"/>
          </a:xfrm>
          <a:prstGeom prst="roundRect">
            <a:avLst>
              <a:gd name="adj" fmla="val 7143"/>
            </a:avLst>
          </a:prstGeom>
          <a:solidFill>
            <a:srgbClr val="D5E8EA"/>
          </a:solidFill>
          <a:ln w="12700">
            <a:solidFill>
              <a:srgbClr val="D5E8EA"/>
            </a:solidFill>
            <a:prstDash val="solid"/>
          </a:ln>
        </p:spPr>
      </p:sp>
      <p:sp>
        <p:nvSpPr>
          <p:cNvPr id="22" name="Text 18"/>
          <p:cNvSpPr txBox="1"/>
          <p:nvPr/>
        </p:nvSpPr>
        <p:spPr>
          <a:xfrm>
            <a:off x="8156448" y="5074920"/>
            <a:ext cx="3493008" cy="969264"/>
          </a:xfrm>
          <a:prstGeom prst="rect">
            <a:avLst/>
          </a:prstGeom>
          <a:noFill/>
          <a:ln/>
        </p:spPr>
        <p:txBody>
          <a:bodyPr wrap="square" lIns="762" tIns="762" rIns="762" bIns="762" rtlCol="0" anchor="t"/>
          <a:lstStyle/>
          <a:p>
            <a:pPr algn="l" indent="0" marL="0">
              <a:lnSpc>
                <a:spcPct val="100000"/>
              </a:lnSpc>
              <a:buNone/>
            </a:pPr>
            <a:r>
              <a:rPr lang="en-US" sz="950" b="1" dirty="0">
                <a:solidFill>
                  <a:srgbClr val="17252C"/>
                </a:solidFill>
                <a:latin typeface="Calibri" pitchFamily="34" charset="0"/>
                <a:ea typeface="Calibri" pitchFamily="34" charset="-122"/>
                <a:cs typeface="Calibri" pitchFamily="34" charset="-120"/>
              </a:rPr>
              <a:t>Row 10454: </a:t>
            </a:r>
            <a:pPr algn="l" indent="0" marL="0">
              <a:lnSpc>
                <a:spcPct val="100000"/>
              </a:lnSpc>
              <a:buNone/>
            </a:pPr>
            <a:r>
              <a:rPr lang="en-US" sz="950" dirty="0">
                <a:solidFill>
                  <a:srgbClr val="17252C"/>
                </a:solidFill>
                <a:latin typeface="Calibri" pitchFamily="34" charset="0"/>
                <a:ea typeface="Calibri" pitchFamily="34" charset="-122"/>
                <a:cs typeface="Calibri" pitchFamily="34" charset="-120"/>
              </a:rPr>
              <a:t>Mortgage vs Bank account → </a:t>
            </a:r>
            <a:pPr algn="l" indent="0" marL="0">
              <a:lnSpc>
                <a:spcPct val="100000"/>
              </a:lnSpc>
              <a:buNone/>
            </a:pPr>
            <a:r>
              <a:rPr lang="en-US" sz="950" b="1" dirty="0">
                <a:solidFill>
                  <a:srgbClr val="1F6F78"/>
                </a:solidFill>
                <a:latin typeface="Calibri" pitchFamily="34" charset="0"/>
                <a:ea typeface="Calibri" pitchFamily="34" charset="-122"/>
                <a:cs typeface="Calibri" pitchFamily="34" charset="-120"/>
              </a:rPr>
              <a:t>Mortgage</a:t>
            </a:r>
            <a:pPr algn="l" indent="0" marL="0">
              <a:lnSpc>
                <a:spcPct val="100000"/>
              </a:lnSpc>
              <a:buNone/>
            </a:pPr>
            <a:r>
              <a:rPr lang="en-US" sz="950" dirty="0">
                <a:solidFill>
                  <a:srgbClr val="5B6B73"/>
                </a:solidFill>
                <a:latin typeface="Calibri" pitchFamily="34" charset="0"/>
                <a:ea typeface="Calibri" pitchFamily="34" charset="-122"/>
                <a:cs typeface="Calibri" pitchFamily="34" charset="-120"/>
              </a:rPr>
              <a:t> (R1). </a:t>
            </a:r>
            <a:pPr algn="l" indent="0" marL="0">
              <a:lnSpc>
                <a:spcPct val="100000"/>
              </a:lnSpc>
              <a:buNone/>
            </a:pPr>
            <a:r>
              <a:rPr lang="en-US" sz="950" dirty="0">
                <a:solidFill>
                  <a:srgbClr val="17252C"/>
                </a:solidFill>
                <a:latin typeface="Calibri" pitchFamily="34" charset="0"/>
                <a:ea typeface="Calibri" pitchFamily="34" charset="-122"/>
                <a:cs typeface="Calibri" pitchFamily="34" charset="-120"/>
              </a:rPr>
              <a:t>Select Portfolio Servicing, the mortgage servicer, has repeatedly failed to manage the consumer's escrow account correctly. Escrow mismanagement by a mortgage servicer is…</a:t>
            </a:r>
            <a:endParaRPr lang="en-US" sz="950" dirty="0"/>
          </a:p>
        </p:txBody>
      </p:sp>
      <p:sp>
        <p:nvSpPr>
          <p:cNvPr id="23" name="Text 19"/>
          <p:cNvSpPr txBox="1"/>
          <p:nvPr/>
        </p:nvSpPr>
        <p:spPr>
          <a:xfrm>
            <a:off x="502920" y="6053328"/>
            <a:ext cx="7452360" cy="320040"/>
          </a:xfrm>
          <a:prstGeom prst="rect">
            <a:avLst/>
          </a:prstGeom>
          <a:noFill/>
          <a:ln/>
        </p:spPr>
        <p:txBody>
          <a:bodyPr wrap="square" lIns="0" tIns="0" rIns="0" bIns="0" rtlCol="0" anchor="t"/>
          <a:lstStyle/>
          <a:p>
            <a:pPr algn="l" indent="0" marL="0">
              <a:lnSpc>
                <a:spcPct val="100000"/>
              </a:lnSpc>
              <a:buNone/>
            </a:pPr>
            <a:r>
              <a:rPr lang="en-US" sz="900" i="1" dirty="0">
                <a:solidFill>
                  <a:srgbClr val="5B6B73"/>
                </a:solidFill>
                <a:latin typeface="Calibri" pitchFamily="34" charset="0"/>
                <a:ea typeface="Calibri" pitchFamily="34" charset="-122"/>
                <a:cs typeface="Calibri" pitchFamily="34" charset="-120"/>
              </a:rPr>
              <a:t>R0 is the first full write-up of the definitions and edge-case rules; it was completed after both sheets were labelled, from the resolutions, and is recorded as such.</a:t>
            </a:r>
            <a:endParaRPr lang="en-US" sz="900" dirty="0"/>
          </a:p>
        </p:txBody>
      </p:sp>
      <p:sp>
        <p:nvSpPr>
          <p:cNvPr id="25" name="Slide Number Placeholder 0"/>
          <p:cNvSpPr>
            <a:spLocks noGrp="1"/>
          </p:cNvSpPr>
          <p:nvPr>
            <p:ph type="sldNum" sz="quarter" idx="4294967295"/>
          </p:nvPr>
        </p:nvSpPr>
        <p:spPr>
          <a:xfrm>
            <a:off x="11231575"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B7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02920" y="292608"/>
            <a:ext cx="11185855" cy="566928"/>
          </a:xfrm>
          <a:prstGeom prst="rect">
            <a:avLst/>
          </a:prstGeom>
          <a:noFill/>
          <a:ln/>
        </p:spPr>
        <p:txBody>
          <a:bodyPr wrap="square" lIns="0" tIns="0" rIns="0" bIns="0" rtlCol="0" anchor="ctr"/>
          <a:lstStyle/>
          <a:p>
            <a:pPr indent="0" marL="0">
              <a:buNone/>
            </a:pPr>
            <a:r>
              <a:rPr lang="en-US" sz="2800" b="1" dirty="0">
                <a:solidFill>
                  <a:srgbClr val="17252C"/>
                </a:solidFill>
                <a:latin typeface="Cambria" pitchFamily="34" charset="0"/>
                <a:ea typeface="Cambria" pitchFamily="34" charset="-122"/>
                <a:cs typeface="Cambria" pitchFamily="34" charset="-120"/>
              </a:rPr>
              <a:t>Test environment</a:t>
            </a:r>
            <a:endParaRPr lang="en-US" sz="2800" dirty="0"/>
          </a:p>
        </p:txBody>
      </p:sp>
      <p:sp>
        <p:nvSpPr>
          <p:cNvPr id="3" name="Text 1"/>
          <p:cNvSpPr txBox="1"/>
          <p:nvPr/>
        </p:nvSpPr>
        <p:spPr>
          <a:xfrm>
            <a:off x="502920" y="868680"/>
            <a:ext cx="11185855" cy="411480"/>
          </a:xfrm>
          <a:prstGeom prst="rect">
            <a:avLst/>
          </a:prstGeom>
          <a:noFill/>
          <a:ln/>
        </p:spPr>
        <p:txBody>
          <a:bodyPr wrap="square" lIns="0" tIns="0" rIns="0" bIns="0" rtlCol="0" anchor="t"/>
          <a:lstStyle/>
          <a:p>
            <a:pPr indent="0" marL="0">
              <a:buNone/>
            </a:pPr>
            <a:r>
              <a:rPr lang="en-US" sz="1500" dirty="0">
                <a:solidFill>
                  <a:srgbClr val="1F6F78"/>
                </a:solidFill>
                <a:latin typeface="Calibri" pitchFamily="34" charset="0"/>
                <a:ea typeface="Calibri" pitchFamily="34" charset="-122"/>
                <a:cs typeface="Calibri" pitchFamily="34" charset="-120"/>
              </a:rPr>
              <a:t>Two physically separate machines: the service and Ollama on a CPU-only desktop, JMeter on a laptop.</a:t>
            </a:r>
            <a:endParaRPr lang="en-US" sz="1500" dirty="0"/>
          </a:p>
        </p:txBody>
      </p:sp>
      <p:sp>
        <p:nvSpPr>
          <p:cNvPr id="4" name="Text 2"/>
          <p:cNvSpPr txBox="1"/>
          <p:nvPr/>
        </p:nvSpPr>
        <p:spPr>
          <a:xfrm>
            <a:off x="502920" y="6446520"/>
            <a:ext cx="10362895" cy="292608"/>
          </a:xfrm>
          <a:prstGeom prst="rect">
            <a:avLst/>
          </a:prstGeom>
          <a:noFill/>
          <a:ln/>
        </p:spPr>
        <p:txBody>
          <a:bodyPr wrap="square" lIns="0" tIns="0" rIns="0" bIns="0" rtlCol="0" anchor="ctr"/>
          <a:lstStyle/>
          <a:p>
            <a:pPr indent="0" marL="0">
              <a:buNone/>
            </a:pPr>
            <a:r>
              <a:rPr lang="en-US" sz="900" dirty="0">
                <a:solidFill>
                  <a:srgbClr val="5B6B73"/>
                </a:solidFill>
                <a:latin typeface="Calibri" pitchFamily="34" charset="0"/>
                <a:ea typeface="Calibri" pitchFamily="34" charset="-122"/>
                <a:cs typeface="Calibri" pitchFamily="34" charset="-120"/>
              </a:rPr>
              <a:t>Source: docs/environment/*.txt (scripts/capture_env.sh), docs/environment/network.md, docs/test-environment.md; hostnames in every run's metadata.json</a:t>
            </a:r>
            <a:endParaRPr lang="en-US" sz="900" dirty="0"/>
          </a:p>
        </p:txBody>
      </p:sp>
      <p:sp>
        <p:nvSpPr>
          <p:cNvPr id="5" name="Shape 3"/>
          <p:cNvSpPr/>
          <p:nvPr/>
        </p:nvSpPr>
        <p:spPr>
          <a:xfrm>
            <a:off x="502920" y="1417320"/>
            <a:ext cx="3657600" cy="2880360"/>
          </a:xfrm>
          <a:prstGeom prst="roundRect">
            <a:avLst>
              <a:gd name="adj" fmla="val 2540"/>
            </a:avLst>
          </a:prstGeom>
          <a:solidFill>
            <a:srgbClr val="EEF3F4"/>
          </a:solidFill>
          <a:ln w="12700">
            <a:solidFill>
              <a:srgbClr val="EEF3F4"/>
            </a:solidFill>
            <a:prstDash val="solid"/>
          </a:ln>
        </p:spPr>
      </p:sp>
      <p:sp>
        <p:nvSpPr>
          <p:cNvPr id="6" name="Text 4"/>
          <p:cNvSpPr txBox="1"/>
          <p:nvPr/>
        </p:nvSpPr>
        <p:spPr>
          <a:xfrm>
            <a:off x="612648" y="1481328"/>
            <a:ext cx="3474720" cy="274320"/>
          </a:xfrm>
          <a:prstGeom prst="rect">
            <a:avLst/>
          </a:prstGeom>
          <a:noFill/>
          <a:ln/>
        </p:spPr>
        <p:txBody>
          <a:bodyPr wrap="square" lIns="762" tIns="762" rIns="762" bIns="762" rtlCol="0" anchor="t"/>
          <a:lstStyle/>
          <a:p>
            <a:pPr algn="l" indent="0" marL="0">
              <a:lnSpc>
                <a:spcPct val="100000"/>
              </a:lnSpc>
              <a:buNone/>
            </a:pPr>
            <a:r>
              <a:rPr lang="en-US" sz="1100" b="1" dirty="0">
                <a:solidFill>
                  <a:srgbClr val="1F6F78"/>
                </a:solidFill>
                <a:latin typeface="Calibri" pitchFamily="34" charset="0"/>
                <a:ea typeface="Calibri" pitchFamily="34" charset="-122"/>
                <a:cs typeface="Calibri" pitchFamily="34" charset="-120"/>
              </a:rPr>
              <a:t>SERVICE + OLLAMA HOST (system under test)</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94360" y="1783080"/>
          <a:ext cx="3474720" cy="914400"/>
        </p:xfrm>
        <a:graphic>
          <a:graphicData uri="http://schemas.openxmlformats.org/drawingml/2006/table">
            <a:tbl>
              <a:tblPr/>
              <a:tblGrid>
                <a:gridCol w="1005840"/>
                <a:gridCol w="2468880"/>
              </a:tblGrid>
              <a:tr h="0">
                <a:tc>
                  <a:txBody>
                    <a:bodyPr/>
                    <a:lstStyle/>
                    <a:p>
                      <a:pPr indent="0" marL="0">
                        <a:buNone/>
                      </a:pPr>
                      <a:r>
                        <a:rPr lang="en-US" sz="1000" b="1" dirty="0">
                          <a:solidFill>
                            <a:srgbClr val="5B6B73"/>
                          </a:solidFill>
                          <a:latin typeface="Calibri" pitchFamily="34" charset="0"/>
                          <a:ea typeface="Calibri" pitchFamily="34" charset="-122"/>
                          <a:cs typeface="Calibri" pitchFamily="34" charset="-120"/>
                        </a:rPr>
                        <a:t>Host</a:t>
                      </a:r>
                      <a:endParaRPr lang="en-US" sz="1000" dirty="0">
                        <a:latin typeface="Calibri" charset="0"/>
                        <a:ea typeface="Calibri" charset="0"/>
                        <a:cs typeface="Calibri" charset="0"/>
                      </a:endParaRPr>
                    </a:p>
                  </a:txBody>
                  <a:tcPr marL="38100" marR="38100" marT="25400" marB="25400">
                    <a:lnL w="0" cap="flat" cmpd="sng" algn="ctr">
                      <a:noFill/>
                    </a:lnL>
                    <a:lnR w="0" cap="flat" cmpd="sng" algn="ctr">
                      <a:noFill/>
                    </a:lnR>
                    <a:lnT w="0" cap="flat" cmpd="sng" algn="ctr">
                      <a:noFill/>
                    </a:lnT>
                    <a:lnB w="0" cap="flat" cmpd="sng" algn="ctr">
                      <a:noFill/>
                    </a:lnB>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omarchy</a:t>
                      </a:r>
                      <a:endParaRPr lang="en-US" sz="1000" dirty="0">
                        <a:latin typeface="Calibri" charset="0"/>
                        <a:ea typeface="Calibri" charset="0"/>
                        <a:cs typeface="Calibri" charset="0"/>
                      </a:endParaRPr>
                    </a:p>
                  </a:txBody>
                  <a:tcPr marL="38100" marR="38100" marT="25400" marB="25400">
                    <a:lnL w="0" cap="flat" cmpd="sng" algn="ctr">
                      <a:noFill/>
                    </a:lnL>
                    <a:lnR w="0" cap="flat" cmpd="sng" algn="ctr">
                      <a:noFill/>
                    </a:lnR>
                    <a:lnT w="0" cap="flat" cmpd="sng" algn="ctr">
                      <a:noFill/>
                    </a:lnT>
                    <a:lnB w="0" cap="flat" cmpd="sng" algn="ctr">
                      <a:noFill/>
                    </a:lnB>
                  </a:tcPr>
                </a:tc>
              </a:tr>
              <a:tr h="0">
                <a:tc>
                  <a:txBody>
                    <a:bodyPr/>
                    <a:lstStyle/>
                    <a:p>
                      <a:pPr indent="0" marL="0">
                        <a:buNone/>
                      </a:pPr>
                      <a:r>
                        <a:rPr lang="en-US" sz="1000" b="1" dirty="0">
                          <a:solidFill>
                            <a:srgbClr val="5B6B73"/>
                          </a:solidFill>
                          <a:latin typeface="Calibri" pitchFamily="34" charset="0"/>
                          <a:ea typeface="Calibri" pitchFamily="34" charset="-122"/>
                          <a:cs typeface="Calibri" pitchFamily="34" charset="-120"/>
                        </a:rPr>
                        <a:t>CPU</a:t>
                      </a:r>
                      <a:endParaRPr lang="en-US" sz="1000" dirty="0">
                        <a:latin typeface="Calibri" charset="0"/>
                        <a:ea typeface="Calibri" charset="0"/>
                        <a:cs typeface="Calibri" charset="0"/>
                      </a:endParaRPr>
                    </a:p>
                  </a:txBody>
                  <a:tcPr marL="38100" marR="38100" marT="25400" marB="25400">
                    <a:lnL w="0" cap="flat" cmpd="sng" algn="ctr">
                      <a:noFill/>
                    </a:lnL>
                    <a:lnR w="0" cap="flat" cmpd="sng" algn="ctr">
                      <a:noFill/>
                    </a:lnR>
                    <a:lnT w="0" cap="flat" cmpd="sng" algn="ctr">
                      <a:noFill/>
                    </a:lnT>
                    <a:lnB w="0" cap="flat" cmpd="sng" algn="ctr">
                      <a:noFill/>
                    </a:lnB>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AMD Ryzen 9 5900X 12-Core Processor</a:t>
                      </a:r>
                      <a:endParaRPr lang="en-US" sz="1000" dirty="0">
                        <a:latin typeface="Calibri" charset="0"/>
                        <a:ea typeface="Calibri" charset="0"/>
                        <a:cs typeface="Calibri" charset="0"/>
                      </a:endParaRPr>
                    </a:p>
                  </a:txBody>
                  <a:tcPr marL="38100" marR="38100" marT="25400" marB="25400">
                    <a:lnL w="0" cap="flat" cmpd="sng" algn="ctr">
                      <a:noFill/>
                    </a:lnL>
                    <a:lnR w="0" cap="flat" cmpd="sng" algn="ctr">
                      <a:noFill/>
                    </a:lnR>
                    <a:lnT w="0" cap="flat" cmpd="sng" algn="ctr">
                      <a:noFill/>
                    </a:lnT>
                    <a:lnB w="0" cap="flat" cmpd="sng" algn="ctr">
                      <a:noFill/>
                    </a:lnB>
                  </a:tcPr>
                </a:tc>
              </a:tr>
              <a:tr h="0">
                <a:tc>
                  <a:txBody>
                    <a:bodyPr/>
                    <a:lstStyle/>
                    <a:p>
                      <a:pPr indent="0" marL="0">
                        <a:buNone/>
                      </a:pPr>
                      <a:r>
                        <a:rPr lang="en-US" sz="1000" b="1" dirty="0">
                          <a:solidFill>
                            <a:srgbClr val="5B6B73"/>
                          </a:solidFill>
                          <a:latin typeface="Calibri" pitchFamily="34" charset="0"/>
                          <a:ea typeface="Calibri" pitchFamily="34" charset="-122"/>
                          <a:cs typeface="Calibri" pitchFamily="34" charset="-120"/>
                        </a:rPr>
                        <a:t>Cores / threads</a:t>
                      </a:r>
                      <a:endParaRPr lang="en-US" sz="1000" dirty="0">
                        <a:latin typeface="Calibri" charset="0"/>
                        <a:ea typeface="Calibri" charset="0"/>
                        <a:cs typeface="Calibri" charset="0"/>
                      </a:endParaRPr>
                    </a:p>
                  </a:txBody>
                  <a:tcPr marL="38100" marR="38100" marT="25400" marB="25400">
                    <a:lnL w="0" cap="flat" cmpd="sng" algn="ctr">
                      <a:noFill/>
                    </a:lnL>
                    <a:lnR w="0" cap="flat" cmpd="sng" algn="ctr">
                      <a:noFill/>
                    </a:lnR>
                    <a:lnT w="0" cap="flat" cmpd="sng" algn="ctr">
                      <a:noFill/>
                    </a:lnT>
                    <a:lnB w="0" cap="flat" cmpd="sng" algn="ctr">
                      <a:noFill/>
                    </a:lnB>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12 / 24</a:t>
                      </a:r>
                      <a:endParaRPr lang="en-US" sz="1000" dirty="0">
                        <a:latin typeface="Calibri" charset="0"/>
                        <a:ea typeface="Calibri" charset="0"/>
                        <a:cs typeface="Calibri" charset="0"/>
                      </a:endParaRPr>
                    </a:p>
                  </a:txBody>
                  <a:tcPr marL="38100" marR="38100" marT="25400" marB="25400">
                    <a:lnL w="0" cap="flat" cmpd="sng" algn="ctr">
                      <a:noFill/>
                    </a:lnL>
                    <a:lnR w="0" cap="flat" cmpd="sng" algn="ctr">
                      <a:noFill/>
                    </a:lnR>
                    <a:lnT w="0" cap="flat" cmpd="sng" algn="ctr">
                      <a:noFill/>
                    </a:lnT>
                    <a:lnB w="0" cap="flat" cmpd="sng" algn="ctr">
                      <a:noFill/>
                    </a:lnB>
                  </a:tcPr>
                </a:tc>
              </a:tr>
              <a:tr h="0">
                <a:tc>
                  <a:txBody>
                    <a:bodyPr/>
                    <a:lstStyle/>
                    <a:p>
                      <a:pPr indent="0" marL="0">
                        <a:buNone/>
                      </a:pPr>
                      <a:r>
                        <a:rPr lang="en-US" sz="1000" b="1" dirty="0">
                          <a:solidFill>
                            <a:srgbClr val="5B6B73"/>
                          </a:solidFill>
                          <a:latin typeface="Calibri" pitchFamily="34" charset="0"/>
                          <a:ea typeface="Calibri" pitchFamily="34" charset="-122"/>
                          <a:cs typeface="Calibri" pitchFamily="34" charset="-120"/>
                        </a:rPr>
                        <a:t>Memory</a:t>
                      </a:r>
                      <a:endParaRPr lang="en-US" sz="1000" dirty="0">
                        <a:latin typeface="Calibri" charset="0"/>
                        <a:ea typeface="Calibri" charset="0"/>
                        <a:cs typeface="Calibri" charset="0"/>
                      </a:endParaRPr>
                    </a:p>
                  </a:txBody>
                  <a:tcPr marL="38100" marR="38100" marT="25400" marB="25400">
                    <a:lnL w="0" cap="flat" cmpd="sng" algn="ctr">
                      <a:noFill/>
                    </a:lnL>
                    <a:lnR w="0" cap="flat" cmpd="sng" algn="ctr">
                      <a:noFill/>
                    </a:lnR>
                    <a:lnT w="0" cap="flat" cmpd="sng" algn="ctr">
                      <a:noFill/>
                    </a:lnT>
                    <a:lnB w="0" cap="flat" cmpd="sng" algn="ctr">
                      <a:noFill/>
                    </a:lnB>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31.3 GiB (32775132 kB)</a:t>
                      </a:r>
                      <a:endParaRPr lang="en-US" sz="1000" dirty="0">
                        <a:latin typeface="Calibri" charset="0"/>
                        <a:ea typeface="Calibri" charset="0"/>
                        <a:cs typeface="Calibri" charset="0"/>
                      </a:endParaRPr>
                    </a:p>
                  </a:txBody>
                  <a:tcPr marL="38100" marR="38100" marT="25400" marB="25400">
                    <a:lnL w="0" cap="flat" cmpd="sng" algn="ctr">
                      <a:noFill/>
                    </a:lnL>
                    <a:lnR w="0" cap="flat" cmpd="sng" algn="ctr">
                      <a:noFill/>
                    </a:lnR>
                    <a:lnT w="0" cap="flat" cmpd="sng" algn="ctr">
                      <a:noFill/>
                    </a:lnT>
                    <a:lnB w="0" cap="flat" cmpd="sng" algn="ctr">
                      <a:noFill/>
                    </a:lnB>
                  </a:tcPr>
                </a:tc>
              </a:tr>
              <a:tr h="0">
                <a:tc>
                  <a:txBody>
                    <a:bodyPr/>
                    <a:lstStyle/>
                    <a:p>
                      <a:pPr indent="0" marL="0">
                        <a:buNone/>
                      </a:pPr>
                      <a:r>
                        <a:rPr lang="en-US" sz="1000" b="1" dirty="0">
                          <a:solidFill>
                            <a:srgbClr val="5B6B73"/>
                          </a:solidFill>
                          <a:latin typeface="Calibri" pitchFamily="34" charset="0"/>
                          <a:ea typeface="Calibri" pitchFamily="34" charset="-122"/>
                          <a:cs typeface="Calibri" pitchFamily="34" charset="-120"/>
                        </a:rPr>
                        <a:t>OS</a:t>
                      </a:r>
                      <a:endParaRPr lang="en-US" sz="1000" dirty="0">
                        <a:latin typeface="Calibri" charset="0"/>
                        <a:ea typeface="Calibri" charset="0"/>
                        <a:cs typeface="Calibri" charset="0"/>
                      </a:endParaRPr>
                    </a:p>
                  </a:txBody>
                  <a:tcPr marL="38100" marR="38100" marT="25400" marB="25400">
                    <a:lnL w="0" cap="flat" cmpd="sng" algn="ctr">
                      <a:noFill/>
                    </a:lnL>
                    <a:lnR w="0" cap="flat" cmpd="sng" algn="ctr">
                      <a:noFill/>
                    </a:lnR>
                    <a:lnT w="0" cap="flat" cmpd="sng" algn="ctr">
                      <a:noFill/>
                    </a:lnT>
                    <a:lnB w="0" cap="flat" cmpd="sng" algn="ctr">
                      <a:noFill/>
                    </a:lnB>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Arch Linux, 7.2.3-arch1-3</a:t>
                      </a:r>
                      <a:endParaRPr lang="en-US" sz="1000" dirty="0">
                        <a:latin typeface="Calibri" charset="0"/>
                        <a:ea typeface="Calibri" charset="0"/>
                        <a:cs typeface="Calibri" charset="0"/>
                      </a:endParaRPr>
                    </a:p>
                  </a:txBody>
                  <a:tcPr marL="38100" marR="38100" marT="25400" marB="25400">
                    <a:lnL w="0" cap="flat" cmpd="sng" algn="ctr">
                      <a:noFill/>
                    </a:lnL>
                    <a:lnR w="0" cap="flat" cmpd="sng" algn="ctr">
                      <a:noFill/>
                    </a:lnR>
                    <a:lnT w="0" cap="flat" cmpd="sng" algn="ctr">
                      <a:noFill/>
                    </a:lnT>
                    <a:lnB w="0" cap="flat" cmpd="sng" algn="ctr">
                      <a:noFill/>
                    </a:lnB>
                  </a:tcPr>
                </a:tc>
              </a:tr>
              <a:tr h="0">
                <a:tc>
                  <a:txBody>
                    <a:bodyPr/>
                    <a:lstStyle/>
                    <a:p>
                      <a:pPr indent="0" marL="0">
                        <a:buNone/>
                      </a:pPr>
                      <a:r>
                        <a:rPr lang="en-US" sz="1000" b="1" dirty="0">
                          <a:solidFill>
                            <a:srgbClr val="5B6B73"/>
                          </a:solidFill>
                          <a:latin typeface="Calibri" pitchFamily="34" charset="0"/>
                          <a:ea typeface="Calibri" pitchFamily="34" charset="-122"/>
                          <a:cs typeface="Calibri" pitchFamily="34" charset="-120"/>
                        </a:rPr>
                        <a:t>Docker</a:t>
                      </a:r>
                      <a:endParaRPr lang="en-US" sz="1000" dirty="0">
                        <a:latin typeface="Calibri" charset="0"/>
                        <a:ea typeface="Calibri" charset="0"/>
                        <a:cs typeface="Calibri" charset="0"/>
                      </a:endParaRPr>
                    </a:p>
                  </a:txBody>
                  <a:tcPr marL="38100" marR="38100" marT="25400" marB="25400">
                    <a:lnL w="0" cap="flat" cmpd="sng" algn="ctr">
                      <a:noFill/>
                    </a:lnL>
                    <a:lnR w="0" cap="flat" cmpd="sng" algn="ctr">
                      <a:noFill/>
                    </a:lnR>
                    <a:lnT w="0" cap="flat" cmpd="sng" algn="ctr">
                      <a:noFill/>
                    </a:lnT>
                    <a:lnB w="0" cap="flat" cmpd="sng" algn="ctr">
                      <a:noFill/>
                    </a:lnB>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Engine 29.7.2, native</a:t>
                      </a:r>
                      <a:endParaRPr lang="en-US" sz="1000" dirty="0">
                        <a:latin typeface="Calibri" charset="0"/>
                        <a:ea typeface="Calibri" charset="0"/>
                        <a:cs typeface="Calibri" charset="0"/>
                      </a:endParaRPr>
                    </a:p>
                  </a:txBody>
                  <a:tcPr marL="38100" marR="38100" marT="25400" marB="25400">
                    <a:lnL w="0" cap="flat" cmpd="sng" algn="ctr">
                      <a:noFill/>
                    </a:lnL>
                    <a:lnR w="0" cap="flat" cmpd="sng" algn="ctr">
                      <a:noFill/>
                    </a:lnR>
                    <a:lnT w="0" cap="flat" cmpd="sng" algn="ctr">
                      <a:noFill/>
                    </a:lnT>
                    <a:lnB w="0" cap="flat" cmpd="sng" algn="ctr">
                      <a:noFill/>
                    </a:lnB>
                  </a:tcPr>
                </a:tc>
              </a:tr>
              <a:tr h="0">
                <a:tc>
                  <a:txBody>
                    <a:bodyPr/>
                    <a:lstStyle/>
                    <a:p>
                      <a:pPr indent="0" marL="0">
                        <a:buNone/>
                      </a:pPr>
                      <a:r>
                        <a:rPr lang="en-US" sz="1000" b="1" dirty="0">
                          <a:solidFill>
                            <a:srgbClr val="5B6B73"/>
                          </a:solidFill>
                          <a:latin typeface="Calibri" pitchFamily="34" charset="0"/>
                          <a:ea typeface="Calibri" pitchFamily="34" charset="-122"/>
                          <a:cs typeface="Calibri" pitchFamily="34" charset="-120"/>
                        </a:rPr>
                        <a:t>Ollama</a:t>
                      </a:r>
                      <a:endParaRPr lang="en-US" sz="1000" dirty="0">
                        <a:latin typeface="Calibri" charset="0"/>
                        <a:ea typeface="Calibri" charset="0"/>
                        <a:cs typeface="Calibri" charset="0"/>
                      </a:endParaRPr>
                    </a:p>
                  </a:txBody>
                  <a:tcPr marL="38100" marR="38100" marT="25400" marB="25400">
                    <a:lnL w="0" cap="flat" cmpd="sng" algn="ctr">
                      <a:noFill/>
                    </a:lnL>
                    <a:lnR w="0" cap="flat" cmpd="sng" algn="ctr">
                      <a:noFill/>
                    </a:lnR>
                    <a:lnT w="0" cap="flat" cmpd="sng" algn="ctr">
                      <a:noFill/>
                    </a:lnT>
                    <a:lnB w="0" cap="flat" cmpd="sng" algn="ctr">
                      <a:noFill/>
                    </a:lnB>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0.34.3 (container)</a:t>
                      </a:r>
                      <a:endParaRPr lang="en-US" sz="1000" dirty="0">
                        <a:latin typeface="Calibri" charset="0"/>
                        <a:ea typeface="Calibri" charset="0"/>
                        <a:cs typeface="Calibri" charset="0"/>
                      </a:endParaRPr>
                    </a:p>
                  </a:txBody>
                  <a:tcPr marL="38100" marR="38100" marT="25400" marB="25400">
                    <a:lnL w="0" cap="flat" cmpd="sng" algn="ctr">
                      <a:noFill/>
                    </a:lnL>
                    <a:lnR w="0" cap="flat" cmpd="sng" algn="ctr">
                      <a:noFill/>
                    </a:lnR>
                    <a:lnT w="0" cap="flat" cmpd="sng" algn="ctr">
                      <a:noFill/>
                    </a:lnT>
                    <a:lnB w="0" cap="flat" cmpd="sng" algn="ctr">
                      <a:noFill/>
                    </a:lnB>
                  </a:tcPr>
                </a:tc>
              </a:tr>
            </a:tbl>
          </a:graphicData>
        </a:graphic>
      </p:graphicFrame>
      <p:sp>
        <p:nvSpPr>
          <p:cNvPr id="8" name="Shape 5"/>
          <p:cNvSpPr/>
          <p:nvPr/>
        </p:nvSpPr>
        <p:spPr>
          <a:xfrm>
            <a:off x="4297680" y="1417320"/>
            <a:ext cx="3657600" cy="2880360"/>
          </a:xfrm>
          <a:prstGeom prst="roundRect">
            <a:avLst>
              <a:gd name="adj" fmla="val 2540"/>
            </a:avLst>
          </a:prstGeom>
          <a:solidFill>
            <a:srgbClr val="EEF3F4"/>
          </a:solidFill>
          <a:ln w="12700">
            <a:solidFill>
              <a:srgbClr val="EEF3F4"/>
            </a:solidFill>
            <a:prstDash val="solid"/>
          </a:ln>
        </p:spPr>
      </p:sp>
      <p:sp>
        <p:nvSpPr>
          <p:cNvPr id="9" name="Text 6"/>
          <p:cNvSpPr txBox="1"/>
          <p:nvPr/>
        </p:nvSpPr>
        <p:spPr>
          <a:xfrm>
            <a:off x="4407408" y="1481328"/>
            <a:ext cx="3474720" cy="274320"/>
          </a:xfrm>
          <a:prstGeom prst="rect">
            <a:avLst/>
          </a:prstGeom>
          <a:noFill/>
          <a:ln/>
        </p:spPr>
        <p:txBody>
          <a:bodyPr wrap="square" lIns="762" tIns="762" rIns="762" bIns="762" rtlCol="0" anchor="t"/>
          <a:lstStyle/>
          <a:p>
            <a:pPr algn="l" indent="0" marL="0">
              <a:lnSpc>
                <a:spcPct val="100000"/>
              </a:lnSpc>
              <a:buNone/>
            </a:pPr>
            <a:r>
              <a:rPr lang="en-US" sz="1100" b="1" dirty="0">
                <a:solidFill>
                  <a:srgbClr val="1F6F78"/>
                </a:solidFill>
                <a:latin typeface="Calibri" pitchFamily="34" charset="0"/>
                <a:ea typeface="Calibri" pitchFamily="34" charset="-122"/>
                <a:cs typeface="Calibri" pitchFamily="34" charset="-120"/>
              </a:rPr>
              <a:t>LOAD GENERATOR (JMeter, accuracy driver)</a:t>
            </a:r>
            <a:endParaRPr lang="en-US" sz="110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4389120" y="1783080"/>
          <a:ext cx="3474720" cy="914400"/>
        </p:xfrm>
        <a:graphic>
          <a:graphicData uri="http://schemas.openxmlformats.org/drawingml/2006/table">
            <a:tbl>
              <a:tblPr/>
              <a:tblGrid>
                <a:gridCol w="1005840"/>
                <a:gridCol w="2468880"/>
              </a:tblGrid>
              <a:tr h="0">
                <a:tc>
                  <a:txBody>
                    <a:bodyPr/>
                    <a:lstStyle/>
                    <a:p>
                      <a:pPr indent="0" marL="0">
                        <a:buNone/>
                      </a:pPr>
                      <a:r>
                        <a:rPr lang="en-US" sz="1000" b="1" dirty="0">
                          <a:solidFill>
                            <a:srgbClr val="5B6B73"/>
                          </a:solidFill>
                          <a:latin typeface="Calibri" pitchFamily="34" charset="0"/>
                          <a:ea typeface="Calibri" pitchFamily="34" charset="-122"/>
                          <a:cs typeface="Calibri" pitchFamily="34" charset="-120"/>
                        </a:rPr>
                        <a:t>Host</a:t>
                      </a:r>
                      <a:endParaRPr lang="en-US" sz="1000" dirty="0">
                        <a:latin typeface="Calibri" charset="0"/>
                        <a:ea typeface="Calibri" charset="0"/>
                        <a:cs typeface="Calibri" charset="0"/>
                      </a:endParaRPr>
                    </a:p>
                  </a:txBody>
                  <a:tcPr marL="38100" marR="38100" marT="25400" marB="25400">
                    <a:lnL w="0" cap="flat" cmpd="sng" algn="ctr">
                      <a:noFill/>
                    </a:lnL>
                    <a:lnR w="0" cap="flat" cmpd="sng" algn="ctr">
                      <a:noFill/>
                    </a:lnR>
                    <a:lnT w="0" cap="flat" cmpd="sng" algn="ctr">
                      <a:noFill/>
                    </a:lnT>
                    <a:lnB w="0" cap="flat" cmpd="sng" algn="ctr">
                      <a:noFill/>
                    </a:lnB>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Kais-MacBook-Pro-2.local</a:t>
                      </a:r>
                      <a:endParaRPr lang="en-US" sz="1000" dirty="0">
                        <a:latin typeface="Calibri" charset="0"/>
                        <a:ea typeface="Calibri" charset="0"/>
                        <a:cs typeface="Calibri" charset="0"/>
                      </a:endParaRPr>
                    </a:p>
                  </a:txBody>
                  <a:tcPr marL="38100" marR="38100" marT="25400" marB="25400">
                    <a:lnL w="0" cap="flat" cmpd="sng" algn="ctr">
                      <a:noFill/>
                    </a:lnL>
                    <a:lnR w="0" cap="flat" cmpd="sng" algn="ctr">
                      <a:noFill/>
                    </a:lnR>
                    <a:lnT w="0" cap="flat" cmpd="sng" algn="ctr">
                      <a:noFill/>
                    </a:lnT>
                    <a:lnB w="0" cap="flat" cmpd="sng" algn="ctr">
                      <a:noFill/>
                    </a:lnB>
                  </a:tcPr>
                </a:tc>
              </a:tr>
              <a:tr h="0">
                <a:tc>
                  <a:txBody>
                    <a:bodyPr/>
                    <a:lstStyle/>
                    <a:p>
                      <a:pPr indent="0" marL="0">
                        <a:buNone/>
                      </a:pPr>
                      <a:r>
                        <a:rPr lang="en-US" sz="1000" b="1" dirty="0">
                          <a:solidFill>
                            <a:srgbClr val="5B6B73"/>
                          </a:solidFill>
                          <a:latin typeface="Calibri" pitchFamily="34" charset="0"/>
                          <a:ea typeface="Calibri" pitchFamily="34" charset="-122"/>
                          <a:cs typeface="Calibri" pitchFamily="34" charset="-120"/>
                        </a:rPr>
                        <a:t>CPU</a:t>
                      </a:r>
                      <a:endParaRPr lang="en-US" sz="1000" dirty="0">
                        <a:latin typeface="Calibri" charset="0"/>
                        <a:ea typeface="Calibri" charset="0"/>
                        <a:cs typeface="Calibri" charset="0"/>
                      </a:endParaRPr>
                    </a:p>
                  </a:txBody>
                  <a:tcPr marL="38100" marR="38100" marT="25400" marB="25400">
                    <a:lnL w="0" cap="flat" cmpd="sng" algn="ctr">
                      <a:noFill/>
                    </a:lnL>
                    <a:lnR w="0" cap="flat" cmpd="sng" algn="ctr">
                      <a:noFill/>
                    </a:lnR>
                    <a:lnT w="0" cap="flat" cmpd="sng" algn="ctr">
                      <a:noFill/>
                    </a:lnT>
                    <a:lnB w="0" cap="flat" cmpd="sng" algn="ctr">
                      <a:noFill/>
                    </a:lnB>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Apple M3 Pro</a:t>
                      </a:r>
                      <a:endParaRPr lang="en-US" sz="1000" dirty="0">
                        <a:latin typeface="Calibri" charset="0"/>
                        <a:ea typeface="Calibri" charset="0"/>
                        <a:cs typeface="Calibri" charset="0"/>
                      </a:endParaRPr>
                    </a:p>
                  </a:txBody>
                  <a:tcPr marL="38100" marR="38100" marT="25400" marB="25400">
                    <a:lnL w="0" cap="flat" cmpd="sng" algn="ctr">
                      <a:noFill/>
                    </a:lnL>
                    <a:lnR w="0" cap="flat" cmpd="sng" algn="ctr">
                      <a:noFill/>
                    </a:lnR>
                    <a:lnT w="0" cap="flat" cmpd="sng" algn="ctr">
                      <a:noFill/>
                    </a:lnT>
                    <a:lnB w="0" cap="flat" cmpd="sng" algn="ctr">
                      <a:noFill/>
                    </a:lnB>
                  </a:tcPr>
                </a:tc>
              </a:tr>
              <a:tr h="0">
                <a:tc>
                  <a:txBody>
                    <a:bodyPr/>
                    <a:lstStyle/>
                    <a:p>
                      <a:pPr indent="0" marL="0">
                        <a:buNone/>
                      </a:pPr>
                      <a:r>
                        <a:rPr lang="en-US" sz="1000" b="1" dirty="0">
                          <a:solidFill>
                            <a:srgbClr val="5B6B73"/>
                          </a:solidFill>
                          <a:latin typeface="Calibri" pitchFamily="34" charset="0"/>
                          <a:ea typeface="Calibri" pitchFamily="34" charset="-122"/>
                          <a:cs typeface="Calibri" pitchFamily="34" charset="-120"/>
                        </a:rPr>
                        <a:t>Cores / threads</a:t>
                      </a:r>
                      <a:endParaRPr lang="en-US" sz="1000" dirty="0">
                        <a:latin typeface="Calibri" charset="0"/>
                        <a:ea typeface="Calibri" charset="0"/>
                        <a:cs typeface="Calibri" charset="0"/>
                      </a:endParaRPr>
                    </a:p>
                  </a:txBody>
                  <a:tcPr marL="38100" marR="38100" marT="25400" marB="25400">
                    <a:lnL w="0" cap="flat" cmpd="sng" algn="ctr">
                      <a:noFill/>
                    </a:lnL>
                    <a:lnR w="0" cap="flat" cmpd="sng" algn="ctr">
                      <a:noFill/>
                    </a:lnR>
                    <a:lnT w="0" cap="flat" cmpd="sng" algn="ctr">
                      <a:noFill/>
                    </a:lnT>
                    <a:lnB w="0" cap="flat" cmpd="sng" algn="ctr">
                      <a:noFill/>
                    </a:lnB>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11 / 11</a:t>
                      </a:r>
                      <a:endParaRPr lang="en-US" sz="1000" dirty="0">
                        <a:latin typeface="Calibri" charset="0"/>
                        <a:ea typeface="Calibri" charset="0"/>
                        <a:cs typeface="Calibri" charset="0"/>
                      </a:endParaRPr>
                    </a:p>
                  </a:txBody>
                  <a:tcPr marL="38100" marR="38100" marT="25400" marB="25400">
                    <a:lnL w="0" cap="flat" cmpd="sng" algn="ctr">
                      <a:noFill/>
                    </a:lnL>
                    <a:lnR w="0" cap="flat" cmpd="sng" algn="ctr">
                      <a:noFill/>
                    </a:lnR>
                    <a:lnT w="0" cap="flat" cmpd="sng" algn="ctr">
                      <a:noFill/>
                    </a:lnT>
                    <a:lnB w="0" cap="flat" cmpd="sng" algn="ctr">
                      <a:noFill/>
                    </a:lnB>
                  </a:tcPr>
                </a:tc>
              </a:tr>
              <a:tr h="0">
                <a:tc>
                  <a:txBody>
                    <a:bodyPr/>
                    <a:lstStyle/>
                    <a:p>
                      <a:pPr indent="0" marL="0">
                        <a:buNone/>
                      </a:pPr>
                      <a:r>
                        <a:rPr lang="en-US" sz="1000" b="1" dirty="0">
                          <a:solidFill>
                            <a:srgbClr val="5B6B73"/>
                          </a:solidFill>
                          <a:latin typeface="Calibri" pitchFamily="34" charset="0"/>
                          <a:ea typeface="Calibri" pitchFamily="34" charset="-122"/>
                          <a:cs typeface="Calibri" pitchFamily="34" charset="-120"/>
                        </a:rPr>
                        <a:t>Memory</a:t>
                      </a:r>
                      <a:endParaRPr lang="en-US" sz="1000" dirty="0">
                        <a:latin typeface="Calibri" charset="0"/>
                        <a:ea typeface="Calibri" charset="0"/>
                        <a:cs typeface="Calibri" charset="0"/>
                      </a:endParaRPr>
                    </a:p>
                  </a:txBody>
                  <a:tcPr marL="38100" marR="38100" marT="25400" marB="25400">
                    <a:lnL w="0" cap="flat" cmpd="sng" algn="ctr">
                      <a:noFill/>
                    </a:lnL>
                    <a:lnR w="0" cap="flat" cmpd="sng" algn="ctr">
                      <a:noFill/>
                    </a:lnR>
                    <a:lnT w="0" cap="flat" cmpd="sng" algn="ctr">
                      <a:noFill/>
                    </a:lnT>
                    <a:lnB w="0" cap="flat" cmpd="sng" algn="ctr">
                      <a:noFill/>
                    </a:lnB>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18.0 GiB (19327352832 bytes)</a:t>
                      </a:r>
                      <a:endParaRPr lang="en-US" sz="1000" dirty="0">
                        <a:latin typeface="Calibri" charset="0"/>
                        <a:ea typeface="Calibri" charset="0"/>
                        <a:cs typeface="Calibri" charset="0"/>
                      </a:endParaRPr>
                    </a:p>
                  </a:txBody>
                  <a:tcPr marL="38100" marR="38100" marT="25400" marB="25400">
                    <a:lnL w="0" cap="flat" cmpd="sng" algn="ctr">
                      <a:noFill/>
                    </a:lnL>
                    <a:lnR w="0" cap="flat" cmpd="sng" algn="ctr">
                      <a:noFill/>
                    </a:lnR>
                    <a:lnT w="0" cap="flat" cmpd="sng" algn="ctr">
                      <a:noFill/>
                    </a:lnT>
                    <a:lnB w="0" cap="flat" cmpd="sng" algn="ctr">
                      <a:noFill/>
                    </a:lnB>
                  </a:tcPr>
                </a:tc>
              </a:tr>
              <a:tr h="0">
                <a:tc>
                  <a:txBody>
                    <a:bodyPr/>
                    <a:lstStyle/>
                    <a:p>
                      <a:pPr indent="0" marL="0">
                        <a:buNone/>
                      </a:pPr>
                      <a:r>
                        <a:rPr lang="en-US" sz="1000" b="1" dirty="0">
                          <a:solidFill>
                            <a:srgbClr val="5B6B73"/>
                          </a:solidFill>
                          <a:latin typeface="Calibri" pitchFamily="34" charset="0"/>
                          <a:ea typeface="Calibri" pitchFamily="34" charset="-122"/>
                          <a:cs typeface="Calibri" pitchFamily="34" charset="-120"/>
                        </a:rPr>
                        <a:t>OS</a:t>
                      </a:r>
                      <a:endParaRPr lang="en-US" sz="1000" dirty="0">
                        <a:latin typeface="Calibri" charset="0"/>
                        <a:ea typeface="Calibri" charset="0"/>
                        <a:cs typeface="Calibri" charset="0"/>
                      </a:endParaRPr>
                    </a:p>
                  </a:txBody>
                  <a:tcPr marL="38100" marR="38100" marT="25400" marB="25400">
                    <a:lnL w="0" cap="flat" cmpd="sng" algn="ctr">
                      <a:noFill/>
                    </a:lnL>
                    <a:lnR w="0" cap="flat" cmpd="sng" algn="ctr">
                      <a:noFill/>
                    </a:lnR>
                    <a:lnT w="0" cap="flat" cmpd="sng" algn="ctr">
                      <a:noFill/>
                    </a:lnT>
                    <a:lnB w="0" cap="flat" cmpd="sng" algn="ctr">
                      <a:noFill/>
                    </a:lnB>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macOS 15.1.1, 24.1.0</a:t>
                      </a:r>
                      <a:endParaRPr lang="en-US" sz="1000" dirty="0">
                        <a:latin typeface="Calibri" charset="0"/>
                        <a:ea typeface="Calibri" charset="0"/>
                        <a:cs typeface="Calibri" charset="0"/>
                      </a:endParaRPr>
                    </a:p>
                  </a:txBody>
                  <a:tcPr marL="38100" marR="38100" marT="25400" marB="25400">
                    <a:lnL w="0" cap="flat" cmpd="sng" algn="ctr">
                      <a:noFill/>
                    </a:lnL>
                    <a:lnR w="0" cap="flat" cmpd="sng" algn="ctr">
                      <a:noFill/>
                    </a:lnR>
                    <a:lnT w="0" cap="flat" cmpd="sng" algn="ctr">
                      <a:noFill/>
                    </a:lnT>
                    <a:lnB w="0" cap="flat" cmpd="sng" algn="ctr">
                      <a:noFill/>
                    </a:lnB>
                  </a:tcPr>
                </a:tc>
              </a:tr>
              <a:tr h="0">
                <a:tc>
                  <a:txBody>
                    <a:bodyPr/>
                    <a:lstStyle/>
                    <a:p>
                      <a:pPr indent="0" marL="0">
                        <a:buNone/>
                      </a:pPr>
                      <a:r>
                        <a:rPr lang="en-US" sz="1000" b="1" dirty="0">
                          <a:solidFill>
                            <a:srgbClr val="5B6B73"/>
                          </a:solidFill>
                          <a:latin typeface="Calibri" pitchFamily="34" charset="0"/>
                          <a:ea typeface="Calibri" pitchFamily="34" charset="-122"/>
                          <a:cs typeface="Calibri" pitchFamily="34" charset="-120"/>
                        </a:rPr>
                        <a:t>Docker</a:t>
                      </a:r>
                      <a:endParaRPr lang="en-US" sz="1000" dirty="0">
                        <a:latin typeface="Calibri" charset="0"/>
                        <a:ea typeface="Calibri" charset="0"/>
                        <a:cs typeface="Calibri" charset="0"/>
                      </a:endParaRPr>
                    </a:p>
                  </a:txBody>
                  <a:tcPr marL="38100" marR="38100" marT="25400" marB="25400">
                    <a:lnL w="0" cap="flat" cmpd="sng" algn="ctr">
                      <a:noFill/>
                    </a:lnL>
                    <a:lnR w="0" cap="flat" cmpd="sng" algn="ctr">
                      <a:noFill/>
                    </a:lnR>
                    <a:lnT w="0" cap="flat" cmpd="sng" algn="ctr">
                      <a:noFill/>
                    </a:lnT>
                    <a:lnB w="0" cap="flat" cmpd="sng" algn="ctr">
                      <a:noFill/>
                    </a:lnB>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not used (Docker Desktop quit for the campaign)</a:t>
                      </a:r>
                      <a:endParaRPr lang="en-US" sz="1000" dirty="0">
                        <a:latin typeface="Calibri" charset="0"/>
                        <a:ea typeface="Calibri" charset="0"/>
                        <a:cs typeface="Calibri" charset="0"/>
                      </a:endParaRPr>
                    </a:p>
                  </a:txBody>
                  <a:tcPr marL="38100" marR="38100" marT="25400" marB="25400">
                    <a:lnL w="0" cap="flat" cmpd="sng" algn="ctr">
                      <a:noFill/>
                    </a:lnL>
                    <a:lnR w="0" cap="flat" cmpd="sng" algn="ctr">
                      <a:noFill/>
                    </a:lnR>
                    <a:lnT w="0" cap="flat" cmpd="sng" algn="ctr">
                      <a:noFill/>
                    </a:lnT>
                    <a:lnB w="0" cap="flat" cmpd="sng" algn="ctr">
                      <a:noFill/>
                    </a:lnB>
                  </a:tcPr>
                </a:tc>
              </a:tr>
              <a:tr h="0">
                <a:tc>
                  <a:txBody>
                    <a:bodyPr/>
                    <a:lstStyle/>
                    <a:p>
                      <a:pPr indent="0" marL="0">
                        <a:buNone/>
                      </a:pPr>
                      <a:r>
                        <a:rPr lang="en-US" sz="1000" b="1" dirty="0">
                          <a:solidFill>
                            <a:srgbClr val="5B6B73"/>
                          </a:solidFill>
                          <a:latin typeface="Calibri" pitchFamily="34" charset="0"/>
                          <a:ea typeface="Calibri" pitchFamily="34" charset="-122"/>
                          <a:cs typeface="Calibri" pitchFamily="34" charset="-120"/>
                        </a:rPr>
                        <a:t>JMeter / Java</a:t>
                      </a:r>
                      <a:endParaRPr lang="en-US" sz="1000" dirty="0">
                        <a:latin typeface="Calibri" charset="0"/>
                        <a:ea typeface="Calibri" charset="0"/>
                        <a:cs typeface="Calibri" charset="0"/>
                      </a:endParaRPr>
                    </a:p>
                  </a:txBody>
                  <a:tcPr marL="38100" marR="38100" marT="25400" marB="25400">
                    <a:lnL w="0" cap="flat" cmpd="sng" algn="ctr">
                      <a:noFill/>
                    </a:lnL>
                    <a:lnR w="0" cap="flat" cmpd="sng" algn="ctr">
                      <a:noFill/>
                    </a:lnR>
                    <a:lnT w="0" cap="flat" cmpd="sng" algn="ctr">
                      <a:noFill/>
                    </a:lnT>
                    <a:lnB w="0" cap="flat" cmpd="sng" algn="ctr">
                      <a:noFill/>
                    </a:lnB>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JMeter 5.6.3 on OpenJDK 21 (bin/setenv.sh)</a:t>
                      </a:r>
                      <a:endParaRPr lang="en-US" sz="1000" dirty="0">
                        <a:latin typeface="Calibri" charset="0"/>
                        <a:ea typeface="Calibri" charset="0"/>
                        <a:cs typeface="Calibri" charset="0"/>
                      </a:endParaRPr>
                    </a:p>
                  </a:txBody>
                  <a:tcPr marL="38100" marR="38100" marT="25400" marB="25400">
                    <a:lnL w="0" cap="flat" cmpd="sng" algn="ctr">
                      <a:noFill/>
                    </a:lnL>
                    <a:lnR w="0" cap="flat" cmpd="sng" algn="ctr">
                      <a:noFill/>
                    </a:lnR>
                    <a:lnT w="0" cap="flat" cmpd="sng" algn="ctr">
                      <a:noFill/>
                    </a:lnT>
                    <a:lnB w="0" cap="flat" cmpd="sng" algn="ctr">
                      <a:noFill/>
                    </a:lnB>
                  </a:tcPr>
                </a:tc>
              </a:tr>
            </a:tbl>
          </a:graphicData>
        </a:graphic>
      </p:graphicFrame>
      <p:sp>
        <p:nvSpPr>
          <p:cNvPr id="11" name="Shape 7"/>
          <p:cNvSpPr/>
          <p:nvPr/>
        </p:nvSpPr>
        <p:spPr>
          <a:xfrm>
            <a:off x="8092440" y="1417320"/>
            <a:ext cx="3593592" cy="2880360"/>
          </a:xfrm>
          <a:prstGeom prst="roundRect">
            <a:avLst>
              <a:gd name="adj" fmla="val 2540"/>
            </a:avLst>
          </a:prstGeom>
          <a:solidFill>
            <a:srgbClr val="0E2A33"/>
          </a:solidFill>
          <a:ln w="12700">
            <a:solidFill>
              <a:srgbClr val="0E2A33"/>
            </a:solidFill>
            <a:prstDash val="solid"/>
          </a:ln>
        </p:spPr>
      </p:sp>
      <p:sp>
        <p:nvSpPr>
          <p:cNvPr id="12" name="Text 8"/>
          <p:cNvSpPr txBox="1"/>
          <p:nvPr/>
        </p:nvSpPr>
        <p:spPr>
          <a:xfrm>
            <a:off x="8202168" y="1481328"/>
            <a:ext cx="3383280" cy="2743200"/>
          </a:xfrm>
          <a:prstGeom prst="rect">
            <a:avLst/>
          </a:prstGeom>
          <a:noFill/>
          <a:ln/>
        </p:spPr>
        <p:txBody>
          <a:bodyPr wrap="square" lIns="762" tIns="762" rIns="762" bIns="762" rtlCol="0" anchor="t"/>
          <a:lstStyle/>
          <a:p>
            <a:pPr algn="l" indent="0" marL="0">
              <a:lnSpc>
                <a:spcPct val="100000"/>
              </a:lnSpc>
              <a:spcAft>
                <a:spcPts val="400"/>
              </a:spcAft>
              <a:buNone/>
            </a:pPr>
            <a:r>
              <a:rPr lang="en-US" sz="1100" b="1" dirty="0">
                <a:solidFill>
                  <a:srgbClr val="E39B2D"/>
                </a:solidFill>
                <a:latin typeface="Calibri" pitchFamily="34" charset="0"/>
                <a:ea typeface="Calibri" pitchFamily="34" charset="-122"/>
                <a:cs typeface="Calibri" pitchFamily="34" charset="-120"/>
              </a:rPr>
              <a:t>Separate machines, measured network</a:t>
            </a:r>
            <a:endParaRPr lang="en-US" sz="1100" dirty="0"/>
          </a:p>
          <a:p>
            <a:pPr algn="l" marL="342900" indent="-342900">
              <a:lnSpc>
                <a:spcPct val="100000"/>
              </a:lnSpc>
              <a:spcAft>
                <a:spcPts val="400"/>
              </a:spcAft>
              <a:buSzPct val="100000"/>
              <a:buChar char="•"/>
            </a:pPr>
            <a:r>
              <a:rPr lang="en-US" sz="1100" dirty="0">
                <a:solidFill>
                  <a:srgbClr val="FFFFFF"/>
                </a:solidFill>
                <a:latin typeface="Calibri" pitchFamily="34" charset="0"/>
                <a:ea typeface="Calibri" pitchFamily="34" charset="-122"/>
                <a:cs typeface="Calibri" pitchFamily="34" charset="-120"/>
              </a:rPr>
              <a:t>Separate machines: JMeter on kais-macbook-pro (Apple M3 Pro); service and Ollama on omarchy (Ryzen 9 5900X)</a:t>
            </a:r>
            <a:endParaRPr lang="en-US" sz="1100" dirty="0"/>
          </a:p>
          <a:p>
            <a:pPr algn="l" marL="342900" indent="-342900">
              <a:lnSpc>
                <a:spcPct val="100000"/>
              </a:lnSpc>
              <a:spcAft>
                <a:spcPts val="400"/>
              </a:spcAft>
              <a:buSzPct val="100000"/>
              <a:buChar char="•"/>
            </a:pPr>
            <a:r>
              <a:rPr lang="en-US" sz="1100" dirty="0">
                <a:solidFill>
                  <a:srgbClr val="FFFFFF"/>
                </a:solidFill>
                <a:latin typeface="Calibri" pitchFamily="34" charset="0"/>
                <a:ea typeface="Calibri" pitchFamily="34" charset="-122"/>
                <a:cs typeface="Calibri" pitchFamily="34" charset="-120"/>
              </a:rPr>
              <a:t>Same home LAN, 192.168.50.0/24: service host wired Gigabit Ethernet, load generator 5 GHz Wi-Fi (802.11ac, 866 Mb/s)</a:t>
            </a:r>
            <a:endParaRPr lang="en-US" sz="1100" dirty="0"/>
          </a:p>
          <a:p>
            <a:pPr algn="l" marL="342900" indent="-342900">
              <a:lnSpc>
                <a:spcPct val="100000"/>
              </a:lnSpc>
              <a:spcAft>
                <a:spcPts val="400"/>
              </a:spcAft>
              <a:buSzPct val="100000"/>
              <a:buChar char="•"/>
            </a:pPr>
            <a:r>
              <a:rPr lang="en-US" sz="1100" dirty="0">
                <a:solidFill>
                  <a:srgbClr val="FFFFFF"/>
                </a:solidFill>
                <a:latin typeface="Calibri" pitchFamily="34" charset="0"/>
                <a:ea typeface="Calibri" pitchFamily="34" charset="-122"/>
                <a:cs typeface="Calibri" pitchFamily="34" charset="-120"/>
              </a:rPr>
              <a:t>Round trip 2.2 / 3.5 / 6.8 ms (min / avg / max, 20 pings, 0% loss) — under 0.1% of R1's 10 s threshold</a:t>
            </a:r>
            <a:endParaRPr lang="en-US" sz="1100" dirty="0"/>
          </a:p>
          <a:p>
            <a:pPr algn="l" marL="342900" indent="-342900">
              <a:lnSpc>
                <a:spcPct val="100000"/>
              </a:lnSpc>
              <a:spcAft>
                <a:spcPts val="400"/>
              </a:spcAft>
              <a:buSzPct val="100000"/>
              <a:buChar char="•"/>
            </a:pPr>
            <a:r>
              <a:rPr lang="en-US" sz="1100" dirty="0">
                <a:solidFill>
                  <a:srgbClr val="FFFFFF"/>
                </a:solidFill>
                <a:latin typeface="Calibri" pitchFamily="34" charset="0"/>
                <a:ea typeface="Calibri" pitchFamily="34" charset="-122"/>
                <a:cs typeface="Calibri" pitchFamily="34" charset="-120"/>
              </a:rPr>
              <a:t>HTTP connect 3.0–4.0 ms; JMeter targets the IP address, so no DNS lookup inside a sample</a:t>
            </a:r>
            <a:endParaRPr lang="en-US" sz="1100" dirty="0"/>
          </a:p>
        </p:txBody>
      </p:sp>
      <p:sp>
        <p:nvSpPr>
          <p:cNvPr id="13" name="Shape 9"/>
          <p:cNvSpPr/>
          <p:nvPr/>
        </p:nvSpPr>
        <p:spPr>
          <a:xfrm>
            <a:off x="502920" y="4434840"/>
            <a:ext cx="11185855" cy="1691640"/>
          </a:xfrm>
          <a:prstGeom prst="roundRect">
            <a:avLst>
              <a:gd name="adj" fmla="val 4324"/>
            </a:avLst>
          </a:prstGeom>
          <a:solidFill>
            <a:srgbClr val="FFFFFF"/>
          </a:solidFill>
          <a:ln w="12700">
            <a:solidFill>
              <a:srgbClr val="C9D5D8"/>
            </a:solidFill>
            <a:prstDash val="solid"/>
          </a:ln>
        </p:spPr>
      </p:sp>
      <p:sp>
        <p:nvSpPr>
          <p:cNvPr id="14" name="Text 10"/>
          <p:cNvSpPr txBox="1"/>
          <p:nvPr/>
        </p:nvSpPr>
        <p:spPr>
          <a:xfrm>
            <a:off x="594360" y="4480560"/>
            <a:ext cx="11002975" cy="1600200"/>
          </a:xfrm>
          <a:prstGeom prst="rect">
            <a:avLst/>
          </a:prstGeom>
          <a:noFill/>
          <a:ln/>
        </p:spPr>
        <p:txBody>
          <a:bodyPr wrap="square" lIns="762" tIns="762" rIns="762" bIns="762" rtlCol="0" anchor="t"/>
          <a:lstStyle/>
          <a:p>
            <a:pPr algn="l" indent="0" marL="0">
              <a:lnSpc>
                <a:spcPct val="100000"/>
              </a:lnSpc>
              <a:spcAft>
                <a:spcPts val="300"/>
              </a:spcAft>
              <a:buNone/>
            </a:pPr>
            <a:r>
              <a:rPr lang="en-US" sz="1050" b="1" dirty="0">
                <a:solidFill>
                  <a:srgbClr val="1F6F78"/>
                </a:solidFill>
                <a:latin typeface="Calibri" pitchFamily="34" charset="0"/>
                <a:ea typeface="Calibri" pitchFamily="34" charset="-122"/>
                <a:cs typeface="Calibri" pitchFamily="34" charset="-120"/>
              </a:rPr>
              <a:t>How the results carry over to the client, and what could make them unrepresentative</a:t>
            </a:r>
            <a:endParaRPr lang="en-US" sz="1050" dirty="0"/>
          </a:p>
          <a:p>
            <a:pPr algn="l" marL="342900" indent="-342900">
              <a:lnSpc>
                <a:spcPct val="100000"/>
              </a:lnSpc>
              <a:spcAft>
                <a:spcPts val="300"/>
              </a:spcAft>
              <a:buSzPct val="100000"/>
              <a:buChar char="•"/>
            </a:pPr>
            <a:r>
              <a:rPr lang="en-US" sz="1050" dirty="0">
                <a:solidFill>
                  <a:srgbClr val="17252C"/>
                </a:solidFill>
                <a:latin typeface="Calibri" pitchFamily="34" charset="0"/>
                <a:ea typeface="Calibri" pitchFamily="34" charset="-122"/>
                <a:cs typeface="Calibri" pitchFamily="34" charset="-120"/>
              </a:rPr>
              <a:t>Scaling assumption: CPU inference time is set by cores and memory bandwidth. A commodity server with more cores and memory channels than our desktop should be faster per request; we report our hardware so the client can scale, and do not claim their numbers.</a:t>
            </a:r>
            <a:endParaRPr lang="en-US" sz="1050" dirty="0"/>
          </a:p>
          <a:p>
            <a:pPr algn="l" marL="342900" indent="-342900">
              <a:lnSpc>
                <a:spcPct val="100000"/>
              </a:lnSpc>
              <a:spcAft>
                <a:spcPts val="300"/>
              </a:spcAft>
              <a:buSzPct val="100000"/>
              <a:buChar char="•"/>
            </a:pPr>
            <a:r>
              <a:rPr lang="en-US" sz="1050" dirty="0">
                <a:solidFill>
                  <a:srgbClr val="17252C"/>
                </a:solidFill>
                <a:latin typeface="Calibri" pitchFamily="34" charset="0"/>
                <a:ea typeface="Calibri" pitchFamily="34" charset="-122"/>
                <a:cs typeface="Calibri" pitchFamily="34" charset="-120"/>
              </a:rPr>
              <a:t>One model and one request at a time per model (Ollama default): a server with more RAM could hold more models but not run one model faster.</a:t>
            </a:r>
            <a:endParaRPr lang="en-US" sz="1050" dirty="0"/>
          </a:p>
          <a:p>
            <a:pPr algn="l" marL="342900" indent="-342900">
              <a:lnSpc>
                <a:spcPct val="100000"/>
              </a:lnSpc>
              <a:spcAft>
                <a:spcPts val="300"/>
              </a:spcAft>
              <a:buSzPct val="100000"/>
              <a:buChar char="•"/>
            </a:pPr>
            <a:r>
              <a:rPr lang="en-US" sz="1050" dirty="0">
                <a:solidFill>
                  <a:srgbClr val="17252C"/>
                </a:solidFill>
                <a:latin typeface="Calibri" pitchFamily="34" charset="0"/>
                <a:ea typeface="Calibri" pitchFamily="34" charset="-122"/>
                <a:cs typeface="Calibri" pitchFamily="34" charset="-120"/>
              </a:rPr>
              <a:t>Limitations: a personal desktop with a desktop session (variance biased up, mostly in p95/p99); a desktop CPU at up to 4.95 GHz but only two memory channels; a single service host, so no claim about horizontal scaling; random arrival times but a fixed count per window (JMeter's random_arrivals sends exactly rate × duration), so runs differ in timing, not volume.</a:t>
            </a:r>
            <a:endParaRPr lang="en-US" sz="1050" dirty="0"/>
          </a:p>
        </p:txBody>
      </p:sp>
      <p:sp>
        <p:nvSpPr>
          <p:cNvPr id="25" name="Slide Number Placeholder 0"/>
          <p:cNvSpPr>
            <a:spLocks noGrp="1"/>
          </p:cNvSpPr>
          <p:nvPr>
            <p:ph type="sldNum" sz="quarter" idx="4294967295"/>
          </p:nvPr>
        </p:nvSpPr>
        <p:spPr>
          <a:xfrm>
            <a:off x="11231575"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B7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02920" y="292608"/>
            <a:ext cx="11185855" cy="566928"/>
          </a:xfrm>
          <a:prstGeom prst="rect">
            <a:avLst/>
          </a:prstGeom>
          <a:noFill/>
          <a:ln/>
        </p:spPr>
        <p:txBody>
          <a:bodyPr wrap="square" lIns="0" tIns="0" rIns="0" bIns="0" rtlCol="0" anchor="ctr"/>
          <a:lstStyle/>
          <a:p>
            <a:pPr indent="0" marL="0">
              <a:buNone/>
            </a:pPr>
            <a:r>
              <a:rPr lang="en-US" sz="2800" b="1" dirty="0">
                <a:solidFill>
                  <a:srgbClr val="17252C"/>
                </a:solidFill>
                <a:latin typeface="Cambria" pitchFamily="34" charset="0"/>
                <a:ea typeface="Cambria" pitchFamily="34" charset="-122"/>
                <a:cs typeface="Cambria" pitchFamily="34" charset="-120"/>
              </a:rPr>
              <a:t>Playbook: how every test was run</a:t>
            </a:r>
            <a:endParaRPr lang="en-US" sz="2800" dirty="0"/>
          </a:p>
        </p:txBody>
      </p:sp>
      <p:sp>
        <p:nvSpPr>
          <p:cNvPr id="3" name="Text 1"/>
          <p:cNvSpPr txBox="1"/>
          <p:nvPr/>
        </p:nvSpPr>
        <p:spPr>
          <a:xfrm>
            <a:off x="502920" y="868680"/>
            <a:ext cx="11185855" cy="411480"/>
          </a:xfrm>
          <a:prstGeom prst="rect">
            <a:avLst/>
          </a:prstGeom>
          <a:noFill/>
          <a:ln/>
        </p:spPr>
        <p:txBody>
          <a:bodyPr wrap="square" lIns="0" tIns="0" rIns="0" bIns="0" rtlCol="0" anchor="t"/>
          <a:lstStyle/>
          <a:p>
            <a:pPr indent="0" marL="0">
              <a:buNone/>
            </a:pPr>
            <a:r>
              <a:rPr lang="en-US" sz="1500" dirty="0">
                <a:solidFill>
                  <a:srgbClr val="1F6F78"/>
                </a:solidFill>
                <a:latin typeface="Calibri" pitchFamily="34" charset="0"/>
                <a:ea typeface="Calibri" pitchFamily="34" charset="-122"/>
                <a:cs typeface="Calibri" pitchFamily="34" charset="-120"/>
              </a:rPr>
              <a:t>One script runs every configuration identically; open-loop arrivals, an empty database, a warm-up excluded from the numbers, three runs each.</a:t>
            </a:r>
            <a:endParaRPr lang="en-US" sz="1500" dirty="0"/>
          </a:p>
        </p:txBody>
      </p:sp>
      <p:sp>
        <p:nvSpPr>
          <p:cNvPr id="4" name="Text 2"/>
          <p:cNvSpPr txBox="1"/>
          <p:nvPr/>
        </p:nvSpPr>
        <p:spPr>
          <a:xfrm>
            <a:off x="502920" y="6446520"/>
            <a:ext cx="10362895" cy="292608"/>
          </a:xfrm>
          <a:prstGeom prst="rect">
            <a:avLst/>
          </a:prstGeom>
          <a:noFill/>
          <a:ln/>
        </p:spPr>
        <p:txBody>
          <a:bodyPr wrap="square" lIns="0" tIns="0" rIns="0" bIns="0" rtlCol="0" anchor="ctr"/>
          <a:lstStyle/>
          <a:p>
            <a:pPr indent="0" marL="0">
              <a:buNone/>
            </a:pPr>
            <a:r>
              <a:rPr lang="en-US" sz="900" dirty="0">
                <a:solidFill>
                  <a:srgbClr val="5B6B73"/>
                </a:solidFill>
                <a:latin typeface="Calibri" pitchFamily="34" charset="0"/>
                <a:ea typeface="Calibri" pitchFamily="34" charset="-122"/>
                <a:cs typeface="Calibri" pitchFamily="34" charset="-120"/>
              </a:rPr>
              <a:t>Source: docs/playbooks/load-test.md, stress-test.md, accuracy-test.md; scripts/run_campaign.sh, scripts/run_load_test.sh, scripts/run_accuracy.py; jmeter/*.jmx</a:t>
            </a:r>
            <a:endParaRPr lang="en-US" sz="900" dirty="0"/>
          </a:p>
        </p:txBody>
      </p:sp>
      <p:sp>
        <p:nvSpPr>
          <p:cNvPr id="5" name="Shape 3"/>
          <p:cNvSpPr/>
          <p:nvPr/>
        </p:nvSpPr>
        <p:spPr>
          <a:xfrm>
            <a:off x="502920" y="1417320"/>
            <a:ext cx="1519602" cy="1600200"/>
          </a:xfrm>
          <a:prstGeom prst="roundRect">
            <a:avLst>
              <a:gd name="adj" fmla="val 4814"/>
            </a:avLst>
          </a:prstGeom>
          <a:solidFill>
            <a:srgbClr val="D5E8EA"/>
          </a:solidFill>
          <a:ln w="12700">
            <a:solidFill>
              <a:srgbClr val="D5E8EA"/>
            </a:solidFill>
            <a:prstDash val="solid"/>
          </a:ln>
        </p:spPr>
      </p:sp>
      <p:sp>
        <p:nvSpPr>
          <p:cNvPr id="6" name="Text 4"/>
          <p:cNvSpPr txBox="1"/>
          <p:nvPr/>
        </p:nvSpPr>
        <p:spPr>
          <a:xfrm>
            <a:off x="548640" y="1463040"/>
            <a:ext cx="1428162" cy="411480"/>
          </a:xfrm>
          <a:prstGeom prst="rect">
            <a:avLst/>
          </a:prstGeom>
          <a:noFill/>
          <a:ln/>
        </p:spPr>
        <p:txBody>
          <a:bodyPr wrap="square" lIns="762" tIns="762" rIns="762" bIns="762" rtlCol="0" anchor="t"/>
          <a:lstStyle/>
          <a:p>
            <a:pPr algn="l" indent="0" marL="0">
              <a:lnSpc>
                <a:spcPct val="100000"/>
              </a:lnSpc>
              <a:buNone/>
            </a:pPr>
            <a:r>
              <a:rPr lang="en-US" sz="1150" b="1" dirty="0">
                <a:solidFill>
                  <a:srgbClr val="0E2A33"/>
                </a:solidFill>
                <a:latin typeface="Calibri" pitchFamily="34" charset="0"/>
                <a:ea typeface="Calibri" pitchFamily="34" charset="-122"/>
                <a:cs typeface="Calibri" pitchFamily="34" charset="-120"/>
              </a:rPr>
              <a:t>1 Freeze gate</a:t>
            </a:r>
            <a:endParaRPr lang="en-US" sz="1150" dirty="0"/>
          </a:p>
        </p:txBody>
      </p:sp>
      <p:sp>
        <p:nvSpPr>
          <p:cNvPr id="7" name="Text 5"/>
          <p:cNvSpPr txBox="1"/>
          <p:nvPr/>
        </p:nvSpPr>
        <p:spPr>
          <a:xfrm>
            <a:off x="548640" y="1874520"/>
            <a:ext cx="1428162" cy="1097280"/>
          </a:xfrm>
          <a:prstGeom prst="rect">
            <a:avLst/>
          </a:prstGeom>
          <a:noFill/>
          <a:ln/>
        </p:spPr>
        <p:txBody>
          <a:bodyPr wrap="square" lIns="762" tIns="762" rIns="762" bIns="762" rtlCol="0" anchor="t"/>
          <a:lstStyle/>
          <a:p>
            <a:pPr algn="l" indent="0" marL="0">
              <a:lnSpc>
                <a:spcPct val="100000"/>
              </a:lnSpc>
              <a:buNone/>
            </a:pPr>
            <a:r>
              <a:rPr lang="en-US" sz="950" dirty="0">
                <a:solidFill>
                  <a:srgbClr val="17252C"/>
                </a:solidFill>
                <a:latin typeface="Calibri" pitchFamily="34" charset="0"/>
                <a:ea typeface="Calibri" pitchFamily="34" charset="-122"/>
                <a:cs typeface="Calibri" pitchFamily="34" charset="-120"/>
              </a:rPr>
              <a:t>scripts/freeze_gate.py must pass: golden set and predictions committed and tagged</a:t>
            </a:r>
            <a:endParaRPr lang="en-US" sz="950" dirty="0"/>
          </a:p>
        </p:txBody>
      </p:sp>
      <p:sp>
        <p:nvSpPr>
          <p:cNvPr id="8" name="Shape 6"/>
          <p:cNvSpPr/>
          <p:nvPr/>
        </p:nvSpPr>
        <p:spPr>
          <a:xfrm>
            <a:off x="2113962" y="1417320"/>
            <a:ext cx="1519602" cy="1600200"/>
          </a:xfrm>
          <a:prstGeom prst="roundRect">
            <a:avLst>
              <a:gd name="adj" fmla="val 4814"/>
            </a:avLst>
          </a:prstGeom>
          <a:solidFill>
            <a:srgbClr val="D5E8EA"/>
          </a:solidFill>
          <a:ln w="12700">
            <a:solidFill>
              <a:srgbClr val="D5E8EA"/>
            </a:solidFill>
            <a:prstDash val="solid"/>
          </a:ln>
        </p:spPr>
      </p:sp>
      <p:sp>
        <p:nvSpPr>
          <p:cNvPr id="9" name="Text 7"/>
          <p:cNvSpPr txBox="1"/>
          <p:nvPr/>
        </p:nvSpPr>
        <p:spPr>
          <a:xfrm>
            <a:off x="2159682" y="1463040"/>
            <a:ext cx="1428162" cy="411480"/>
          </a:xfrm>
          <a:prstGeom prst="rect">
            <a:avLst/>
          </a:prstGeom>
          <a:noFill/>
          <a:ln/>
        </p:spPr>
        <p:txBody>
          <a:bodyPr wrap="square" lIns="762" tIns="762" rIns="762" bIns="762" rtlCol="0" anchor="t"/>
          <a:lstStyle/>
          <a:p>
            <a:pPr algn="l" indent="0" marL="0">
              <a:lnSpc>
                <a:spcPct val="100000"/>
              </a:lnSpc>
              <a:buNone/>
            </a:pPr>
            <a:r>
              <a:rPr lang="en-US" sz="1150" b="1" dirty="0">
                <a:solidFill>
                  <a:srgbClr val="0E2A33"/>
                </a:solidFill>
                <a:latin typeface="Calibri" pitchFamily="34" charset="0"/>
                <a:ea typeface="Calibri" pitchFamily="34" charset="-122"/>
                <a:cs typeface="Calibri" pitchFamily="34" charset="-120"/>
              </a:rPr>
              <a:t>2 Reset</a:t>
            </a:r>
            <a:endParaRPr lang="en-US" sz="1150" dirty="0"/>
          </a:p>
        </p:txBody>
      </p:sp>
      <p:sp>
        <p:nvSpPr>
          <p:cNvPr id="10" name="Text 8"/>
          <p:cNvSpPr txBox="1"/>
          <p:nvPr/>
        </p:nvSpPr>
        <p:spPr>
          <a:xfrm>
            <a:off x="2159682" y="1874520"/>
            <a:ext cx="1428162" cy="1097280"/>
          </a:xfrm>
          <a:prstGeom prst="rect">
            <a:avLst/>
          </a:prstGeom>
          <a:noFill/>
          <a:ln/>
        </p:spPr>
        <p:txBody>
          <a:bodyPr wrap="square" lIns="762" tIns="762" rIns="762" bIns="762" rtlCol="0" anchor="t"/>
          <a:lstStyle/>
          <a:p>
            <a:pPr algn="l" indent="0" marL="0">
              <a:lnSpc>
                <a:spcPct val="100000"/>
              </a:lnSpc>
              <a:buNone/>
            </a:pPr>
            <a:r>
              <a:rPr lang="en-US" sz="950" dirty="0">
                <a:solidFill>
                  <a:srgbClr val="17252C"/>
                </a:solidFill>
                <a:latin typeface="Calibri" pitchFamily="34" charset="0"/>
                <a:ea typeface="Calibri" pitchFamily="34" charset="-122"/>
                <a:cs typeface="Calibri" pitchFamily="34" charset="-120"/>
              </a:rPr>
              <a:t>database volume deleted; service restarted empty</a:t>
            </a:r>
            <a:endParaRPr lang="en-US" sz="950" dirty="0"/>
          </a:p>
        </p:txBody>
      </p:sp>
      <p:sp>
        <p:nvSpPr>
          <p:cNvPr id="11" name="Shape 9"/>
          <p:cNvSpPr/>
          <p:nvPr/>
        </p:nvSpPr>
        <p:spPr>
          <a:xfrm>
            <a:off x="3725004" y="1417320"/>
            <a:ext cx="1519602" cy="1600200"/>
          </a:xfrm>
          <a:prstGeom prst="roundRect">
            <a:avLst>
              <a:gd name="adj" fmla="val 4814"/>
            </a:avLst>
          </a:prstGeom>
          <a:solidFill>
            <a:srgbClr val="D5E8EA"/>
          </a:solidFill>
          <a:ln w="12700">
            <a:solidFill>
              <a:srgbClr val="D5E8EA"/>
            </a:solidFill>
            <a:prstDash val="solid"/>
          </a:ln>
        </p:spPr>
      </p:sp>
      <p:sp>
        <p:nvSpPr>
          <p:cNvPr id="12" name="Text 10"/>
          <p:cNvSpPr txBox="1"/>
          <p:nvPr/>
        </p:nvSpPr>
        <p:spPr>
          <a:xfrm>
            <a:off x="3770724" y="1463040"/>
            <a:ext cx="1428162" cy="411480"/>
          </a:xfrm>
          <a:prstGeom prst="rect">
            <a:avLst/>
          </a:prstGeom>
          <a:noFill/>
          <a:ln/>
        </p:spPr>
        <p:txBody>
          <a:bodyPr wrap="square" lIns="762" tIns="762" rIns="762" bIns="762" rtlCol="0" anchor="t"/>
          <a:lstStyle/>
          <a:p>
            <a:pPr algn="l" indent="0" marL="0">
              <a:lnSpc>
                <a:spcPct val="100000"/>
              </a:lnSpc>
              <a:buNone/>
            </a:pPr>
            <a:r>
              <a:rPr lang="en-US" sz="1150" b="1" dirty="0">
                <a:solidFill>
                  <a:srgbClr val="0E2A33"/>
                </a:solidFill>
                <a:latin typeface="Calibri" pitchFamily="34" charset="0"/>
                <a:ea typeface="Calibri" pitchFamily="34" charset="-122"/>
                <a:cs typeface="Calibri" pitchFamily="34" charset="-120"/>
              </a:rPr>
              <a:t>3 Switch model</a:t>
            </a:r>
            <a:endParaRPr lang="en-US" sz="1150" dirty="0"/>
          </a:p>
        </p:txBody>
      </p:sp>
      <p:sp>
        <p:nvSpPr>
          <p:cNvPr id="13" name="Text 11"/>
          <p:cNvSpPr txBox="1"/>
          <p:nvPr/>
        </p:nvSpPr>
        <p:spPr>
          <a:xfrm>
            <a:off x="3770724" y="1874520"/>
            <a:ext cx="1428162" cy="1097280"/>
          </a:xfrm>
          <a:prstGeom prst="rect">
            <a:avLst/>
          </a:prstGeom>
          <a:noFill/>
          <a:ln/>
        </p:spPr>
        <p:txBody>
          <a:bodyPr wrap="square" lIns="762" tIns="762" rIns="762" bIns="762" rtlCol="0" anchor="t"/>
          <a:lstStyle/>
          <a:p>
            <a:pPr algn="l" indent="0" marL="0">
              <a:lnSpc>
                <a:spcPct val="100000"/>
              </a:lnSpc>
              <a:buNone/>
            </a:pPr>
            <a:r>
              <a:rPr lang="en-US" sz="950" dirty="0">
                <a:solidFill>
                  <a:srgbClr val="17252C"/>
                </a:solidFill>
                <a:latin typeface="Calibri" pitchFamily="34" charset="0"/>
                <a:ea typeface="Calibri" pitchFamily="34" charset="-122"/>
                <a:cs typeface="Calibri" pitchFamily="34" charset="-120"/>
              </a:rPr>
              <a:t>MODEL_TAG set; /health must report the model and its pinned digest</a:t>
            </a:r>
            <a:endParaRPr lang="en-US" sz="950" dirty="0"/>
          </a:p>
        </p:txBody>
      </p:sp>
      <p:sp>
        <p:nvSpPr>
          <p:cNvPr id="14" name="Shape 12"/>
          <p:cNvSpPr/>
          <p:nvPr/>
        </p:nvSpPr>
        <p:spPr>
          <a:xfrm>
            <a:off x="5336047" y="1417320"/>
            <a:ext cx="1519602" cy="1600200"/>
          </a:xfrm>
          <a:prstGeom prst="roundRect">
            <a:avLst>
              <a:gd name="adj" fmla="val 4814"/>
            </a:avLst>
          </a:prstGeom>
          <a:solidFill>
            <a:srgbClr val="D5E8EA"/>
          </a:solidFill>
          <a:ln w="12700">
            <a:solidFill>
              <a:srgbClr val="D5E8EA"/>
            </a:solidFill>
            <a:prstDash val="solid"/>
          </a:ln>
        </p:spPr>
      </p:sp>
      <p:sp>
        <p:nvSpPr>
          <p:cNvPr id="15" name="Text 13"/>
          <p:cNvSpPr txBox="1"/>
          <p:nvPr/>
        </p:nvSpPr>
        <p:spPr>
          <a:xfrm>
            <a:off x="5381767" y="1463040"/>
            <a:ext cx="1428162" cy="411480"/>
          </a:xfrm>
          <a:prstGeom prst="rect">
            <a:avLst/>
          </a:prstGeom>
          <a:noFill/>
          <a:ln/>
        </p:spPr>
        <p:txBody>
          <a:bodyPr wrap="square" lIns="762" tIns="762" rIns="762" bIns="762" rtlCol="0" anchor="t"/>
          <a:lstStyle/>
          <a:p>
            <a:pPr algn="l" indent="0" marL="0">
              <a:lnSpc>
                <a:spcPct val="100000"/>
              </a:lnSpc>
              <a:buNone/>
            </a:pPr>
            <a:r>
              <a:rPr lang="en-US" sz="1150" b="1" dirty="0">
                <a:solidFill>
                  <a:srgbClr val="0E2A33"/>
                </a:solidFill>
                <a:latin typeface="Calibri" pitchFamily="34" charset="0"/>
                <a:ea typeface="Calibri" pitchFamily="34" charset="-122"/>
                <a:cs typeface="Calibri" pitchFamily="34" charset="-120"/>
              </a:rPr>
              <a:t>4 Warm-up</a:t>
            </a:r>
            <a:endParaRPr lang="en-US" sz="1150" dirty="0"/>
          </a:p>
        </p:txBody>
      </p:sp>
      <p:sp>
        <p:nvSpPr>
          <p:cNvPr id="16" name="Text 14"/>
          <p:cNvSpPr txBox="1"/>
          <p:nvPr/>
        </p:nvSpPr>
        <p:spPr>
          <a:xfrm>
            <a:off x="5381767" y="1874520"/>
            <a:ext cx="1428162" cy="1097280"/>
          </a:xfrm>
          <a:prstGeom prst="rect">
            <a:avLst/>
          </a:prstGeom>
          <a:noFill/>
          <a:ln/>
        </p:spPr>
        <p:txBody>
          <a:bodyPr wrap="square" lIns="762" tIns="762" rIns="762" bIns="762" rtlCol="0" anchor="t"/>
          <a:lstStyle/>
          <a:p>
            <a:pPr algn="l" indent="0" marL="0">
              <a:lnSpc>
                <a:spcPct val="100000"/>
              </a:lnSpc>
              <a:buNone/>
            </a:pPr>
            <a:r>
              <a:rPr lang="en-US" sz="950" dirty="0">
                <a:solidFill>
                  <a:srgbClr val="17252C"/>
                </a:solidFill>
                <a:latin typeface="Calibri" pitchFamily="34" charset="0"/>
                <a:ea typeface="Calibri" pitchFamily="34" charset="-122"/>
                <a:cs typeface="Calibri" pitchFamily="34" charset="-120"/>
              </a:rPr>
              <a:t>one synthetic ticket pays the model-load cost; excluded from every figure</a:t>
            </a:r>
            <a:endParaRPr lang="en-US" sz="950" dirty="0"/>
          </a:p>
        </p:txBody>
      </p:sp>
      <p:sp>
        <p:nvSpPr>
          <p:cNvPr id="17" name="Shape 15"/>
          <p:cNvSpPr/>
          <p:nvPr/>
        </p:nvSpPr>
        <p:spPr>
          <a:xfrm>
            <a:off x="6947089" y="1417320"/>
            <a:ext cx="1519602" cy="1600200"/>
          </a:xfrm>
          <a:prstGeom prst="roundRect">
            <a:avLst>
              <a:gd name="adj" fmla="val 4814"/>
            </a:avLst>
          </a:prstGeom>
          <a:solidFill>
            <a:srgbClr val="0E2A33"/>
          </a:solidFill>
          <a:ln w="12700">
            <a:solidFill>
              <a:srgbClr val="0E2A33"/>
            </a:solidFill>
            <a:prstDash val="solid"/>
          </a:ln>
        </p:spPr>
      </p:sp>
      <p:sp>
        <p:nvSpPr>
          <p:cNvPr id="18" name="Text 16"/>
          <p:cNvSpPr txBox="1"/>
          <p:nvPr/>
        </p:nvSpPr>
        <p:spPr>
          <a:xfrm>
            <a:off x="6992809" y="1463040"/>
            <a:ext cx="1428162" cy="411480"/>
          </a:xfrm>
          <a:prstGeom prst="rect">
            <a:avLst/>
          </a:prstGeom>
          <a:noFill/>
          <a:ln/>
        </p:spPr>
        <p:txBody>
          <a:bodyPr wrap="square" lIns="762" tIns="762" rIns="762" bIns="762" rtlCol="0" anchor="t"/>
          <a:lstStyle/>
          <a:p>
            <a:pPr algn="l" indent="0" marL="0">
              <a:lnSpc>
                <a:spcPct val="100000"/>
              </a:lnSpc>
              <a:buNone/>
            </a:pPr>
            <a:r>
              <a:rPr lang="en-US" sz="1150" b="1" dirty="0">
                <a:solidFill>
                  <a:srgbClr val="E39B2D"/>
                </a:solidFill>
                <a:latin typeface="Calibri" pitchFamily="34" charset="0"/>
                <a:ea typeface="Calibri" pitchFamily="34" charset="-122"/>
                <a:cs typeface="Calibri" pitchFamily="34" charset="-120"/>
              </a:rPr>
              <a:t>5 JMeter, open loop</a:t>
            </a:r>
            <a:endParaRPr lang="en-US" sz="1150" dirty="0"/>
          </a:p>
        </p:txBody>
      </p:sp>
      <p:sp>
        <p:nvSpPr>
          <p:cNvPr id="19" name="Text 17"/>
          <p:cNvSpPr txBox="1"/>
          <p:nvPr/>
        </p:nvSpPr>
        <p:spPr>
          <a:xfrm>
            <a:off x="6992809" y="1874520"/>
            <a:ext cx="1428162" cy="1097280"/>
          </a:xfrm>
          <a:prstGeom prst="rect">
            <a:avLst/>
          </a:prstGeom>
          <a:noFill/>
          <a:ln/>
        </p:spPr>
        <p:txBody>
          <a:bodyPr wrap="square" lIns="762" tIns="762" rIns="762" bIns="762" rtlCol="0" anchor="t"/>
          <a:lstStyle/>
          <a:p>
            <a:pPr algn="l" indent="0" marL="0">
              <a:lnSpc>
                <a:spcPct val="100000"/>
              </a:lnSpc>
              <a:buNone/>
            </a:pPr>
            <a:r>
              <a:rPr lang="en-US" sz="950" dirty="0">
                <a:solidFill>
                  <a:srgbClr val="FFFFFF"/>
                </a:solidFill>
                <a:latin typeface="Calibri" pitchFamily="34" charset="0"/>
                <a:ea typeface="Calibri" pitchFamily="34" charset="-122"/>
                <a:cs typeface="Calibri" pitchFamily="34" charset="-120"/>
              </a:rPr>
              <a:t>Poisson arrivals at a fixed rate; 150 s drain lets in-flight requests finish</a:t>
            </a:r>
            <a:endParaRPr lang="en-US" sz="950" dirty="0"/>
          </a:p>
        </p:txBody>
      </p:sp>
      <p:sp>
        <p:nvSpPr>
          <p:cNvPr id="20" name="Shape 18"/>
          <p:cNvSpPr/>
          <p:nvPr/>
        </p:nvSpPr>
        <p:spPr>
          <a:xfrm>
            <a:off x="8558131" y="1417320"/>
            <a:ext cx="1519602" cy="1600200"/>
          </a:xfrm>
          <a:prstGeom prst="roundRect">
            <a:avLst>
              <a:gd name="adj" fmla="val 4814"/>
            </a:avLst>
          </a:prstGeom>
          <a:solidFill>
            <a:srgbClr val="D5E8EA"/>
          </a:solidFill>
          <a:ln w="12700">
            <a:solidFill>
              <a:srgbClr val="D5E8EA"/>
            </a:solidFill>
            <a:prstDash val="solid"/>
          </a:ln>
        </p:spPr>
      </p:sp>
      <p:sp>
        <p:nvSpPr>
          <p:cNvPr id="21" name="Text 19"/>
          <p:cNvSpPr txBox="1"/>
          <p:nvPr/>
        </p:nvSpPr>
        <p:spPr>
          <a:xfrm>
            <a:off x="8603851" y="1463040"/>
            <a:ext cx="1428162" cy="411480"/>
          </a:xfrm>
          <a:prstGeom prst="rect">
            <a:avLst/>
          </a:prstGeom>
          <a:noFill/>
          <a:ln/>
        </p:spPr>
        <p:txBody>
          <a:bodyPr wrap="square" lIns="762" tIns="762" rIns="762" bIns="762" rtlCol="0" anchor="t"/>
          <a:lstStyle/>
          <a:p>
            <a:pPr algn="l" indent="0" marL="0">
              <a:lnSpc>
                <a:spcPct val="100000"/>
              </a:lnSpc>
              <a:buNone/>
            </a:pPr>
            <a:r>
              <a:rPr lang="en-US" sz="1150" b="1" dirty="0">
                <a:solidFill>
                  <a:srgbClr val="0E2A33"/>
                </a:solidFill>
                <a:latin typeface="Calibri" pitchFamily="34" charset="0"/>
                <a:ea typeface="Calibri" pitchFamily="34" charset="-122"/>
                <a:cs typeface="Calibri" pitchFamily="34" charset="-120"/>
              </a:rPr>
              <a:t>6 Evidence</a:t>
            </a:r>
            <a:endParaRPr lang="en-US" sz="1150" dirty="0"/>
          </a:p>
        </p:txBody>
      </p:sp>
      <p:sp>
        <p:nvSpPr>
          <p:cNvPr id="22" name="Text 20"/>
          <p:cNvSpPr txBox="1"/>
          <p:nvPr/>
        </p:nvSpPr>
        <p:spPr>
          <a:xfrm>
            <a:off x="8603851" y="1874520"/>
            <a:ext cx="1428162" cy="1097280"/>
          </a:xfrm>
          <a:prstGeom prst="rect">
            <a:avLst/>
          </a:prstGeom>
          <a:noFill/>
          <a:ln/>
        </p:spPr>
        <p:txBody>
          <a:bodyPr wrap="square" lIns="762" tIns="762" rIns="762" bIns="762" rtlCol="0" anchor="t"/>
          <a:lstStyle/>
          <a:p>
            <a:pPr algn="l" indent="0" marL="0">
              <a:lnSpc>
                <a:spcPct val="100000"/>
              </a:lnSpc>
              <a:buNone/>
            </a:pPr>
            <a:r>
              <a:rPr lang="en-US" sz="950" dirty="0">
                <a:solidFill>
                  <a:srgbClr val="17252C"/>
                </a:solidFill>
                <a:latin typeface="Calibri" pitchFamily="34" charset="0"/>
                <a:ea typeface="Calibri" pitchFamily="34" charset="-122"/>
                <a:cs typeface="Calibri" pitchFamily="34" charset="-120"/>
              </a:rPr>
              <a:t>results.jtl, the service log slice, metadata.json and freeze.json per run</a:t>
            </a:r>
            <a:endParaRPr lang="en-US" sz="950" dirty="0"/>
          </a:p>
        </p:txBody>
      </p:sp>
      <p:sp>
        <p:nvSpPr>
          <p:cNvPr id="23" name="Shape 21"/>
          <p:cNvSpPr/>
          <p:nvPr/>
        </p:nvSpPr>
        <p:spPr>
          <a:xfrm>
            <a:off x="10169173" y="1417320"/>
            <a:ext cx="1519602" cy="1600200"/>
          </a:xfrm>
          <a:prstGeom prst="roundRect">
            <a:avLst>
              <a:gd name="adj" fmla="val 4814"/>
            </a:avLst>
          </a:prstGeom>
          <a:solidFill>
            <a:srgbClr val="D5E8EA"/>
          </a:solidFill>
          <a:ln w="12700">
            <a:solidFill>
              <a:srgbClr val="D5E8EA"/>
            </a:solidFill>
            <a:prstDash val="solid"/>
          </a:ln>
        </p:spPr>
      </p:sp>
      <p:sp>
        <p:nvSpPr>
          <p:cNvPr id="24" name="Text 22"/>
          <p:cNvSpPr txBox="1"/>
          <p:nvPr/>
        </p:nvSpPr>
        <p:spPr>
          <a:xfrm>
            <a:off x="10214893" y="1463040"/>
            <a:ext cx="1428162" cy="411480"/>
          </a:xfrm>
          <a:prstGeom prst="rect">
            <a:avLst/>
          </a:prstGeom>
          <a:noFill/>
          <a:ln/>
        </p:spPr>
        <p:txBody>
          <a:bodyPr wrap="square" lIns="762" tIns="762" rIns="762" bIns="762" rtlCol="0" anchor="t"/>
          <a:lstStyle/>
          <a:p>
            <a:pPr algn="l" indent="0" marL="0">
              <a:lnSpc>
                <a:spcPct val="100000"/>
              </a:lnSpc>
              <a:buNone/>
            </a:pPr>
            <a:r>
              <a:rPr lang="en-US" sz="1150" b="1" dirty="0">
                <a:solidFill>
                  <a:srgbClr val="0E2A33"/>
                </a:solidFill>
                <a:latin typeface="Calibri" pitchFamily="34" charset="0"/>
                <a:ea typeface="Calibri" pitchFamily="34" charset="-122"/>
                <a:cs typeface="Calibri" pitchFamily="34" charset="-120"/>
              </a:rPr>
              <a:t>7 Reconcile, analyse</a:t>
            </a:r>
            <a:endParaRPr lang="en-US" sz="1150" dirty="0"/>
          </a:p>
        </p:txBody>
      </p:sp>
      <p:sp>
        <p:nvSpPr>
          <p:cNvPr id="25" name="Text 23"/>
          <p:cNvSpPr txBox="1"/>
          <p:nvPr/>
        </p:nvSpPr>
        <p:spPr>
          <a:xfrm>
            <a:off x="10214893" y="1874520"/>
            <a:ext cx="1428162" cy="1097280"/>
          </a:xfrm>
          <a:prstGeom prst="rect">
            <a:avLst/>
          </a:prstGeom>
          <a:noFill/>
          <a:ln/>
        </p:spPr>
        <p:txBody>
          <a:bodyPr wrap="square" lIns="762" tIns="762" rIns="762" bIns="762" rtlCol="0" anchor="t"/>
          <a:lstStyle/>
          <a:p>
            <a:pPr algn="l" indent="0" marL="0">
              <a:lnSpc>
                <a:spcPct val="100000"/>
              </a:lnSpc>
              <a:buNone/>
            </a:pPr>
            <a:r>
              <a:rPr lang="en-US" sz="950" dirty="0">
                <a:solidFill>
                  <a:srgbClr val="17252C"/>
                </a:solidFill>
                <a:latin typeface="Calibri" pitchFamily="34" charset="0"/>
                <a:ea typeface="Calibri" pitchFamily="34" charset="-122"/>
                <a:cs typeface="Calibri" pitchFamily="34" charset="-120"/>
              </a:rPr>
              <a:t>every .jtl sample joined to its log line on request_id, then summarised</a:t>
            </a:r>
            <a:endParaRPr lang="en-US" sz="950" dirty="0"/>
          </a:p>
        </p:txBody>
      </p:sp>
      <p:sp>
        <p:nvSpPr>
          <p:cNvPr id="26" name="Shape 24"/>
          <p:cNvSpPr/>
          <p:nvPr/>
        </p:nvSpPr>
        <p:spPr>
          <a:xfrm>
            <a:off x="502920" y="3154680"/>
            <a:ext cx="11185855" cy="566928"/>
          </a:xfrm>
          <a:prstGeom prst="roundRect">
            <a:avLst>
              <a:gd name="adj" fmla="val 12903"/>
            </a:avLst>
          </a:prstGeom>
          <a:solidFill>
            <a:srgbClr val="EEF3F4"/>
          </a:solidFill>
          <a:ln w="12700">
            <a:solidFill>
              <a:srgbClr val="EEF3F4"/>
            </a:solidFill>
            <a:prstDash val="solid"/>
          </a:ln>
        </p:spPr>
      </p:sp>
      <p:sp>
        <p:nvSpPr>
          <p:cNvPr id="27" name="Text 25"/>
          <p:cNvSpPr txBox="1"/>
          <p:nvPr/>
        </p:nvSpPr>
        <p:spPr>
          <a:xfrm>
            <a:off x="594360" y="3182112"/>
            <a:ext cx="11002975" cy="512064"/>
          </a:xfrm>
          <a:prstGeom prst="rect">
            <a:avLst/>
          </a:prstGeom>
          <a:noFill/>
          <a:ln/>
        </p:spPr>
        <p:txBody>
          <a:bodyPr wrap="square" lIns="762" tIns="762" rIns="762" bIns="762" rtlCol="0" anchor="ctr"/>
          <a:lstStyle/>
          <a:p>
            <a:pPr algn="l" indent="0" marL="0">
              <a:lnSpc>
                <a:spcPct val="100000"/>
              </a:lnSpc>
              <a:buNone/>
            </a:pPr>
            <a:r>
              <a:rPr lang="en-US" sz="1100" b="1" dirty="0">
                <a:solidFill>
                  <a:srgbClr val="1F6F78"/>
                </a:solidFill>
                <a:latin typeface="Calibri" pitchFamily="34" charset="0"/>
                <a:ea typeface="Calibri" pitchFamily="34" charset="-122"/>
                <a:cs typeface="Calibri" pitchFamily="34" charset="-120"/>
              </a:rPr>
              <a:t>Open Model Thread Group schedule: </a:t>
            </a:r>
            <a:pPr algn="l" indent="0" marL="0">
              <a:lnSpc>
                <a:spcPct val="100000"/>
              </a:lnSpc>
              <a:buNone/>
            </a:pPr>
            <a:r>
              <a:rPr lang="en-US" sz="1100" dirty="0">
                <a:solidFill>
                  <a:srgbClr val="17252C"/>
                </a:solidFill>
                <a:latin typeface="Courier New" pitchFamily="34" charset="0"/>
                <a:ea typeface="Courier New" pitchFamily="34" charset="-122"/>
                <a:cs typeface="Courier New" pitchFamily="34" charset="-120"/>
              </a:rPr>
              <a:t>rate(${rate_per_min}/min) random_arrivals(600 sec) pause(150 sec)</a:t>
            </a:r>
            <a:pPr algn="l" indent="0" marL="0">
              <a:lnSpc>
                <a:spcPct val="100000"/>
              </a:lnSpc>
              <a:buNone/>
            </a:pPr>
            <a:r>
              <a:rPr lang="en-US" sz="1100" dirty="0">
                <a:solidFill>
                  <a:srgbClr val="5B6B73"/>
                </a:solidFill>
                <a:latin typeface="Calibri" pitchFamily="34" charset="0"/>
                <a:ea typeface="Calibri" pitchFamily="34" charset="-122"/>
                <a:cs typeface="Calibri" pitchFamily="34" charset="-120"/>
              </a:rPr>
              <a:t>   — closed-loop thread groups are never used: they self-throttle and hide queue build-up.</a:t>
            </a:r>
            <a:endParaRPr lang="en-US" sz="1100" dirty="0"/>
          </a:p>
        </p:txBody>
      </p:sp>
      <p:sp>
        <p:nvSpPr>
          <p:cNvPr id="28" name="Shape 26"/>
          <p:cNvSpPr/>
          <p:nvPr/>
        </p:nvSpPr>
        <p:spPr>
          <a:xfrm>
            <a:off x="502920" y="3886200"/>
            <a:ext cx="5532120" cy="822960"/>
          </a:xfrm>
          <a:prstGeom prst="roundRect">
            <a:avLst>
              <a:gd name="adj" fmla="val 8889"/>
            </a:avLst>
          </a:prstGeom>
          <a:solidFill>
            <a:srgbClr val="FFFFFF"/>
          </a:solidFill>
          <a:ln w="12700">
            <a:solidFill>
              <a:srgbClr val="C9D5D8"/>
            </a:solidFill>
            <a:prstDash val="solid"/>
          </a:ln>
        </p:spPr>
      </p:sp>
      <p:sp>
        <p:nvSpPr>
          <p:cNvPr id="29" name="Text 27"/>
          <p:cNvSpPr txBox="1"/>
          <p:nvPr/>
        </p:nvSpPr>
        <p:spPr>
          <a:xfrm>
            <a:off x="594360" y="3913632"/>
            <a:ext cx="5349240" cy="768096"/>
          </a:xfrm>
          <a:prstGeom prst="rect">
            <a:avLst/>
          </a:prstGeom>
          <a:noFill/>
          <a:ln/>
        </p:spPr>
        <p:txBody>
          <a:bodyPr wrap="square" lIns="762" tIns="762" rIns="762" bIns="762" rtlCol="0" anchor="ctr"/>
          <a:lstStyle/>
          <a:p>
            <a:pPr algn="l" indent="0" marL="0">
              <a:lnSpc>
                <a:spcPct val="100000"/>
              </a:lnSpc>
              <a:buNone/>
            </a:pPr>
            <a:r>
              <a:rPr lang="en-US" sz="1050" b="1" dirty="0">
                <a:solidFill>
                  <a:srgbClr val="1F6F78"/>
                </a:solidFill>
                <a:latin typeface="Calibri" pitchFamily="34" charset="0"/>
                <a:ea typeface="Calibri" pitchFamily="34" charset="-122"/>
                <a:cs typeface="Calibri" pitchFamily="34" charset="-120"/>
              </a:rPr>
              <a:t>Load  </a:t>
            </a:r>
            <a:pPr algn="l" indent="0" marL="0">
              <a:lnSpc>
                <a:spcPct val="100000"/>
              </a:lnSpc>
              <a:buNone/>
            </a:pPr>
            <a:r>
              <a:rPr lang="en-US" sz="1050" dirty="0">
                <a:solidFill>
                  <a:srgbClr val="17252C"/>
                </a:solidFill>
                <a:latin typeface="Calibri" pitchFamily="34" charset="0"/>
                <a:ea typeface="Calibri" pitchFamily="34" charset="-122"/>
                <a:cs typeface="Calibri" pitchFamily="34" charset="-120"/>
              </a:rPr>
              <a:t>load_post_tickets at 1, 4 and 12 tickets/min; 600 s each; 3 runs per rate per model (36 runs)</a:t>
            </a:r>
            <a:endParaRPr lang="en-US" sz="1050" dirty="0"/>
          </a:p>
        </p:txBody>
      </p:sp>
      <p:sp>
        <p:nvSpPr>
          <p:cNvPr id="30" name="Shape 28"/>
          <p:cNvSpPr/>
          <p:nvPr/>
        </p:nvSpPr>
        <p:spPr>
          <a:xfrm>
            <a:off x="6144768" y="3886200"/>
            <a:ext cx="5532120" cy="822960"/>
          </a:xfrm>
          <a:prstGeom prst="roundRect">
            <a:avLst>
              <a:gd name="adj" fmla="val 8889"/>
            </a:avLst>
          </a:prstGeom>
          <a:solidFill>
            <a:srgbClr val="FFFFFF"/>
          </a:solidFill>
          <a:ln w="12700">
            <a:solidFill>
              <a:srgbClr val="C9D5D8"/>
            </a:solidFill>
            <a:prstDash val="solid"/>
          </a:ln>
        </p:spPr>
      </p:sp>
      <p:sp>
        <p:nvSpPr>
          <p:cNvPr id="31" name="Text 29"/>
          <p:cNvSpPr txBox="1"/>
          <p:nvPr/>
        </p:nvSpPr>
        <p:spPr>
          <a:xfrm>
            <a:off x="6236208" y="3913632"/>
            <a:ext cx="5349240" cy="768096"/>
          </a:xfrm>
          <a:prstGeom prst="rect">
            <a:avLst/>
          </a:prstGeom>
          <a:noFill/>
          <a:ln/>
        </p:spPr>
        <p:txBody>
          <a:bodyPr wrap="square" lIns="762" tIns="762" rIns="762" bIns="762" rtlCol="0" anchor="ctr"/>
          <a:lstStyle/>
          <a:p>
            <a:pPr algn="l" indent="0" marL="0">
              <a:lnSpc>
                <a:spcPct val="100000"/>
              </a:lnSpc>
              <a:buNone/>
            </a:pPr>
            <a:r>
              <a:rPr lang="en-US" sz="1050" b="1" dirty="0">
                <a:solidFill>
                  <a:srgbClr val="1F6F78"/>
                </a:solidFill>
                <a:latin typeface="Calibri" pitchFamily="34" charset="0"/>
                <a:ea typeface="Calibri" pitchFamily="34" charset="-122"/>
                <a:cs typeface="Calibri" pitchFamily="34" charset="-120"/>
              </a:rPr>
              <a:t>Mixed  </a:t>
            </a:r>
            <a:pPr algn="l" indent="0" marL="0">
              <a:lnSpc>
                <a:spcPct val="100000"/>
              </a:lnSpc>
              <a:buNone/>
            </a:pPr>
            <a:r>
              <a:rPr lang="en-US" sz="1050" dirty="0">
                <a:solidFill>
                  <a:srgbClr val="17252C"/>
                </a:solidFill>
                <a:latin typeface="Calibri" pitchFamily="34" charset="0"/>
                <a:ea typeface="Calibri" pitchFamily="34" charset="-122"/>
                <a:cs typeface="Calibri" pitchFamily="34" charset="-120"/>
              </a:rPr>
              <a:t>mixed_load: 1 ticket/min + 1 search/min, 600 s, 3 runs per model; GET /search judged separately (R5)</a:t>
            </a:r>
            <a:endParaRPr lang="en-US" sz="1050" dirty="0"/>
          </a:p>
        </p:txBody>
      </p:sp>
      <p:sp>
        <p:nvSpPr>
          <p:cNvPr id="32" name="Shape 30"/>
          <p:cNvSpPr/>
          <p:nvPr/>
        </p:nvSpPr>
        <p:spPr>
          <a:xfrm>
            <a:off x="502920" y="4800600"/>
            <a:ext cx="5532120" cy="822960"/>
          </a:xfrm>
          <a:prstGeom prst="roundRect">
            <a:avLst>
              <a:gd name="adj" fmla="val 8889"/>
            </a:avLst>
          </a:prstGeom>
          <a:solidFill>
            <a:srgbClr val="FFFFFF"/>
          </a:solidFill>
          <a:ln w="12700">
            <a:solidFill>
              <a:srgbClr val="C9D5D8"/>
            </a:solidFill>
            <a:prstDash val="solid"/>
          </a:ln>
        </p:spPr>
      </p:sp>
      <p:sp>
        <p:nvSpPr>
          <p:cNvPr id="33" name="Text 31"/>
          <p:cNvSpPr txBox="1"/>
          <p:nvPr/>
        </p:nvSpPr>
        <p:spPr>
          <a:xfrm>
            <a:off x="594360" y="4828032"/>
            <a:ext cx="5349240" cy="768096"/>
          </a:xfrm>
          <a:prstGeom prst="rect">
            <a:avLst/>
          </a:prstGeom>
          <a:noFill/>
          <a:ln/>
        </p:spPr>
        <p:txBody>
          <a:bodyPr wrap="square" lIns="762" tIns="762" rIns="762" bIns="762" rtlCol="0" anchor="ctr"/>
          <a:lstStyle/>
          <a:p>
            <a:pPr algn="l" indent="0" marL="0">
              <a:lnSpc>
                <a:spcPct val="100000"/>
              </a:lnSpc>
              <a:buNone/>
            </a:pPr>
            <a:r>
              <a:rPr lang="en-US" sz="1050" b="1" dirty="0">
                <a:solidFill>
                  <a:srgbClr val="1F6F78"/>
                </a:solidFill>
                <a:latin typeface="Calibri" pitchFamily="34" charset="0"/>
                <a:ea typeface="Calibri" pitchFamily="34" charset="-122"/>
                <a:cs typeface="Calibri" pitchFamily="34" charset="-120"/>
              </a:rPr>
              <a:t>Stress  </a:t>
            </a:r>
            <a:pPr algn="l" indent="0" marL="0">
              <a:lnSpc>
                <a:spcPct val="100000"/>
              </a:lnSpc>
              <a:buNone/>
            </a:pPr>
            <a:r>
              <a:rPr lang="en-US" sz="1050" dirty="0">
                <a:solidFill>
                  <a:srgbClr val="17252C"/>
                </a:solidFill>
                <a:latin typeface="Calibri" pitchFamily="34" charset="0"/>
                <a:ea typeface="Calibri" pitchFamily="34" charset="-122"/>
                <a:cs typeface="Calibri" pitchFamily="34" charset="-120"/>
              </a:rPr>
              <a:t>stress_ramp: 1, 5, 9, 13, 17, 21 tickets/min, 120 s steps + 150 s drain, once per model; then 10–60/min for any model with no limit (decided in advance). Limit = first step with p95 &gt; 10 s or &gt; 5% errors</a:t>
            </a:r>
            <a:endParaRPr lang="en-US" sz="1050" dirty="0"/>
          </a:p>
        </p:txBody>
      </p:sp>
      <p:sp>
        <p:nvSpPr>
          <p:cNvPr id="34" name="Shape 32"/>
          <p:cNvSpPr/>
          <p:nvPr/>
        </p:nvSpPr>
        <p:spPr>
          <a:xfrm>
            <a:off x="6144768" y="4800600"/>
            <a:ext cx="5532120" cy="822960"/>
          </a:xfrm>
          <a:prstGeom prst="roundRect">
            <a:avLst>
              <a:gd name="adj" fmla="val 8889"/>
            </a:avLst>
          </a:prstGeom>
          <a:solidFill>
            <a:srgbClr val="FFFFFF"/>
          </a:solidFill>
          <a:ln w="12700">
            <a:solidFill>
              <a:srgbClr val="C9D5D8"/>
            </a:solidFill>
            <a:prstDash val="solid"/>
          </a:ln>
        </p:spPr>
      </p:sp>
      <p:sp>
        <p:nvSpPr>
          <p:cNvPr id="35" name="Text 33"/>
          <p:cNvSpPr txBox="1"/>
          <p:nvPr/>
        </p:nvSpPr>
        <p:spPr>
          <a:xfrm>
            <a:off x="6236208" y="4828032"/>
            <a:ext cx="5349240" cy="768096"/>
          </a:xfrm>
          <a:prstGeom prst="rect">
            <a:avLst/>
          </a:prstGeom>
          <a:noFill/>
          <a:ln/>
        </p:spPr>
        <p:txBody>
          <a:bodyPr wrap="square" lIns="762" tIns="762" rIns="762" bIns="762" rtlCol="0" anchor="ctr"/>
          <a:lstStyle/>
          <a:p>
            <a:pPr algn="l" indent="0" marL="0">
              <a:lnSpc>
                <a:spcPct val="100000"/>
              </a:lnSpc>
              <a:buNone/>
            </a:pPr>
            <a:r>
              <a:rPr lang="en-US" sz="1050" b="1" dirty="0">
                <a:solidFill>
                  <a:srgbClr val="1F6F78"/>
                </a:solidFill>
                <a:latin typeface="Calibri" pitchFamily="34" charset="0"/>
                <a:ea typeface="Calibri" pitchFamily="34" charset="-122"/>
                <a:cs typeface="Calibri" pitchFamily="34" charset="-120"/>
              </a:rPr>
              <a:t>Accuracy  </a:t>
            </a:r>
            <a:pPr algn="l" indent="0" marL="0">
              <a:lnSpc>
                <a:spcPct val="100000"/>
              </a:lnSpc>
              <a:buNone/>
            </a:pPr>
            <a:r>
              <a:rPr lang="en-US" sz="1050" dirty="0">
                <a:solidFill>
                  <a:srgbClr val="17252C"/>
                </a:solidFill>
                <a:latin typeface="Calibri" pitchFamily="34" charset="0"/>
                <a:ea typeface="Calibri" pitchFamily="34" charset="-122"/>
                <a:cs typeface="Calibri" pitchFamily="34" charset="-120"/>
              </a:rPr>
              <a:t>all 200 golden tickets, one at a time, once per model; the driver never reads the labels; scored afterwards by analysis/accuracy.py</a:t>
            </a:r>
            <a:endParaRPr lang="en-US" sz="1050" dirty="0"/>
          </a:p>
        </p:txBody>
      </p:sp>
      <p:sp>
        <p:nvSpPr>
          <p:cNvPr id="36" name="Text 34"/>
          <p:cNvSpPr txBox="1"/>
          <p:nvPr/>
        </p:nvSpPr>
        <p:spPr>
          <a:xfrm>
            <a:off x="502920" y="5760720"/>
            <a:ext cx="11185855" cy="320040"/>
          </a:xfrm>
          <a:prstGeom prst="rect">
            <a:avLst/>
          </a:prstGeom>
          <a:noFill/>
          <a:ln/>
        </p:spPr>
        <p:txBody>
          <a:bodyPr wrap="square" lIns="0" tIns="0" rIns="0" bIns="0" rtlCol="0" anchor="t"/>
          <a:lstStyle/>
          <a:p>
            <a:pPr algn="l" indent="0" marL="0">
              <a:lnSpc>
                <a:spcPct val="100000"/>
              </a:lnSpc>
              <a:buNone/>
            </a:pPr>
            <a:r>
              <a:rPr lang="en-US" sz="1050" b="1" dirty="0">
                <a:solidFill>
                  <a:srgbClr val="1F6F78"/>
                </a:solidFill>
                <a:latin typeface="Calibri" pitchFamily="34" charset="0"/>
                <a:ea typeface="Calibri" pitchFamily="34" charset="-122"/>
                <a:cs typeface="Calibri" pitchFamily="34" charset="-120"/>
              </a:rPr>
              <a:t>Reproduce: </a:t>
            </a:r>
            <a:pPr algn="l" indent="0" marL="0">
              <a:lnSpc>
                <a:spcPct val="100000"/>
              </a:lnSpc>
              <a:buNone/>
            </a:pPr>
            <a:r>
              <a:rPr lang="en-US" sz="1050" dirty="0">
                <a:solidFill>
                  <a:srgbClr val="17252C"/>
                </a:solidFill>
                <a:latin typeface="Courier New" pitchFamily="34" charset="0"/>
                <a:ea typeface="Courier New" pitchFamily="34" charset="-122"/>
                <a:cs typeface="Courier New" pitchFamily="34" charset="-120"/>
              </a:rPr>
              <a:t>SERVICE_SSH=&lt;user&gt;@&lt;host&gt; TARGET_HOST=&lt;host&gt; scripts/run_campaign.sh</a:t>
            </a:r>
            <a:pPr algn="l" indent="0" marL="0">
              <a:lnSpc>
                <a:spcPct val="100000"/>
              </a:lnSpc>
              <a:buNone/>
            </a:pPr>
            <a:r>
              <a:rPr lang="en-US" sz="1050" dirty="0">
                <a:solidFill>
                  <a:srgbClr val="17252C"/>
                </a:solidFill>
                <a:latin typeface="Calibri" pitchFamily="34" charset="0"/>
                <a:ea typeface="Calibri" pitchFamily="34" charset="-122"/>
                <a:cs typeface="Calibri" pitchFamily="34" charset="-120"/>
              </a:rPr>
              <a:t>  then  </a:t>
            </a:r>
            <a:pPr algn="l" indent="0" marL="0">
              <a:lnSpc>
                <a:spcPct val="100000"/>
              </a:lnSpc>
              <a:buNone/>
            </a:pPr>
            <a:r>
              <a:rPr lang="en-US" sz="1050" dirty="0">
                <a:solidFill>
                  <a:srgbClr val="17252C"/>
                </a:solidFill>
                <a:latin typeface="Courier New" pitchFamily="34" charset="0"/>
                <a:ea typeface="Courier New" pitchFamily="34" charset="-122"/>
                <a:cs typeface="Courier New" pitchFamily="34" charset="-120"/>
              </a:rPr>
              <a:t>scripts/run_analysis.sh</a:t>
            </a:r>
            <a:endParaRPr lang="en-US" sz="1050" dirty="0"/>
          </a:p>
        </p:txBody>
      </p:sp>
      <p:sp>
        <p:nvSpPr>
          <p:cNvPr id="25" name="Slide Number Placeholder 0"/>
          <p:cNvSpPr>
            <a:spLocks noGrp="1"/>
          </p:cNvSpPr>
          <p:nvPr>
            <p:ph type="sldNum" sz="quarter" idx="4294967295"/>
          </p:nvPr>
        </p:nvSpPr>
        <p:spPr>
          <a:xfrm>
            <a:off x="11231575"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B7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02920" y="292608"/>
            <a:ext cx="11185855" cy="566928"/>
          </a:xfrm>
          <a:prstGeom prst="rect">
            <a:avLst/>
          </a:prstGeom>
          <a:noFill/>
          <a:ln/>
        </p:spPr>
        <p:txBody>
          <a:bodyPr wrap="square" lIns="0" tIns="0" rIns="0" bIns="0" rtlCol="0" anchor="ctr"/>
          <a:lstStyle/>
          <a:p>
            <a:pPr indent="0" marL="0">
              <a:buNone/>
            </a:pPr>
            <a:r>
              <a:rPr lang="en-US" sz="2800" b="1" dirty="0">
                <a:solidFill>
                  <a:srgbClr val="17252C"/>
                </a:solidFill>
                <a:latin typeface="Cambria" pitchFamily="34" charset="0"/>
                <a:ea typeface="Cambria" pitchFamily="34" charset="-122"/>
                <a:cs typeface="Cambria" pitchFamily="34" charset="-120"/>
              </a:rPr>
              <a:t>Load and stress test results</a:t>
            </a:r>
            <a:endParaRPr lang="en-US" sz="2800" dirty="0"/>
          </a:p>
        </p:txBody>
      </p:sp>
      <p:sp>
        <p:nvSpPr>
          <p:cNvPr id="3" name="Text 1"/>
          <p:cNvSpPr txBox="1"/>
          <p:nvPr/>
        </p:nvSpPr>
        <p:spPr>
          <a:xfrm>
            <a:off x="502920" y="868680"/>
            <a:ext cx="11185855" cy="411480"/>
          </a:xfrm>
          <a:prstGeom prst="rect">
            <a:avLst/>
          </a:prstGeom>
          <a:noFill/>
          <a:ln/>
        </p:spPr>
        <p:txBody>
          <a:bodyPr wrap="square" lIns="0" tIns="0" rIns="0" bIns="0" rtlCol="0" anchor="t"/>
          <a:lstStyle/>
          <a:p>
            <a:pPr indent="0" marL="0">
              <a:buNone/>
            </a:pPr>
            <a:r>
              <a:rPr lang="en-US" sz="1500" dirty="0">
                <a:solidFill>
                  <a:srgbClr val="1F6F78"/>
                </a:solidFill>
                <a:latin typeface="Calibri" pitchFamily="34" charset="0"/>
                <a:ea typeface="Calibri" pitchFamily="34" charset="-122"/>
                <a:cs typeface="Calibri" pitchFamily="34" charset="-120"/>
              </a:rPr>
              <a:t>All four models meet R1, R2 and R5; their stress limits (21 to over 60 per minute) sit far above the modelled peak of 0.024/min.</a:t>
            </a:r>
            <a:endParaRPr lang="en-US" sz="1500" dirty="0"/>
          </a:p>
        </p:txBody>
      </p:sp>
      <p:sp>
        <p:nvSpPr>
          <p:cNvPr id="4" name="Text 2"/>
          <p:cNvSpPr txBox="1"/>
          <p:nvPr/>
        </p:nvSpPr>
        <p:spPr>
          <a:xfrm>
            <a:off x="502920" y="6446520"/>
            <a:ext cx="10362895" cy="292608"/>
          </a:xfrm>
          <a:prstGeom prst="rect">
            <a:avLst/>
          </a:prstGeom>
          <a:noFill/>
          <a:ln/>
        </p:spPr>
        <p:txBody>
          <a:bodyPr wrap="square" lIns="0" tIns="0" rIns="0" bIns="0" rtlCol="0" anchor="ctr"/>
          <a:lstStyle/>
          <a:p>
            <a:pPr indent="0" marL="0">
              <a:buNone/>
            </a:pPr>
            <a:r>
              <a:rPr lang="en-US" sz="900" dirty="0">
                <a:solidFill>
                  <a:srgbClr val="5B6B73"/>
                </a:solidFill>
                <a:latin typeface="Calibri" pitchFamily="34" charset="0"/>
                <a:ea typeface="Calibri" pitchFamily="34" charset="-122"/>
                <a:cs typeface="Calibri" pitchFamily="34" charset="-120"/>
              </a:rPr>
              <a:t>Source: analysis/output/load/load_per_run.csv — mean (min–max) of three runs; analysis/output/stress/, analysis/output/bottleneck/; every run reconciled (analysis/output/reconcile/SUMMARY.md)</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7360920" cy="914400"/>
        </p:xfrm>
        <a:graphic>
          <a:graphicData uri="http://schemas.openxmlformats.org/drawingml/2006/table">
            <a:tbl>
              <a:tblPr/>
              <a:tblGrid>
                <a:gridCol w="1188720"/>
                <a:gridCol w="548640"/>
                <a:gridCol w="1280160"/>
                <a:gridCol w="1325880"/>
                <a:gridCol w="1280160"/>
                <a:gridCol w="1005840"/>
                <a:gridCol w="731520"/>
              </a:tblGrid>
              <a:tr h="0">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Model</a:t>
                      </a:r>
                      <a:endParaRPr lang="en-US" sz="90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Rate /min</a:t>
                      </a:r>
                      <a:endParaRPr lang="en-US" sz="90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p50</a:t>
                      </a:r>
                      <a:endParaRPr lang="en-US" sz="90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p95</a:t>
                      </a:r>
                      <a:endParaRPr lang="en-US" sz="90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p99</a:t>
                      </a:r>
                      <a:endParaRPr lang="en-US" sz="90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OK tickets /h</a:t>
                      </a:r>
                      <a:endParaRPr lang="en-US" sz="90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Errors</a:t>
                      </a:r>
                      <a:endParaRPr lang="en-US" sz="90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r>
              <a:tr h="0">
                <a:tc>
                  <a:txBody>
                    <a:bodyPr/>
                    <a:lstStyle/>
                    <a:p>
                      <a:pPr algn="l" indent="0" marL="0">
                        <a:buNone/>
                      </a:pPr>
                      <a:r>
                        <a:rPr lang="en-US" sz="850" b="1" dirty="0">
                          <a:solidFill>
                            <a:srgbClr val="17252C"/>
                          </a:solidFill>
                          <a:latin typeface="Calibri" pitchFamily="34" charset="0"/>
                          <a:ea typeface="Calibri" pitchFamily="34" charset="-122"/>
                          <a:cs typeface="Calibri" pitchFamily="34" charset="-120"/>
                        </a:rPr>
                        <a:t>llama3.2:1b q4_K_M</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850" dirty="0">
                          <a:solidFill>
                            <a:srgbClr val="17252C"/>
                          </a:solidFill>
                          <a:latin typeface="Calibri" pitchFamily="34" charset="0"/>
                          <a:ea typeface="Calibri" pitchFamily="34" charset="-122"/>
                          <a:cs typeface="Calibri" pitchFamily="34" charset="-120"/>
                        </a:rPr>
                        <a:t>501 (423–594) ms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l" indent="0" marL="0">
                        <a:buNone/>
                      </a:pPr>
                      <a:r>
                        <a:rPr lang="en-US" sz="850" dirty="0">
                          <a:solidFill>
                            <a:srgbClr val="17252C"/>
                          </a:solidFill>
                          <a:latin typeface="Calibri" pitchFamily="34" charset="0"/>
                          <a:ea typeface="Calibri" pitchFamily="34" charset="-122"/>
                          <a:cs typeface="Calibri" pitchFamily="34" charset="-120"/>
                        </a:rPr>
                        <a:t>765 (611–959) ms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850" dirty="0">
                          <a:solidFill>
                            <a:srgbClr val="17252C"/>
                          </a:solidFill>
                          <a:latin typeface="Calibri" pitchFamily="34" charset="0"/>
                          <a:ea typeface="Calibri" pitchFamily="34" charset="-122"/>
                          <a:cs typeface="Calibri" pitchFamily="34" charset="-120"/>
                        </a:rPr>
                        <a:t>802 (640–978) ms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91 (75–114)</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0.0%</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r>
              <a:tr h="0">
                <a:tc>
                  <a:txBody>
                    <a:bodyPr/>
                    <a:lstStyle/>
                    <a:p>
                      <a:pPr indent="0" marL="0">
                        <a:buNone/>
                      </a:pP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850" dirty="0">
                          <a:solidFill>
                            <a:srgbClr val="17252C"/>
                          </a:solidFill>
                          <a:latin typeface="Calibri" pitchFamily="34" charset="0"/>
                          <a:ea typeface="Calibri" pitchFamily="34" charset="-122"/>
                          <a:cs typeface="Calibri" pitchFamily="34" charset="-120"/>
                        </a:rPr>
                        <a:t>561 (486–673) ms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l" indent="0" marL="0">
                        <a:buNone/>
                      </a:pPr>
                      <a:r>
                        <a:rPr lang="en-US" sz="850" dirty="0">
                          <a:solidFill>
                            <a:srgbClr val="17252C"/>
                          </a:solidFill>
                          <a:latin typeface="Calibri" pitchFamily="34" charset="0"/>
                          <a:ea typeface="Calibri" pitchFamily="34" charset="-122"/>
                          <a:cs typeface="Calibri" pitchFamily="34" charset="-120"/>
                        </a:rPr>
                        <a:t>1.0 (1.0–1.0)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850" dirty="0">
                          <a:solidFill>
                            <a:srgbClr val="17252C"/>
                          </a:solidFill>
                          <a:latin typeface="Calibri" pitchFamily="34" charset="0"/>
                          <a:ea typeface="Calibri" pitchFamily="34" charset="-122"/>
                          <a:cs typeface="Calibri" pitchFamily="34" charset="-120"/>
                        </a:rPr>
                        <a:t>1.2 (1.1–1.5)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253 (243–259)</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0.0%</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r>
              <a:tr h="0">
                <a:tc>
                  <a:txBody>
                    <a:bodyPr/>
                    <a:lstStyle/>
                    <a:p>
                      <a:pPr indent="0" marL="0">
                        <a:buNone/>
                      </a:pP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12</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850" dirty="0">
                          <a:solidFill>
                            <a:srgbClr val="17252C"/>
                          </a:solidFill>
                          <a:latin typeface="Calibri" pitchFamily="34" charset="0"/>
                          <a:ea typeface="Calibri" pitchFamily="34" charset="-122"/>
                          <a:cs typeface="Calibri" pitchFamily="34" charset="-120"/>
                        </a:rPr>
                        <a:t>520 (437–638) ms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l" indent="0" marL="0">
                        <a:buNone/>
                      </a:pPr>
                      <a:r>
                        <a:rPr lang="en-US" sz="850" dirty="0">
                          <a:solidFill>
                            <a:srgbClr val="17252C"/>
                          </a:solidFill>
                          <a:latin typeface="Calibri" pitchFamily="34" charset="0"/>
                          <a:ea typeface="Calibri" pitchFamily="34" charset="-122"/>
                          <a:cs typeface="Calibri" pitchFamily="34" charset="-120"/>
                        </a:rPr>
                        <a:t>1.0 (0.9–1.2)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850" dirty="0">
                          <a:solidFill>
                            <a:srgbClr val="17252C"/>
                          </a:solidFill>
                          <a:latin typeface="Calibri" pitchFamily="34" charset="0"/>
                          <a:ea typeface="Calibri" pitchFamily="34" charset="-122"/>
                          <a:cs typeface="Calibri" pitchFamily="34" charset="-120"/>
                        </a:rPr>
                        <a:t>1.3 (1.1–1.6)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729 (723–741)</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0.0%</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r>
              <a:tr h="0">
                <a:tc>
                  <a:txBody>
                    <a:bodyPr/>
                    <a:lstStyle/>
                    <a:p>
                      <a:pPr algn="l" indent="0" marL="0">
                        <a:buNone/>
                      </a:pPr>
                      <a:r>
                        <a:rPr lang="en-US" sz="850" b="1" dirty="0">
                          <a:solidFill>
                            <a:srgbClr val="17252C"/>
                          </a:solidFill>
                          <a:latin typeface="Calibri" pitchFamily="34" charset="0"/>
                          <a:ea typeface="Calibri" pitchFamily="34" charset="-122"/>
                          <a:cs typeface="Calibri" pitchFamily="34" charset="-120"/>
                        </a:rPr>
                        <a:t>llama3.2:3b</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850" dirty="0">
                          <a:solidFill>
                            <a:srgbClr val="17252C"/>
                          </a:solidFill>
                          <a:latin typeface="Calibri" pitchFamily="34" charset="0"/>
                          <a:ea typeface="Calibri" pitchFamily="34" charset="-122"/>
                          <a:cs typeface="Calibri" pitchFamily="34" charset="-120"/>
                        </a:rPr>
                        <a:t>1.2 (1.0–1.4)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l" indent="0" marL="0">
                        <a:buNone/>
                      </a:pPr>
                      <a:r>
                        <a:rPr lang="en-US" sz="850" dirty="0">
                          <a:solidFill>
                            <a:srgbClr val="17252C"/>
                          </a:solidFill>
                          <a:latin typeface="Calibri" pitchFamily="34" charset="0"/>
                          <a:ea typeface="Calibri" pitchFamily="34" charset="-122"/>
                          <a:cs typeface="Calibri" pitchFamily="34" charset="-120"/>
                        </a:rPr>
                        <a:t>2.1 (1.7–2.3)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850" dirty="0">
                          <a:solidFill>
                            <a:srgbClr val="17252C"/>
                          </a:solidFill>
                          <a:latin typeface="Calibri" pitchFamily="34" charset="0"/>
                          <a:ea typeface="Calibri" pitchFamily="34" charset="-122"/>
                          <a:cs typeface="Calibri" pitchFamily="34" charset="-120"/>
                        </a:rPr>
                        <a:t>2.3 (2.1–2.5)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83 (70–105)</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0.0%</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r>
              <a:tr h="0">
                <a:tc>
                  <a:txBody>
                    <a:bodyPr/>
                    <a:lstStyle/>
                    <a:p>
                      <a:pPr indent="0" marL="0">
                        <a:buNone/>
                      </a:pP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850" dirty="0">
                          <a:solidFill>
                            <a:srgbClr val="17252C"/>
                          </a:solidFill>
                          <a:latin typeface="Calibri" pitchFamily="34" charset="0"/>
                          <a:ea typeface="Calibri" pitchFamily="34" charset="-122"/>
                          <a:cs typeface="Calibri" pitchFamily="34" charset="-120"/>
                        </a:rPr>
                        <a:t>1.0 (0.9–1.1)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l" indent="0" marL="0">
                        <a:buNone/>
                      </a:pPr>
                      <a:r>
                        <a:rPr lang="en-US" sz="850" dirty="0">
                          <a:solidFill>
                            <a:srgbClr val="17252C"/>
                          </a:solidFill>
                          <a:latin typeface="Calibri" pitchFamily="34" charset="0"/>
                          <a:ea typeface="Calibri" pitchFamily="34" charset="-122"/>
                          <a:cs typeface="Calibri" pitchFamily="34" charset="-120"/>
                        </a:rPr>
                        <a:t>2.4 (2.3–2.5)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850" dirty="0">
                          <a:solidFill>
                            <a:srgbClr val="17252C"/>
                          </a:solidFill>
                          <a:latin typeface="Calibri" pitchFamily="34" charset="0"/>
                          <a:ea typeface="Calibri" pitchFamily="34" charset="-122"/>
                          <a:cs typeface="Calibri" pitchFamily="34" charset="-120"/>
                        </a:rPr>
                        <a:t>2.9 (2.6–3.5)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251 (245–257)</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0.0%</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r>
              <a:tr h="0">
                <a:tc>
                  <a:txBody>
                    <a:bodyPr/>
                    <a:lstStyle/>
                    <a:p>
                      <a:pPr indent="0" marL="0">
                        <a:buNone/>
                      </a:pP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12</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850" dirty="0">
                          <a:solidFill>
                            <a:srgbClr val="17252C"/>
                          </a:solidFill>
                          <a:latin typeface="Calibri" pitchFamily="34" charset="0"/>
                          <a:ea typeface="Calibri" pitchFamily="34" charset="-122"/>
                          <a:cs typeface="Calibri" pitchFamily="34" charset="-120"/>
                        </a:rPr>
                        <a:t>1.2 (1.0–1.5)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l" indent="0" marL="0">
                        <a:buNone/>
                      </a:pPr>
                      <a:r>
                        <a:rPr lang="en-US" sz="850" dirty="0">
                          <a:solidFill>
                            <a:srgbClr val="17252C"/>
                          </a:solidFill>
                          <a:latin typeface="Calibri" pitchFamily="34" charset="0"/>
                          <a:ea typeface="Calibri" pitchFamily="34" charset="-122"/>
                          <a:cs typeface="Calibri" pitchFamily="34" charset="-120"/>
                        </a:rPr>
                        <a:t>2.8 (2.4–3.5)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850" dirty="0">
                          <a:solidFill>
                            <a:srgbClr val="17252C"/>
                          </a:solidFill>
                          <a:latin typeface="Calibri" pitchFamily="34" charset="0"/>
                          <a:ea typeface="Calibri" pitchFamily="34" charset="-122"/>
                          <a:cs typeface="Calibri" pitchFamily="34" charset="-120"/>
                        </a:rPr>
                        <a:t>3.2 (3.0–3.7)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739 (736–742)</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0.0%</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r>
              <a:tr h="0">
                <a:tc>
                  <a:txBody>
                    <a:bodyPr/>
                    <a:lstStyle/>
                    <a:p>
                      <a:pPr algn="l" indent="0" marL="0">
                        <a:buNone/>
                      </a:pPr>
                      <a:r>
                        <a:rPr lang="en-US" sz="850" b="1" dirty="0">
                          <a:solidFill>
                            <a:srgbClr val="17252C"/>
                          </a:solidFill>
                          <a:latin typeface="Calibri" pitchFamily="34" charset="0"/>
                          <a:ea typeface="Calibri" pitchFamily="34" charset="-122"/>
                          <a:cs typeface="Calibri" pitchFamily="34" charset="-120"/>
                        </a:rPr>
                        <a:t>granite4:3b</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850" dirty="0">
                          <a:solidFill>
                            <a:srgbClr val="17252C"/>
                          </a:solidFill>
                          <a:latin typeface="Calibri" pitchFamily="34" charset="0"/>
                          <a:ea typeface="Calibri" pitchFamily="34" charset="-122"/>
                          <a:cs typeface="Calibri" pitchFamily="34" charset="-120"/>
                        </a:rPr>
                        <a:t>1.1 (0.8–1.5)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l" indent="0" marL="0">
                        <a:buNone/>
                      </a:pPr>
                      <a:r>
                        <a:rPr lang="en-US" sz="850" dirty="0">
                          <a:solidFill>
                            <a:srgbClr val="17252C"/>
                          </a:solidFill>
                          <a:latin typeface="Calibri" pitchFamily="34" charset="0"/>
                          <a:ea typeface="Calibri" pitchFamily="34" charset="-122"/>
                          <a:cs typeface="Calibri" pitchFamily="34" charset="-120"/>
                        </a:rPr>
                        <a:t>1.8 (1.3–2.4)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850" dirty="0">
                          <a:solidFill>
                            <a:srgbClr val="17252C"/>
                          </a:solidFill>
                          <a:latin typeface="Calibri" pitchFamily="34" charset="0"/>
                          <a:ea typeface="Calibri" pitchFamily="34" charset="-122"/>
                          <a:cs typeface="Calibri" pitchFamily="34" charset="-120"/>
                        </a:rPr>
                        <a:t>2.0 (1.3–2.5)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74 (73–75)</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0.0%</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r>
              <a:tr h="0">
                <a:tc>
                  <a:txBody>
                    <a:bodyPr/>
                    <a:lstStyle/>
                    <a:p>
                      <a:pPr indent="0" marL="0">
                        <a:buNone/>
                      </a:pP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850" dirty="0">
                          <a:solidFill>
                            <a:srgbClr val="17252C"/>
                          </a:solidFill>
                          <a:latin typeface="Calibri" pitchFamily="34" charset="0"/>
                          <a:ea typeface="Calibri" pitchFamily="34" charset="-122"/>
                          <a:cs typeface="Calibri" pitchFamily="34" charset="-120"/>
                        </a:rPr>
                        <a:t>1.3 (1.0–1.5)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l" indent="0" marL="0">
                        <a:buNone/>
                      </a:pPr>
                      <a:r>
                        <a:rPr lang="en-US" sz="850" dirty="0">
                          <a:solidFill>
                            <a:srgbClr val="17252C"/>
                          </a:solidFill>
                          <a:latin typeface="Calibri" pitchFamily="34" charset="0"/>
                          <a:ea typeface="Calibri" pitchFamily="34" charset="-122"/>
                          <a:cs typeface="Calibri" pitchFamily="34" charset="-120"/>
                        </a:rPr>
                        <a:t>2.8 (2.7–3.0)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850" dirty="0">
                          <a:solidFill>
                            <a:srgbClr val="17252C"/>
                          </a:solidFill>
                          <a:latin typeface="Calibri" pitchFamily="34" charset="0"/>
                          <a:ea typeface="Calibri" pitchFamily="34" charset="-122"/>
                          <a:cs typeface="Calibri" pitchFamily="34" charset="-120"/>
                        </a:rPr>
                        <a:t>3.2 (3.1–3.4)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256 (256–257)</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0.0%</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r>
              <a:tr h="0">
                <a:tc>
                  <a:txBody>
                    <a:bodyPr/>
                    <a:lstStyle/>
                    <a:p>
                      <a:pPr indent="0" marL="0">
                        <a:buNone/>
                      </a:pP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12</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850" dirty="0">
                          <a:solidFill>
                            <a:srgbClr val="17252C"/>
                          </a:solidFill>
                          <a:latin typeface="Calibri" pitchFamily="34" charset="0"/>
                          <a:ea typeface="Calibri" pitchFamily="34" charset="-122"/>
                          <a:cs typeface="Calibri" pitchFamily="34" charset="-120"/>
                        </a:rPr>
                        <a:t>1.5 (1.3–1.8)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l" indent="0" marL="0">
                        <a:buNone/>
                      </a:pPr>
                      <a:r>
                        <a:rPr lang="en-US" sz="850" dirty="0">
                          <a:solidFill>
                            <a:srgbClr val="17252C"/>
                          </a:solidFill>
                          <a:latin typeface="Calibri" pitchFamily="34" charset="0"/>
                          <a:ea typeface="Calibri" pitchFamily="34" charset="-122"/>
                          <a:cs typeface="Calibri" pitchFamily="34" charset="-120"/>
                        </a:rPr>
                        <a:t>3.2 (2.9–3.7)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850" dirty="0">
                          <a:solidFill>
                            <a:srgbClr val="17252C"/>
                          </a:solidFill>
                          <a:latin typeface="Calibri" pitchFamily="34" charset="0"/>
                          <a:ea typeface="Calibri" pitchFamily="34" charset="-122"/>
                          <a:cs typeface="Calibri" pitchFamily="34" charset="-120"/>
                        </a:rPr>
                        <a:t>4.6 (3.5–6.1)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727 (722–729)</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0.0%</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r>
              <a:tr h="0">
                <a:tc>
                  <a:txBody>
                    <a:bodyPr/>
                    <a:lstStyle/>
                    <a:p>
                      <a:pPr algn="l" indent="0" marL="0">
                        <a:buNone/>
                      </a:pPr>
                      <a:r>
                        <a:rPr lang="en-US" sz="850" b="1" dirty="0">
                          <a:solidFill>
                            <a:srgbClr val="17252C"/>
                          </a:solidFill>
                          <a:latin typeface="Calibri" pitchFamily="34" charset="0"/>
                          <a:ea typeface="Calibri" pitchFamily="34" charset="-122"/>
                          <a:cs typeface="Calibri" pitchFamily="34" charset="-120"/>
                        </a:rPr>
                        <a:t>qwen2.5:7b</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850" dirty="0">
                          <a:solidFill>
                            <a:srgbClr val="17252C"/>
                          </a:solidFill>
                          <a:latin typeface="Calibri" pitchFamily="34" charset="0"/>
                          <a:ea typeface="Calibri" pitchFamily="34" charset="-122"/>
                          <a:cs typeface="Calibri" pitchFamily="34" charset="-120"/>
                        </a:rPr>
                        <a:t>2.3 (1.4–3.5)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l" indent="0" marL="0">
                        <a:buNone/>
                      </a:pPr>
                      <a:r>
                        <a:rPr lang="en-US" sz="850" dirty="0">
                          <a:solidFill>
                            <a:srgbClr val="17252C"/>
                          </a:solidFill>
                          <a:latin typeface="Calibri" pitchFamily="34" charset="0"/>
                          <a:ea typeface="Calibri" pitchFamily="34" charset="-122"/>
                          <a:cs typeface="Calibri" pitchFamily="34" charset="-120"/>
                        </a:rPr>
                        <a:t>4.0 (2.6–5.5)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850" dirty="0">
                          <a:solidFill>
                            <a:srgbClr val="17252C"/>
                          </a:solidFill>
                          <a:latin typeface="Calibri" pitchFamily="34" charset="0"/>
                          <a:ea typeface="Calibri" pitchFamily="34" charset="-122"/>
                          <a:cs typeface="Calibri" pitchFamily="34" charset="-120"/>
                        </a:rPr>
                        <a:t>4.2 (2.6–5.6)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64 (63–66)</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0.0%</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r>
              <a:tr h="0">
                <a:tc>
                  <a:txBody>
                    <a:bodyPr/>
                    <a:lstStyle/>
                    <a:p>
                      <a:pPr indent="0" marL="0">
                        <a:buNone/>
                      </a:pP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850" dirty="0">
                          <a:solidFill>
                            <a:srgbClr val="17252C"/>
                          </a:solidFill>
                          <a:latin typeface="Calibri" pitchFamily="34" charset="0"/>
                          <a:ea typeface="Calibri" pitchFamily="34" charset="-122"/>
                          <a:cs typeface="Calibri" pitchFamily="34" charset="-120"/>
                        </a:rPr>
                        <a:t>2.2 (1.6–2.7)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l" indent="0" marL="0">
                        <a:buNone/>
                      </a:pPr>
                      <a:r>
                        <a:rPr lang="en-US" sz="850" dirty="0">
                          <a:solidFill>
                            <a:srgbClr val="17252C"/>
                          </a:solidFill>
                          <a:latin typeface="Calibri" pitchFamily="34" charset="0"/>
                          <a:ea typeface="Calibri" pitchFamily="34" charset="-122"/>
                          <a:cs typeface="Calibri" pitchFamily="34" charset="-120"/>
                        </a:rPr>
                        <a:t>7.0 (5.1–9.4)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850" dirty="0">
                          <a:solidFill>
                            <a:srgbClr val="17252C"/>
                          </a:solidFill>
                          <a:latin typeface="Calibri" pitchFamily="34" charset="0"/>
                          <a:ea typeface="Calibri" pitchFamily="34" charset="-122"/>
                          <a:cs typeface="Calibri" pitchFamily="34" charset="-120"/>
                        </a:rPr>
                        <a:t>8.5 (5.5–12.2)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253 (251–255)</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0.0%</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r>
              <a:tr h="0">
                <a:tc>
                  <a:txBody>
                    <a:bodyPr/>
                    <a:lstStyle/>
                    <a:p>
                      <a:pPr indent="0" marL="0">
                        <a:buNone/>
                      </a:pP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12</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850" dirty="0">
                          <a:solidFill>
                            <a:srgbClr val="17252C"/>
                          </a:solidFill>
                          <a:latin typeface="Calibri" pitchFamily="34" charset="0"/>
                          <a:ea typeface="Calibri" pitchFamily="34" charset="-122"/>
                          <a:cs typeface="Calibri" pitchFamily="34" charset="-120"/>
                        </a:rPr>
                        <a:t>2.7 (1.9–3.6)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l" indent="0" marL="0">
                        <a:buNone/>
                      </a:pPr>
                      <a:r>
                        <a:rPr lang="en-US" sz="850" dirty="0">
                          <a:solidFill>
                            <a:srgbClr val="17252C"/>
                          </a:solidFill>
                          <a:latin typeface="Calibri" pitchFamily="34" charset="0"/>
                          <a:ea typeface="Calibri" pitchFamily="34" charset="-122"/>
                          <a:cs typeface="Calibri" pitchFamily="34" charset="-120"/>
                        </a:rPr>
                        <a:t>6.9 (5.0–9.0)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850" dirty="0">
                          <a:solidFill>
                            <a:srgbClr val="17252C"/>
                          </a:solidFill>
                          <a:latin typeface="Calibri" pitchFamily="34" charset="0"/>
                          <a:ea typeface="Calibri" pitchFamily="34" charset="-122"/>
                          <a:cs typeface="Calibri" pitchFamily="34" charset="-120"/>
                        </a:rPr>
                        <a:t>8.6 (7.0–10.2)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725 (717–737)</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0.0%</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r>
            </a:tbl>
          </a:graphicData>
        </a:graphic>
      </p:graphicFrame>
      <p:sp>
        <p:nvSpPr>
          <p:cNvPr id="6" name="Text 3"/>
          <p:cNvSpPr txBox="1"/>
          <p:nvPr/>
        </p:nvSpPr>
        <p:spPr>
          <a:xfrm>
            <a:off x="502920" y="4407408"/>
            <a:ext cx="7360920" cy="274320"/>
          </a:xfrm>
          <a:prstGeom prst="rect">
            <a:avLst/>
          </a:prstGeom>
          <a:noFill/>
          <a:ln/>
        </p:spPr>
        <p:txBody>
          <a:bodyPr wrap="square" lIns="0" tIns="0" rIns="0" bIns="0" rtlCol="0" anchor="t"/>
          <a:lstStyle/>
          <a:p>
            <a:pPr algn="l" indent="0" marL="0">
              <a:lnSpc>
                <a:spcPct val="100000"/>
              </a:lnSpc>
              <a:buNone/>
            </a:pPr>
            <a:r>
              <a:rPr lang="en-US" sz="900" b="1" dirty="0">
                <a:solidFill>
                  <a:srgbClr val="1F6F78"/>
                </a:solidFill>
                <a:latin typeface="Calibri" pitchFamily="34" charset="0"/>
                <a:ea typeface="Calibri" pitchFamily="34" charset="-122"/>
                <a:cs typeface="Calibri" pitchFamily="34" charset="-120"/>
              </a:rPr>
              <a:t>Mixed load (R5, GET /search p95 ≤ 2 s, worst of 3 runs): </a:t>
            </a:r>
            <a:pPr algn="l" indent="0" marL="0">
              <a:lnSpc>
                <a:spcPct val="100000"/>
              </a:lnSpc>
              <a:buNone/>
            </a:pPr>
            <a:r>
              <a:rPr lang="en-US" sz="900" dirty="0">
                <a:solidFill>
                  <a:srgbClr val="17252C"/>
                </a:solidFill>
                <a:latin typeface="Calibri" pitchFamily="34" charset="0"/>
                <a:ea typeface="Calibri" pitchFamily="34" charset="-122"/>
                <a:cs typeface="Calibri" pitchFamily="34" charset="-120"/>
              </a:rPr>
              <a:t>llama3.2:1b q4_K_M 17 ms · llama3.2:3b 17 ms · granite4:3b 17 ms · qwen2.5:7b 140 ms</a:t>
            </a:r>
            <a:endParaRPr lang="en-US" sz="900" dirty="0"/>
          </a:p>
        </p:txBody>
      </p:sp>
      <p:sp>
        <p:nvSpPr>
          <p:cNvPr id="7" name="Text 4"/>
          <p:cNvSpPr txBox="1"/>
          <p:nvPr/>
        </p:nvSpPr>
        <p:spPr>
          <a:xfrm>
            <a:off x="502920" y="4727448"/>
            <a:ext cx="7360920" cy="228600"/>
          </a:xfrm>
          <a:prstGeom prst="rect">
            <a:avLst/>
          </a:prstGeom>
          <a:noFill/>
          <a:ln/>
        </p:spPr>
        <p:txBody>
          <a:bodyPr wrap="square" lIns="0" tIns="0" rIns="0" bIns="0" rtlCol="0" anchor="t"/>
          <a:lstStyle/>
          <a:p>
            <a:pPr algn="l" indent="0" marL="0">
              <a:lnSpc>
                <a:spcPct val="100000"/>
              </a:lnSpc>
              <a:buNone/>
            </a:pPr>
            <a:r>
              <a:rPr lang="en-US" sz="850" i="1" dirty="0">
                <a:solidFill>
                  <a:srgbClr val="5B6B73"/>
                </a:solidFill>
                <a:latin typeface="Calibri" pitchFamily="34" charset="0"/>
                <a:ea typeface="Calibri" pitchFamily="34" charset="-122"/>
                <a:cs typeface="Calibri" pitchFamily="34" charset="-120"/>
              </a:rPr>
              <a:t>Red: fails R1 (worst-run p95 &gt; 10 s at 1/min) or R2 (&gt; 5% errors, or a run not finished within 660 s, at 12/min).</a:t>
            </a:r>
            <a:endParaRPr lang="en-US" sz="850" dirty="0"/>
          </a:p>
        </p:txBody>
      </p:sp>
      <p:graphicFrame>
        <p:nvGraphicFramePr>
          <p:cNvPr id="8" name="Chart 0" descr=""/>
          <p:cNvGraphicFramePr/>
          <p:nvPr/>
        </p:nvGraphicFramePr>
        <p:xfrm>
          <a:off x="8001000" y="1261872"/>
          <a:ext cx="3703320" cy="2103120"/>
        </p:xfrm>
        <a:graphic xmlns:a="http://schemas.openxmlformats.org/drawingml/2006/main">
          <a:graphicData uri="http://schemas.openxmlformats.org/drawingml/2006/chart">
            <c:chart xmlns:c="http://schemas.openxmlformats.org/drawingml/2006/chart" r:id="rId1"/>
          </a:graphicData>
        </a:graphic>
      </p:graphicFrame>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8001000" y="3401568"/>
          <a:ext cx="3703320" cy="914400"/>
        </p:xfrm>
        <a:graphic>
          <a:graphicData uri="http://schemas.openxmlformats.org/drawingml/2006/table">
            <a:tbl>
              <a:tblPr/>
              <a:tblGrid>
                <a:gridCol w="1097280"/>
                <a:gridCol w="2606040"/>
              </a:tblGrid>
              <a:tr h="0">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Model</a:t>
                      </a:r>
                      <a:endParaRPr lang="en-US" sz="800" dirty="0">
                        <a:latin typeface="Calibri" charset="0"/>
                        <a:ea typeface="Calibri" charset="0"/>
                        <a:cs typeface="Calibri" charset="0"/>
                      </a:endParaRPr>
                    </a:p>
                  </a:txBody>
                  <a:tcPr marL="38100" marR="38100" marT="12700" marB="127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Limit: first step with p95 &gt; 10 s or &gt; 5% errors</a:t>
                      </a:r>
                      <a:endParaRPr lang="en-US" sz="800" dirty="0">
                        <a:latin typeface="Calibri" charset="0"/>
                        <a:ea typeface="Calibri" charset="0"/>
                        <a:cs typeface="Calibri" charset="0"/>
                      </a:endParaRPr>
                    </a:p>
                  </a:txBody>
                  <a:tcPr marL="38100" marR="38100" marT="12700" marB="127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r>
              <a:tr h="0">
                <a:tc>
                  <a:txBody>
                    <a:bodyPr/>
                    <a:lstStyle/>
                    <a:p>
                      <a:pPr algn="l" indent="0" marL="0">
                        <a:buNone/>
                      </a:pPr>
                      <a:r>
                        <a:rPr lang="en-US" sz="750" b="1" dirty="0">
                          <a:solidFill>
                            <a:srgbClr val="17252C"/>
                          </a:solidFill>
                          <a:latin typeface="Calibri" pitchFamily="34" charset="0"/>
                          <a:ea typeface="Calibri" pitchFamily="34" charset="-122"/>
                          <a:cs typeface="Calibri" pitchFamily="34" charset="-120"/>
                        </a:rPr>
                        <a:t>llama3.2:1b q4_K_M</a:t>
                      </a:r>
                      <a:endParaRPr lang="en-US" sz="750" dirty="0">
                        <a:latin typeface="Calibri" charset="0"/>
                        <a:ea typeface="Calibri" charset="0"/>
                        <a:cs typeface="Calibri" charset="0"/>
                      </a:endParaRPr>
                    </a:p>
                  </a:txBody>
                  <a:tcPr marL="38100" marR="38100" marT="12700" marB="127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l" indent="0" marL="0">
                        <a:buNone/>
                      </a:pPr>
                      <a:r>
                        <a:rPr lang="en-US" sz="750" dirty="0">
                          <a:solidFill>
                            <a:srgbClr val="17252C"/>
                          </a:solidFill>
                          <a:latin typeface="Calibri" pitchFamily="34" charset="0"/>
                          <a:ea typeface="Calibri" pitchFamily="34" charset="-122"/>
                          <a:cs typeface="Calibri" pitchFamily="34" charset="-120"/>
                        </a:rPr>
                        <a:t>1–21/min: none (p95 1.2 s at 21/min); 10–60/min: none (p95 1.8 s at 60/min)</a:t>
                      </a:r>
                      <a:endParaRPr lang="en-US" sz="750" dirty="0">
                        <a:latin typeface="Calibri" charset="0"/>
                        <a:ea typeface="Calibri" charset="0"/>
                        <a:cs typeface="Calibri" charset="0"/>
                      </a:endParaRPr>
                    </a:p>
                  </a:txBody>
                  <a:tcPr marL="38100" marR="38100" marT="12700" marB="127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r>
              <a:tr h="0">
                <a:tc>
                  <a:txBody>
                    <a:bodyPr/>
                    <a:lstStyle/>
                    <a:p>
                      <a:pPr algn="l" indent="0" marL="0">
                        <a:buNone/>
                      </a:pPr>
                      <a:r>
                        <a:rPr lang="en-US" sz="750" b="1" dirty="0">
                          <a:solidFill>
                            <a:srgbClr val="17252C"/>
                          </a:solidFill>
                          <a:latin typeface="Calibri" pitchFamily="34" charset="0"/>
                          <a:ea typeface="Calibri" pitchFamily="34" charset="-122"/>
                          <a:cs typeface="Calibri" pitchFamily="34" charset="-120"/>
                        </a:rPr>
                        <a:t>llama3.2:3b</a:t>
                      </a:r>
                      <a:endParaRPr lang="en-US" sz="750" dirty="0">
                        <a:latin typeface="Calibri" charset="0"/>
                        <a:ea typeface="Calibri" charset="0"/>
                        <a:cs typeface="Calibri" charset="0"/>
                      </a:endParaRPr>
                    </a:p>
                  </a:txBody>
                  <a:tcPr marL="38100" marR="38100" marT="12700" marB="127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l" indent="0" marL="0">
                        <a:buNone/>
                      </a:pPr>
                      <a:r>
                        <a:rPr lang="en-US" sz="750" dirty="0">
                          <a:solidFill>
                            <a:srgbClr val="17252C"/>
                          </a:solidFill>
                          <a:latin typeface="Calibri" pitchFamily="34" charset="0"/>
                          <a:ea typeface="Calibri" pitchFamily="34" charset="-122"/>
                          <a:cs typeface="Calibri" pitchFamily="34" charset="-120"/>
                        </a:rPr>
                        <a:t>1–21/min: none (p95 4.8 s at 21/min); 10–60/min: limit at 40/min (p95 13.6 s, 0% errors)</a:t>
                      </a:r>
                      <a:endParaRPr lang="en-US" sz="750" dirty="0">
                        <a:latin typeface="Calibri" charset="0"/>
                        <a:ea typeface="Calibri" charset="0"/>
                        <a:cs typeface="Calibri" charset="0"/>
                      </a:endParaRPr>
                    </a:p>
                  </a:txBody>
                  <a:tcPr marL="38100" marR="38100" marT="12700" marB="127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r>
              <a:tr h="0">
                <a:tc>
                  <a:txBody>
                    <a:bodyPr/>
                    <a:lstStyle/>
                    <a:p>
                      <a:pPr algn="l" indent="0" marL="0">
                        <a:buNone/>
                      </a:pPr>
                      <a:r>
                        <a:rPr lang="en-US" sz="750" b="1" dirty="0">
                          <a:solidFill>
                            <a:srgbClr val="17252C"/>
                          </a:solidFill>
                          <a:latin typeface="Calibri" pitchFamily="34" charset="0"/>
                          <a:ea typeface="Calibri" pitchFamily="34" charset="-122"/>
                          <a:cs typeface="Calibri" pitchFamily="34" charset="-120"/>
                        </a:rPr>
                        <a:t>granite4:3b</a:t>
                      </a:r>
                      <a:endParaRPr lang="en-US" sz="750" dirty="0">
                        <a:latin typeface="Calibri" charset="0"/>
                        <a:ea typeface="Calibri" charset="0"/>
                        <a:cs typeface="Calibri" charset="0"/>
                      </a:endParaRPr>
                    </a:p>
                  </a:txBody>
                  <a:tcPr marL="38100" marR="38100" marT="12700" marB="127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l" indent="0" marL="0">
                        <a:buNone/>
                      </a:pPr>
                      <a:r>
                        <a:rPr lang="en-US" sz="750" dirty="0">
                          <a:solidFill>
                            <a:srgbClr val="17252C"/>
                          </a:solidFill>
                          <a:latin typeface="Calibri" pitchFamily="34" charset="0"/>
                          <a:ea typeface="Calibri" pitchFamily="34" charset="-122"/>
                          <a:cs typeface="Calibri" pitchFamily="34" charset="-120"/>
                        </a:rPr>
                        <a:t>1–21/min: none (p95 5.8 s at 21/min); 10–60/min: limit at 40/min (p95 14.6 s, 0% errors)</a:t>
                      </a:r>
                      <a:endParaRPr lang="en-US" sz="750" dirty="0">
                        <a:latin typeface="Calibri" charset="0"/>
                        <a:ea typeface="Calibri" charset="0"/>
                        <a:cs typeface="Calibri" charset="0"/>
                      </a:endParaRPr>
                    </a:p>
                  </a:txBody>
                  <a:tcPr marL="38100" marR="38100" marT="12700" marB="127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r>
              <a:tr h="0">
                <a:tc>
                  <a:txBody>
                    <a:bodyPr/>
                    <a:lstStyle/>
                    <a:p>
                      <a:pPr algn="l" indent="0" marL="0">
                        <a:buNone/>
                      </a:pPr>
                      <a:r>
                        <a:rPr lang="en-US" sz="750" b="1" dirty="0">
                          <a:solidFill>
                            <a:srgbClr val="17252C"/>
                          </a:solidFill>
                          <a:latin typeface="Calibri" pitchFamily="34" charset="0"/>
                          <a:ea typeface="Calibri" pitchFamily="34" charset="-122"/>
                          <a:cs typeface="Calibri" pitchFamily="34" charset="-120"/>
                        </a:rPr>
                        <a:t>qwen2.5:7b</a:t>
                      </a:r>
                      <a:endParaRPr lang="en-US" sz="750" dirty="0">
                        <a:latin typeface="Calibri" charset="0"/>
                        <a:ea typeface="Calibri" charset="0"/>
                        <a:cs typeface="Calibri" charset="0"/>
                      </a:endParaRPr>
                    </a:p>
                  </a:txBody>
                  <a:tcPr marL="38100" marR="38100" marT="12700" marB="127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l" indent="0" marL="0">
                        <a:buNone/>
                      </a:pPr>
                      <a:r>
                        <a:rPr lang="en-US" sz="750" dirty="0">
                          <a:solidFill>
                            <a:srgbClr val="17252C"/>
                          </a:solidFill>
                          <a:latin typeface="Calibri" pitchFamily="34" charset="0"/>
                          <a:ea typeface="Calibri" pitchFamily="34" charset="-122"/>
                          <a:cs typeface="Calibri" pitchFamily="34" charset="-120"/>
                        </a:rPr>
                        <a:t>1–21/min: limit at 21/min (p95 26.4 s, 0% errors)</a:t>
                      </a:r>
                      <a:endParaRPr lang="en-US" sz="750" dirty="0">
                        <a:latin typeface="Calibri" charset="0"/>
                        <a:ea typeface="Calibri" charset="0"/>
                        <a:cs typeface="Calibri" charset="0"/>
                      </a:endParaRPr>
                    </a:p>
                  </a:txBody>
                  <a:tcPr marL="38100" marR="38100" marT="12700" marB="127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r>
            </a:tbl>
          </a:graphicData>
        </a:graphic>
      </p:graphicFrame>
      <p:sp>
        <p:nvSpPr>
          <p:cNvPr id="10" name="Shape 5"/>
          <p:cNvSpPr/>
          <p:nvPr/>
        </p:nvSpPr>
        <p:spPr>
          <a:xfrm>
            <a:off x="502920" y="5029200"/>
            <a:ext cx="11185855" cy="1371600"/>
          </a:xfrm>
          <a:prstGeom prst="roundRect">
            <a:avLst>
              <a:gd name="adj" fmla="val 5333"/>
            </a:avLst>
          </a:prstGeom>
          <a:solidFill>
            <a:srgbClr val="0E2A33"/>
          </a:solidFill>
          <a:ln w="12700">
            <a:solidFill>
              <a:srgbClr val="0E2A33"/>
            </a:solidFill>
            <a:prstDash val="solid"/>
          </a:ln>
        </p:spPr>
      </p:sp>
      <p:sp>
        <p:nvSpPr>
          <p:cNvPr id="11" name="Text 6"/>
          <p:cNvSpPr txBox="1"/>
          <p:nvPr/>
        </p:nvSpPr>
        <p:spPr>
          <a:xfrm>
            <a:off x="612648" y="5074920"/>
            <a:ext cx="10966399" cy="1280160"/>
          </a:xfrm>
          <a:prstGeom prst="rect">
            <a:avLst/>
          </a:prstGeom>
          <a:noFill/>
          <a:ln/>
        </p:spPr>
        <p:txBody>
          <a:bodyPr wrap="square" lIns="762" tIns="762" rIns="762" bIns="762" rtlCol="0" anchor="ctr"/>
          <a:lstStyle/>
          <a:p>
            <a:pPr algn="l" indent="0" marL="0">
              <a:lnSpc>
                <a:spcPct val="100000"/>
              </a:lnSpc>
              <a:buNone/>
            </a:pPr>
            <a:r>
              <a:rPr lang="en-US" sz="1050" b="1" dirty="0">
                <a:solidFill>
                  <a:srgbClr val="E39B2D"/>
                </a:solidFill>
                <a:latin typeface="Calibri" pitchFamily="34" charset="0"/>
                <a:ea typeface="Calibri" pitchFamily="34" charset="-122"/>
                <a:cs typeface="Calibri" pitchFamily="34" charset="-120"/>
              </a:rPr>
              <a:t>Bottleneck, diagnosed: </a:t>
            </a:r>
            <a:pPr algn="l" indent="0" marL="0">
              <a:lnSpc>
                <a:spcPct val="100000"/>
              </a:lnSpc>
              <a:buNone/>
            </a:pPr>
            <a:r>
              <a:rPr lang="en-US" sz="1050" dirty="0">
                <a:solidFill>
                  <a:srgbClr val="FFFFFF"/>
                </a:solidFill>
                <a:latin typeface="Calibri" pitchFamily="34" charset="0"/>
                <a:ea typeface="Calibri" pitchFamily="34" charset="-122"/>
                <a:cs typeface="Calibri" pitchFamily="34" charset="-120"/>
              </a:rPr>
              <a:t>Ollama's single request slot, as predicted, but only far above the client's load. Prefill dominates each request (qwen2.5:7b: 1.47 s of 2.38 s at 1/min) and stays flat as the rate rises, while the wait inside Ollama grows: qwen2.5:7b ollama_other_ms 10 → 488 → 858 ms at 1, 4 and 12/min (queue_residual flat at 10–13 ms). Our own handler adds a constant ~0.2 s outside the model call (the SQLite insert: a new connection and a commit with a rollback journal and synchronous=FULL on btrfs; median 192 ms timed in the container), about 40% of the 1B model's latency — an Assignment 2 target. The network adds a median 14 ms.</a:t>
            </a:r>
            <a:endParaRPr lang="en-US" sz="1050" dirty="0"/>
          </a:p>
        </p:txBody>
      </p:sp>
      <p:sp>
        <p:nvSpPr>
          <p:cNvPr id="25" name="Slide Number Placeholder 0"/>
          <p:cNvSpPr>
            <a:spLocks noGrp="1"/>
          </p:cNvSpPr>
          <p:nvPr>
            <p:ph type="sldNum" sz="quarter" idx="4294967295"/>
          </p:nvPr>
        </p:nvSpPr>
        <p:spPr>
          <a:xfrm>
            <a:off x="11231575"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B7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02920" y="292608"/>
            <a:ext cx="11185855" cy="566928"/>
          </a:xfrm>
          <a:prstGeom prst="rect">
            <a:avLst/>
          </a:prstGeom>
          <a:noFill/>
          <a:ln/>
        </p:spPr>
        <p:txBody>
          <a:bodyPr wrap="square" lIns="0" tIns="0" rIns="0" bIns="0" rtlCol="0" anchor="ctr"/>
          <a:lstStyle/>
          <a:p>
            <a:pPr indent="0" marL="0">
              <a:buNone/>
            </a:pPr>
            <a:r>
              <a:rPr lang="en-US" sz="2800" b="1" dirty="0">
                <a:solidFill>
                  <a:srgbClr val="17252C"/>
                </a:solidFill>
                <a:latin typeface="Cambria" pitchFamily="34" charset="0"/>
                <a:ea typeface="Cambria" pitchFamily="34" charset="-122"/>
                <a:cs typeface="Cambria" pitchFamily="34" charset="-120"/>
              </a:rPr>
              <a:t>Accuracy results</a:t>
            </a:r>
            <a:endParaRPr lang="en-US" sz="2800" dirty="0"/>
          </a:p>
        </p:txBody>
      </p:sp>
      <p:sp>
        <p:nvSpPr>
          <p:cNvPr id="3" name="Text 1"/>
          <p:cNvSpPr txBox="1"/>
          <p:nvPr/>
        </p:nvSpPr>
        <p:spPr>
          <a:xfrm>
            <a:off x="502920" y="868680"/>
            <a:ext cx="11185855" cy="411480"/>
          </a:xfrm>
          <a:prstGeom prst="rect">
            <a:avLst/>
          </a:prstGeom>
          <a:noFill/>
          <a:ln/>
        </p:spPr>
        <p:txBody>
          <a:bodyPr wrap="square" lIns="0" tIns="0" rIns="0" bIns="0" rtlCol="0" anchor="t"/>
          <a:lstStyle/>
          <a:p>
            <a:pPr indent="0" marL="0">
              <a:buNone/>
            </a:pPr>
            <a:r>
              <a:rPr lang="en-US" sz="1500" dirty="0">
                <a:solidFill>
                  <a:srgbClr val="1F6F78"/>
                </a:solidFill>
                <a:latin typeface="Calibri" pitchFamily="34" charset="0"/>
                <a:ea typeface="Calibri" pitchFamily="34" charset="-122"/>
                <a:cs typeface="Calibri" pitchFamily="34" charset="-120"/>
              </a:rPr>
              <a:t>No candidate meets R3 or R4: accuracy rises with size from 26.0% to 74.0%, and the best model still misroutes one ticket in four.</a:t>
            </a:r>
            <a:endParaRPr lang="en-US" sz="1500" dirty="0"/>
          </a:p>
        </p:txBody>
      </p:sp>
      <p:sp>
        <p:nvSpPr>
          <p:cNvPr id="4" name="Text 2"/>
          <p:cNvSpPr txBox="1"/>
          <p:nvPr/>
        </p:nvSpPr>
        <p:spPr>
          <a:xfrm>
            <a:off x="502920" y="6446520"/>
            <a:ext cx="10362895" cy="292608"/>
          </a:xfrm>
          <a:prstGeom prst="rect">
            <a:avLst/>
          </a:prstGeom>
          <a:noFill/>
          <a:ln/>
        </p:spPr>
        <p:txBody>
          <a:bodyPr wrap="square" lIns="0" tIns="0" rIns="0" bIns="0" rtlCol="0" anchor="ctr"/>
          <a:lstStyle/>
          <a:p>
            <a:pPr indent="0" marL="0">
              <a:buNone/>
            </a:pPr>
            <a:r>
              <a:rPr lang="en-US" sz="900" dirty="0">
                <a:solidFill>
                  <a:srgbClr val="5B6B73"/>
                </a:solidFill>
                <a:latin typeface="Calibri" pitchFamily="34" charset="0"/>
                <a:ea typeface="Calibri" pitchFamily="34" charset="-122"/>
                <a:cs typeface="Calibri" pitchFamily="34" charset="-120"/>
              </a:rPr>
              <a:t>Source: analysis/output/accuracy/ (model_comparison.csv; &lt;run&gt;/per_category.csv and confusion_matrix.csv) — 200 golden tickets, one serial pass per model; UNPARSEABLE counted as wrong</a:t>
            </a:r>
            <a:endParaRPr lang="en-US" sz="9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11185855" cy="914400"/>
        </p:xfrm>
        <a:graphic>
          <a:graphicData uri="http://schemas.openxmlformats.org/drawingml/2006/table">
            <a:tbl>
              <a:tblPr/>
              <a:tblGrid>
                <a:gridCol w="1325880"/>
                <a:gridCol w="1325880"/>
                <a:gridCol w="1078992"/>
                <a:gridCol w="1078992"/>
                <a:gridCol w="1078992"/>
                <a:gridCol w="1078992"/>
                <a:gridCol w="1078992"/>
                <a:gridCol w="1078992"/>
                <a:gridCol w="1078992"/>
                <a:gridCol w="640080"/>
              </a:tblGrid>
              <a:tr h="0">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Model</a:t>
                      </a:r>
                      <a:endParaRPr lang="en-US" sz="90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Overall (R3 ≥ 90%)</a:t>
                      </a:r>
                      <a:endParaRPr lang="en-US" sz="90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Credit report. (41)</a:t>
                      </a:r>
                      <a:endParaRPr lang="en-US" sz="90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Debt coll. (23)</a:t>
                      </a:r>
                      <a:endParaRPr lang="en-US" sz="90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Mortgage (27)</a:t>
                      </a:r>
                      <a:endParaRPr lang="en-US" sz="90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Credit card (27)</a:t>
                      </a:r>
                      <a:endParaRPr lang="en-US" sz="90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Bank acct (40)</a:t>
                      </a:r>
                      <a:endParaRPr lang="en-US" sz="90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Cons. loan (23)</a:t>
                      </a:r>
                      <a:endParaRPr lang="en-US" sz="90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Money transf. (19)</a:t>
                      </a:r>
                      <a:endParaRPr lang="en-US" sz="90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UNPARS.</a:t>
                      </a:r>
                      <a:endParaRPr lang="en-US" sz="90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r>
              <a:tr h="0">
                <a:tc>
                  <a:txBody>
                    <a:bodyPr/>
                    <a:lstStyle/>
                    <a:p>
                      <a:pPr algn="l" indent="0" marL="0">
                        <a:buNone/>
                      </a:pPr>
                      <a:r>
                        <a:rPr lang="en-US" sz="950" b="1" dirty="0">
                          <a:solidFill>
                            <a:srgbClr val="17252C"/>
                          </a:solidFill>
                          <a:latin typeface="Calibri" pitchFamily="34" charset="0"/>
                          <a:ea typeface="Calibri" pitchFamily="34" charset="-122"/>
                          <a:cs typeface="Calibri" pitchFamily="34" charset="-120"/>
                        </a:rPr>
                        <a:t>llama3.2:1b q4_K_M</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B23A48"/>
                          </a:solidFill>
                          <a:latin typeface="Calibri" pitchFamily="34" charset="0"/>
                          <a:ea typeface="Calibri" pitchFamily="34" charset="-122"/>
                          <a:cs typeface="Calibri" pitchFamily="34" charset="-120"/>
                        </a:rPr>
                        <a:t>26.0% (52/200)</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dirty="0">
                          <a:solidFill>
                            <a:srgbClr val="2E7D5B"/>
                          </a:solidFill>
                          <a:latin typeface="Calibri" pitchFamily="34" charset="0"/>
                          <a:ea typeface="Calibri" pitchFamily="34" charset="-122"/>
                          <a:cs typeface="Calibri" pitchFamily="34" charset="-120"/>
                        </a:rPr>
                        <a:t>100%</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DCEFE5"/>
                    </a:solidFill>
                  </a:tcPr>
                </a:tc>
                <a:tc>
                  <a:txBody>
                    <a:bodyPr/>
                    <a:lstStyle/>
                    <a:p>
                      <a:pPr algn="ctr" indent="0" marL="0">
                        <a:buNone/>
                      </a:pPr>
                      <a:r>
                        <a:rPr lang="en-US" sz="950" dirty="0">
                          <a:solidFill>
                            <a:srgbClr val="B23A48"/>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dirty="0">
                          <a:solidFill>
                            <a:srgbClr val="B23A48"/>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dirty="0">
                          <a:solidFill>
                            <a:srgbClr val="B23A48"/>
                          </a:solidFill>
                          <a:latin typeface="Calibri" pitchFamily="34" charset="0"/>
                          <a:ea typeface="Calibri" pitchFamily="34" charset="-122"/>
                          <a:cs typeface="Calibri" pitchFamily="34" charset="-120"/>
                        </a:rPr>
                        <a:t>7%</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dirty="0">
                          <a:solidFill>
                            <a:srgbClr val="B23A48"/>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dirty="0">
                          <a:solidFill>
                            <a:srgbClr val="B23A48"/>
                          </a:solidFill>
                          <a:latin typeface="Calibri" pitchFamily="34" charset="0"/>
                          <a:ea typeface="Calibri" pitchFamily="34" charset="-122"/>
                          <a:cs typeface="Calibri" pitchFamily="34" charset="-120"/>
                        </a:rPr>
                        <a:t>35%</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dirty="0">
                          <a:solidFill>
                            <a:srgbClr val="B23A48"/>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dirty="0">
                          <a:solidFill>
                            <a:srgbClr val="17252C"/>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r>
              <a:tr h="0">
                <a:tc>
                  <a:txBody>
                    <a:bodyPr/>
                    <a:lstStyle/>
                    <a:p>
                      <a:pPr algn="l" indent="0" marL="0">
                        <a:buNone/>
                      </a:pPr>
                      <a:r>
                        <a:rPr lang="en-US" sz="950" b="1" dirty="0">
                          <a:solidFill>
                            <a:srgbClr val="17252C"/>
                          </a:solidFill>
                          <a:latin typeface="Calibri" pitchFamily="34" charset="0"/>
                          <a:ea typeface="Calibri" pitchFamily="34" charset="-122"/>
                          <a:cs typeface="Calibri" pitchFamily="34" charset="-120"/>
                        </a:rPr>
                        <a:t>llama3.2:3b</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ctr" indent="0" marL="0">
                        <a:buNone/>
                      </a:pPr>
                      <a:r>
                        <a:rPr lang="en-US" sz="950" b="1" dirty="0">
                          <a:solidFill>
                            <a:srgbClr val="B23A48"/>
                          </a:solidFill>
                          <a:latin typeface="Calibri" pitchFamily="34" charset="0"/>
                          <a:ea typeface="Calibri" pitchFamily="34" charset="-122"/>
                          <a:cs typeface="Calibri" pitchFamily="34" charset="-120"/>
                        </a:rPr>
                        <a:t>48.5% (97/200)</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dirty="0">
                          <a:solidFill>
                            <a:srgbClr val="B23A48"/>
                          </a:solidFill>
                          <a:latin typeface="Calibri" pitchFamily="34" charset="0"/>
                          <a:ea typeface="Calibri" pitchFamily="34" charset="-122"/>
                          <a:cs typeface="Calibri" pitchFamily="34" charset="-120"/>
                        </a:rPr>
                        <a:t>66%</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dirty="0">
                          <a:solidFill>
                            <a:srgbClr val="B23A48"/>
                          </a:solidFill>
                          <a:latin typeface="Calibri" pitchFamily="34" charset="0"/>
                          <a:ea typeface="Calibri" pitchFamily="34" charset="-122"/>
                          <a:cs typeface="Calibri" pitchFamily="34" charset="-120"/>
                        </a:rPr>
                        <a:t>57%</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dirty="0">
                          <a:solidFill>
                            <a:srgbClr val="B23A48"/>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dirty="0">
                          <a:solidFill>
                            <a:srgbClr val="B23A48"/>
                          </a:solidFill>
                          <a:latin typeface="Calibri" pitchFamily="34" charset="0"/>
                          <a:ea typeface="Calibri" pitchFamily="34" charset="-122"/>
                          <a:cs typeface="Calibri" pitchFamily="34" charset="-120"/>
                        </a:rPr>
                        <a:t>22%</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dirty="0">
                          <a:solidFill>
                            <a:srgbClr val="2E7D5B"/>
                          </a:solidFill>
                          <a:latin typeface="Calibri" pitchFamily="34" charset="0"/>
                          <a:ea typeface="Calibri" pitchFamily="34" charset="-122"/>
                          <a:cs typeface="Calibri" pitchFamily="34" charset="-120"/>
                        </a:rPr>
                        <a:t>90%</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DCEFE5"/>
                    </a:solidFill>
                  </a:tcPr>
                </a:tc>
                <a:tc>
                  <a:txBody>
                    <a:bodyPr/>
                    <a:lstStyle/>
                    <a:p>
                      <a:pPr algn="ctr" indent="0" marL="0">
                        <a:buNone/>
                      </a:pPr>
                      <a:r>
                        <a:rPr lang="en-US" sz="950" dirty="0">
                          <a:solidFill>
                            <a:srgbClr val="B23A48"/>
                          </a:solidFill>
                          <a:latin typeface="Calibri" pitchFamily="34" charset="0"/>
                          <a:ea typeface="Calibri" pitchFamily="34" charset="-122"/>
                          <a:cs typeface="Calibri" pitchFamily="34" charset="-120"/>
                        </a:rPr>
                        <a:t>52%</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dirty="0">
                          <a:solidFill>
                            <a:srgbClr val="B23A48"/>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dirty="0">
                          <a:solidFill>
                            <a:srgbClr val="17252C"/>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r>
              <a:tr h="0">
                <a:tc>
                  <a:txBody>
                    <a:bodyPr/>
                    <a:lstStyle/>
                    <a:p>
                      <a:pPr algn="l" indent="0" marL="0">
                        <a:buNone/>
                      </a:pPr>
                      <a:r>
                        <a:rPr lang="en-US" sz="950" b="1" dirty="0">
                          <a:solidFill>
                            <a:srgbClr val="17252C"/>
                          </a:solidFill>
                          <a:latin typeface="Calibri" pitchFamily="34" charset="0"/>
                          <a:ea typeface="Calibri" pitchFamily="34" charset="-122"/>
                          <a:cs typeface="Calibri" pitchFamily="34" charset="-120"/>
                        </a:rPr>
                        <a:t>granite4:3b</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B23A48"/>
                          </a:solidFill>
                          <a:latin typeface="Calibri" pitchFamily="34" charset="0"/>
                          <a:ea typeface="Calibri" pitchFamily="34" charset="-122"/>
                          <a:cs typeface="Calibri" pitchFamily="34" charset="-120"/>
                        </a:rPr>
                        <a:t>66.0% (132/200)</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dirty="0">
                          <a:solidFill>
                            <a:srgbClr val="2E7D5B"/>
                          </a:solidFill>
                          <a:latin typeface="Calibri" pitchFamily="34" charset="0"/>
                          <a:ea typeface="Calibri" pitchFamily="34" charset="-122"/>
                          <a:cs typeface="Calibri" pitchFamily="34" charset="-120"/>
                        </a:rPr>
                        <a:t>90%</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DCEFE5"/>
                    </a:solidFill>
                  </a:tcPr>
                </a:tc>
                <a:tc>
                  <a:txBody>
                    <a:bodyPr/>
                    <a:lstStyle/>
                    <a:p>
                      <a:pPr algn="ctr" indent="0" marL="0">
                        <a:buNone/>
                      </a:pPr>
                      <a:r>
                        <a:rPr lang="en-US" sz="950" dirty="0">
                          <a:solidFill>
                            <a:srgbClr val="B23A48"/>
                          </a:solidFill>
                          <a:latin typeface="Calibri" pitchFamily="34" charset="0"/>
                          <a:ea typeface="Calibri" pitchFamily="34" charset="-122"/>
                          <a:cs typeface="Calibri" pitchFamily="34" charset="-120"/>
                        </a:rPr>
                        <a:t>39%</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dirty="0">
                          <a:solidFill>
                            <a:srgbClr val="B23A48"/>
                          </a:solidFill>
                          <a:latin typeface="Calibri" pitchFamily="34" charset="0"/>
                          <a:ea typeface="Calibri" pitchFamily="34" charset="-122"/>
                          <a:cs typeface="Calibri" pitchFamily="34" charset="-120"/>
                        </a:rPr>
                        <a:t>63%</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dirty="0">
                          <a:solidFill>
                            <a:srgbClr val="B23A48"/>
                          </a:solidFill>
                          <a:latin typeface="Calibri" pitchFamily="34" charset="0"/>
                          <a:ea typeface="Calibri" pitchFamily="34" charset="-122"/>
                          <a:cs typeface="Calibri" pitchFamily="34" charset="-120"/>
                        </a:rPr>
                        <a:t>78%</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dirty="0">
                          <a:solidFill>
                            <a:srgbClr val="2E7D5B"/>
                          </a:solidFill>
                          <a:latin typeface="Calibri" pitchFamily="34" charset="0"/>
                          <a:ea typeface="Calibri" pitchFamily="34" charset="-122"/>
                          <a:cs typeface="Calibri" pitchFamily="34" charset="-120"/>
                        </a:rPr>
                        <a:t>83%</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DCEFE5"/>
                    </a:solidFill>
                  </a:tcPr>
                </a:tc>
                <a:tc>
                  <a:txBody>
                    <a:bodyPr/>
                    <a:lstStyle/>
                    <a:p>
                      <a:pPr algn="ctr" indent="0" marL="0">
                        <a:buNone/>
                      </a:pPr>
                      <a:r>
                        <a:rPr lang="en-US" sz="950" dirty="0">
                          <a:solidFill>
                            <a:srgbClr val="B23A48"/>
                          </a:solidFill>
                          <a:latin typeface="Calibri" pitchFamily="34" charset="0"/>
                          <a:ea typeface="Calibri" pitchFamily="34" charset="-122"/>
                          <a:cs typeface="Calibri" pitchFamily="34" charset="-120"/>
                        </a:rPr>
                        <a:t>35%</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dirty="0">
                          <a:solidFill>
                            <a:srgbClr val="B23A48"/>
                          </a:solidFill>
                          <a:latin typeface="Calibri" pitchFamily="34" charset="0"/>
                          <a:ea typeface="Calibri" pitchFamily="34" charset="-122"/>
                          <a:cs typeface="Calibri" pitchFamily="34" charset="-120"/>
                        </a:rPr>
                        <a:t>37%</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dirty="0">
                          <a:solidFill>
                            <a:srgbClr val="17252C"/>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r>
              <a:tr h="0">
                <a:tc>
                  <a:txBody>
                    <a:bodyPr/>
                    <a:lstStyle/>
                    <a:p>
                      <a:pPr algn="l" indent="0" marL="0">
                        <a:buNone/>
                      </a:pPr>
                      <a:r>
                        <a:rPr lang="en-US" sz="950" b="1" dirty="0">
                          <a:solidFill>
                            <a:srgbClr val="17252C"/>
                          </a:solidFill>
                          <a:latin typeface="Calibri" pitchFamily="34" charset="0"/>
                          <a:ea typeface="Calibri" pitchFamily="34" charset="-122"/>
                          <a:cs typeface="Calibri" pitchFamily="34" charset="-120"/>
                        </a:rPr>
                        <a:t>qwen2.5:7b</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ctr" indent="0" marL="0">
                        <a:buNone/>
                      </a:pPr>
                      <a:r>
                        <a:rPr lang="en-US" sz="950" b="1" dirty="0">
                          <a:solidFill>
                            <a:srgbClr val="B23A48"/>
                          </a:solidFill>
                          <a:latin typeface="Calibri" pitchFamily="34" charset="0"/>
                          <a:ea typeface="Calibri" pitchFamily="34" charset="-122"/>
                          <a:cs typeface="Calibri" pitchFamily="34" charset="-120"/>
                        </a:rPr>
                        <a:t>74.0% (148/200)</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dirty="0">
                          <a:solidFill>
                            <a:srgbClr val="2E7D5B"/>
                          </a:solidFill>
                          <a:latin typeface="Calibri" pitchFamily="34" charset="0"/>
                          <a:ea typeface="Calibri" pitchFamily="34" charset="-122"/>
                          <a:cs typeface="Calibri" pitchFamily="34" charset="-120"/>
                        </a:rPr>
                        <a:t>88%</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DCEFE5"/>
                    </a:solidFill>
                  </a:tcPr>
                </a:tc>
                <a:tc>
                  <a:txBody>
                    <a:bodyPr/>
                    <a:lstStyle/>
                    <a:p>
                      <a:pPr algn="ctr" indent="0" marL="0">
                        <a:buNone/>
                      </a:pPr>
                      <a:r>
                        <a:rPr lang="en-US" sz="950" dirty="0">
                          <a:solidFill>
                            <a:srgbClr val="B23A48"/>
                          </a:solidFill>
                          <a:latin typeface="Calibri" pitchFamily="34" charset="0"/>
                          <a:ea typeface="Calibri" pitchFamily="34" charset="-122"/>
                          <a:cs typeface="Calibri" pitchFamily="34" charset="-120"/>
                        </a:rPr>
                        <a:t>74%</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dirty="0">
                          <a:solidFill>
                            <a:srgbClr val="B23A48"/>
                          </a:solidFill>
                          <a:latin typeface="Calibri" pitchFamily="34" charset="0"/>
                          <a:ea typeface="Calibri" pitchFamily="34" charset="-122"/>
                          <a:cs typeface="Calibri" pitchFamily="34" charset="-120"/>
                        </a:rPr>
                        <a:t>70%</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dirty="0">
                          <a:solidFill>
                            <a:srgbClr val="B23A48"/>
                          </a:solidFill>
                          <a:latin typeface="Calibri" pitchFamily="34" charset="0"/>
                          <a:ea typeface="Calibri" pitchFamily="34" charset="-122"/>
                          <a:cs typeface="Calibri" pitchFamily="34" charset="-120"/>
                        </a:rPr>
                        <a:t>63%</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dirty="0">
                          <a:solidFill>
                            <a:srgbClr val="2E7D5B"/>
                          </a:solidFill>
                          <a:latin typeface="Calibri" pitchFamily="34" charset="0"/>
                          <a:ea typeface="Calibri" pitchFamily="34" charset="-122"/>
                          <a:cs typeface="Calibri" pitchFamily="34" charset="-120"/>
                        </a:rPr>
                        <a:t>83%</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DCEFE5"/>
                    </a:solidFill>
                  </a:tcPr>
                </a:tc>
                <a:tc>
                  <a:txBody>
                    <a:bodyPr/>
                    <a:lstStyle/>
                    <a:p>
                      <a:pPr algn="ctr" indent="0" marL="0">
                        <a:buNone/>
                      </a:pPr>
                      <a:r>
                        <a:rPr lang="en-US" sz="950" dirty="0">
                          <a:solidFill>
                            <a:srgbClr val="B23A48"/>
                          </a:solidFill>
                          <a:latin typeface="Calibri" pitchFamily="34" charset="0"/>
                          <a:ea typeface="Calibri" pitchFamily="34" charset="-122"/>
                          <a:cs typeface="Calibri" pitchFamily="34" charset="-120"/>
                        </a:rPr>
                        <a:t>57%</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dirty="0">
                          <a:solidFill>
                            <a:srgbClr val="B23A48"/>
                          </a:solidFill>
                          <a:latin typeface="Calibri" pitchFamily="34" charset="0"/>
                          <a:ea typeface="Calibri" pitchFamily="34" charset="-122"/>
                          <a:cs typeface="Calibri" pitchFamily="34" charset="-120"/>
                        </a:rPr>
                        <a:t>68%</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dirty="0">
                          <a:solidFill>
                            <a:srgbClr val="17252C"/>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r>
            </a:tbl>
          </a:graphicData>
        </a:graphic>
      </p:graphicFrame>
      <p:sp>
        <p:nvSpPr>
          <p:cNvPr id="6" name="Text 3"/>
          <p:cNvSpPr txBox="1"/>
          <p:nvPr/>
        </p:nvSpPr>
        <p:spPr>
          <a:xfrm>
            <a:off x="502920" y="2633472"/>
            <a:ext cx="11185855" cy="237744"/>
          </a:xfrm>
          <a:prstGeom prst="rect">
            <a:avLst/>
          </a:prstGeom>
          <a:noFill/>
          <a:ln/>
        </p:spPr>
        <p:txBody>
          <a:bodyPr wrap="square" lIns="0" tIns="0" rIns="0" bIns="0" rtlCol="0" anchor="t"/>
          <a:lstStyle/>
          <a:p>
            <a:pPr algn="l" indent="0" marL="0">
              <a:lnSpc>
                <a:spcPct val="100000"/>
              </a:lnSpc>
              <a:buNone/>
            </a:pPr>
            <a:r>
              <a:rPr lang="en-US" sz="900" i="1" dirty="0">
                <a:solidFill>
                  <a:srgbClr val="5B6B73"/>
                </a:solidFill>
                <a:latin typeface="Calibri" pitchFamily="34" charset="0"/>
                <a:ea typeface="Calibri" pitchFamily="34" charset="-122"/>
                <a:cs typeface="Calibri" pitchFamily="34" charset="-120"/>
              </a:rPr>
              <a:t>Cells are per-category recall (R4 ≥ 80%): the share of golden tickets in that category the model routed correctly. Green meets the requirement, red does not.</a:t>
            </a:r>
            <a:endParaRPr lang="en-US" sz="900" dirty="0"/>
          </a:p>
        </p:txBody>
      </p:sp>
      <p:sp>
        <p:nvSpPr>
          <p:cNvPr id="7" name="Shape 4"/>
          <p:cNvSpPr/>
          <p:nvPr/>
        </p:nvSpPr>
        <p:spPr>
          <a:xfrm>
            <a:off x="502920" y="2944368"/>
            <a:ext cx="3611880" cy="1207008"/>
          </a:xfrm>
          <a:prstGeom prst="roundRect">
            <a:avLst>
              <a:gd name="adj" fmla="val 6061"/>
            </a:avLst>
          </a:prstGeom>
          <a:solidFill>
            <a:srgbClr val="D5E8EA"/>
          </a:solidFill>
          <a:ln w="12700">
            <a:solidFill>
              <a:srgbClr val="D5E8EA"/>
            </a:solidFill>
            <a:prstDash val="solid"/>
          </a:ln>
        </p:spPr>
      </p:sp>
      <p:sp>
        <p:nvSpPr>
          <p:cNvPr id="8" name="Text 5"/>
          <p:cNvSpPr txBox="1"/>
          <p:nvPr/>
        </p:nvSpPr>
        <p:spPr>
          <a:xfrm>
            <a:off x="576072" y="2980944"/>
            <a:ext cx="3465576" cy="1133856"/>
          </a:xfrm>
          <a:prstGeom prst="rect">
            <a:avLst/>
          </a:prstGeom>
          <a:noFill/>
          <a:ln/>
        </p:spPr>
        <p:txBody>
          <a:bodyPr wrap="square" lIns="762" tIns="762" rIns="762" bIns="762" rtlCol="0" anchor="t"/>
          <a:lstStyle/>
          <a:p>
            <a:pPr algn="l" indent="0" marL="0">
              <a:lnSpc>
                <a:spcPct val="100000"/>
              </a:lnSpc>
              <a:spcAft>
                <a:spcPts val="100"/>
              </a:spcAft>
              <a:buNone/>
            </a:pPr>
            <a:r>
              <a:rPr lang="en-US" sz="950" b="1" dirty="0">
                <a:solidFill>
                  <a:srgbClr val="0E2A33"/>
                </a:solidFill>
                <a:latin typeface="Calibri" pitchFamily="34" charset="0"/>
                <a:ea typeface="Calibri" pitchFamily="34" charset="-122"/>
                <a:cs typeface="Calibri" pitchFamily="34" charset="-120"/>
              </a:rPr>
              <a:t>llama3.2:1b q4_K_M</a:t>
            </a:r>
            <a:endParaRPr lang="en-US" sz="950" dirty="0"/>
          </a:p>
          <a:p>
            <a:pPr algn="l" indent="0" marL="0">
              <a:lnSpc>
                <a:spcPct val="100000"/>
              </a:lnSpc>
              <a:spcAft>
                <a:spcPts val="100"/>
              </a:spcAft>
              <a:buNone/>
            </a:pPr>
            <a:r>
              <a:rPr lang="en-US" sz="950" dirty="0">
                <a:solidFill>
                  <a:srgbClr val="1F6F78"/>
                </a:solidFill>
                <a:latin typeface="Calibri" pitchFamily="34" charset="0"/>
                <a:ea typeface="Calibri" pitchFamily="34" charset="-122"/>
                <a:cs typeface="Calibri" pitchFamily="34" charset="-120"/>
              </a:rPr>
              <a:t>Hardest: Mortgage 0% (predicted: Debt collection and Money transfer or service, both near 0%)</a:t>
            </a:r>
            <a:endParaRPr lang="en-US" sz="950" dirty="0"/>
          </a:p>
          <a:p>
            <a:pPr algn="l" indent="0" marL="0">
              <a:lnSpc>
                <a:spcPct val="100000"/>
              </a:lnSpc>
              <a:spcAft>
                <a:spcPts val="100"/>
              </a:spcAft>
              <a:buNone/>
            </a:pPr>
            <a:r>
              <a:rPr lang="en-US" sz="950" dirty="0">
                <a:solidFill>
                  <a:srgbClr val="17252C"/>
                </a:solidFill>
                <a:latin typeface="Calibri" pitchFamily="34" charset="0"/>
                <a:ea typeface="Calibri" pitchFamily="34" charset="-122"/>
                <a:cs typeface="Calibri" pitchFamily="34" charset="-120"/>
              </a:rPr>
              <a:t>37 × Bank acct → Credit report.</a:t>
            </a:r>
            <a:endParaRPr lang="en-US" sz="950" dirty="0"/>
          </a:p>
          <a:p>
            <a:pPr algn="l" indent="0" marL="0">
              <a:lnSpc>
                <a:spcPct val="100000"/>
              </a:lnSpc>
              <a:spcAft>
                <a:spcPts val="100"/>
              </a:spcAft>
              <a:buNone/>
            </a:pPr>
            <a:r>
              <a:rPr lang="en-US" sz="950" dirty="0">
                <a:solidFill>
                  <a:srgbClr val="17252C"/>
                </a:solidFill>
                <a:latin typeface="Calibri" pitchFamily="34" charset="0"/>
                <a:ea typeface="Calibri" pitchFamily="34" charset="-122"/>
                <a:cs typeface="Calibri" pitchFamily="34" charset="-120"/>
              </a:rPr>
              <a:t>21 × Debt coll. → Credit report.</a:t>
            </a:r>
            <a:endParaRPr lang="en-US" sz="950" dirty="0"/>
          </a:p>
          <a:p>
            <a:pPr algn="l" indent="0" marL="0">
              <a:lnSpc>
                <a:spcPct val="100000"/>
              </a:lnSpc>
              <a:spcAft>
                <a:spcPts val="100"/>
              </a:spcAft>
              <a:buNone/>
            </a:pPr>
            <a:r>
              <a:rPr lang="en-US" sz="950" dirty="0">
                <a:solidFill>
                  <a:srgbClr val="17252C"/>
                </a:solidFill>
                <a:latin typeface="Calibri" pitchFamily="34" charset="0"/>
                <a:ea typeface="Calibri" pitchFamily="34" charset="-122"/>
                <a:cs typeface="Calibri" pitchFamily="34" charset="-120"/>
              </a:rPr>
              <a:t>21 × Credit card → Credit report.</a:t>
            </a:r>
            <a:endParaRPr lang="en-US" sz="950" dirty="0"/>
          </a:p>
        </p:txBody>
      </p:sp>
      <p:sp>
        <p:nvSpPr>
          <p:cNvPr id="9" name="Shape 6"/>
          <p:cNvSpPr/>
          <p:nvPr/>
        </p:nvSpPr>
        <p:spPr>
          <a:xfrm>
            <a:off x="4206240" y="2944368"/>
            <a:ext cx="3611880" cy="1207008"/>
          </a:xfrm>
          <a:prstGeom prst="roundRect">
            <a:avLst>
              <a:gd name="adj" fmla="val 6061"/>
            </a:avLst>
          </a:prstGeom>
          <a:solidFill>
            <a:srgbClr val="EEF3F4"/>
          </a:solidFill>
          <a:ln w="12700">
            <a:solidFill>
              <a:srgbClr val="EEF3F4"/>
            </a:solidFill>
            <a:prstDash val="solid"/>
          </a:ln>
        </p:spPr>
      </p:sp>
      <p:sp>
        <p:nvSpPr>
          <p:cNvPr id="10" name="Text 7"/>
          <p:cNvSpPr txBox="1"/>
          <p:nvPr/>
        </p:nvSpPr>
        <p:spPr>
          <a:xfrm>
            <a:off x="4279392" y="2980944"/>
            <a:ext cx="3465576" cy="1133856"/>
          </a:xfrm>
          <a:prstGeom prst="rect">
            <a:avLst/>
          </a:prstGeom>
          <a:noFill/>
          <a:ln/>
        </p:spPr>
        <p:txBody>
          <a:bodyPr wrap="square" lIns="762" tIns="762" rIns="762" bIns="762" rtlCol="0" anchor="t"/>
          <a:lstStyle/>
          <a:p>
            <a:pPr algn="l" indent="0" marL="0">
              <a:lnSpc>
                <a:spcPct val="100000"/>
              </a:lnSpc>
              <a:spcAft>
                <a:spcPts val="100"/>
              </a:spcAft>
              <a:buNone/>
            </a:pPr>
            <a:r>
              <a:rPr lang="en-US" sz="950" b="1" dirty="0">
                <a:solidFill>
                  <a:srgbClr val="0E2A33"/>
                </a:solidFill>
                <a:latin typeface="Calibri" pitchFamily="34" charset="0"/>
                <a:ea typeface="Calibri" pitchFamily="34" charset="-122"/>
                <a:cs typeface="Calibri" pitchFamily="34" charset="-120"/>
              </a:rPr>
              <a:t>llama3.2:3b</a:t>
            </a:r>
            <a:endParaRPr lang="en-US" sz="950" dirty="0"/>
          </a:p>
          <a:p>
            <a:pPr algn="l" indent="0" marL="0">
              <a:lnSpc>
                <a:spcPct val="100000"/>
              </a:lnSpc>
              <a:spcAft>
                <a:spcPts val="100"/>
              </a:spcAft>
              <a:buNone/>
            </a:pPr>
            <a:r>
              <a:rPr lang="en-US" sz="950" dirty="0">
                <a:solidFill>
                  <a:srgbClr val="1F6F78"/>
                </a:solidFill>
                <a:latin typeface="Calibri" pitchFamily="34" charset="0"/>
                <a:ea typeface="Calibri" pitchFamily="34" charset="-122"/>
                <a:cs typeface="Calibri" pitchFamily="34" charset="-120"/>
              </a:rPr>
              <a:t>Hardest: Money transf. 0% (predicted: Money transfer or service)</a:t>
            </a:r>
            <a:endParaRPr lang="en-US" sz="950" dirty="0"/>
          </a:p>
          <a:p>
            <a:pPr algn="l" indent="0" marL="0">
              <a:lnSpc>
                <a:spcPct val="100000"/>
              </a:lnSpc>
              <a:spcAft>
                <a:spcPts val="100"/>
              </a:spcAft>
              <a:buNone/>
            </a:pPr>
            <a:r>
              <a:rPr lang="en-US" sz="950" dirty="0">
                <a:solidFill>
                  <a:srgbClr val="17252C"/>
                </a:solidFill>
                <a:latin typeface="Calibri" pitchFamily="34" charset="0"/>
                <a:ea typeface="Calibri" pitchFamily="34" charset="-122"/>
                <a:cs typeface="Calibri" pitchFamily="34" charset="-120"/>
              </a:rPr>
              <a:t>16 × Money transf. → Bank acct</a:t>
            </a:r>
            <a:endParaRPr lang="en-US" sz="950" dirty="0"/>
          </a:p>
          <a:p>
            <a:pPr algn="l" indent="0" marL="0">
              <a:lnSpc>
                <a:spcPct val="100000"/>
              </a:lnSpc>
              <a:spcAft>
                <a:spcPts val="100"/>
              </a:spcAft>
              <a:buNone/>
            </a:pPr>
            <a:r>
              <a:rPr lang="en-US" sz="950" dirty="0">
                <a:solidFill>
                  <a:srgbClr val="17252C"/>
                </a:solidFill>
                <a:latin typeface="Calibri" pitchFamily="34" charset="0"/>
                <a:ea typeface="Calibri" pitchFamily="34" charset="-122"/>
                <a:cs typeface="Calibri" pitchFamily="34" charset="-120"/>
              </a:rPr>
              <a:t>15 × Credit card → Bank acct</a:t>
            </a:r>
            <a:endParaRPr lang="en-US" sz="950" dirty="0"/>
          </a:p>
          <a:p>
            <a:pPr algn="l" indent="0" marL="0">
              <a:lnSpc>
                <a:spcPct val="100000"/>
              </a:lnSpc>
              <a:spcAft>
                <a:spcPts val="100"/>
              </a:spcAft>
              <a:buNone/>
            </a:pPr>
            <a:r>
              <a:rPr lang="en-US" sz="950" dirty="0">
                <a:solidFill>
                  <a:srgbClr val="17252C"/>
                </a:solidFill>
                <a:latin typeface="Calibri" pitchFamily="34" charset="0"/>
                <a:ea typeface="Calibri" pitchFamily="34" charset="-122"/>
                <a:cs typeface="Calibri" pitchFamily="34" charset="-120"/>
              </a:rPr>
              <a:t>11 × Credit report. → Bank acct</a:t>
            </a:r>
            <a:endParaRPr lang="en-US" sz="950" dirty="0"/>
          </a:p>
        </p:txBody>
      </p:sp>
      <p:sp>
        <p:nvSpPr>
          <p:cNvPr id="11" name="Shape 8"/>
          <p:cNvSpPr/>
          <p:nvPr/>
        </p:nvSpPr>
        <p:spPr>
          <a:xfrm>
            <a:off x="502920" y="4224528"/>
            <a:ext cx="3611880" cy="1207008"/>
          </a:xfrm>
          <a:prstGeom prst="roundRect">
            <a:avLst>
              <a:gd name="adj" fmla="val 6061"/>
            </a:avLst>
          </a:prstGeom>
          <a:solidFill>
            <a:srgbClr val="EEF3F4"/>
          </a:solidFill>
          <a:ln w="12700">
            <a:solidFill>
              <a:srgbClr val="EEF3F4"/>
            </a:solidFill>
            <a:prstDash val="solid"/>
          </a:ln>
        </p:spPr>
      </p:sp>
      <p:sp>
        <p:nvSpPr>
          <p:cNvPr id="12" name="Text 9"/>
          <p:cNvSpPr txBox="1"/>
          <p:nvPr/>
        </p:nvSpPr>
        <p:spPr>
          <a:xfrm>
            <a:off x="576072" y="4261104"/>
            <a:ext cx="3465576" cy="1133856"/>
          </a:xfrm>
          <a:prstGeom prst="rect">
            <a:avLst/>
          </a:prstGeom>
          <a:noFill/>
          <a:ln/>
        </p:spPr>
        <p:txBody>
          <a:bodyPr wrap="square" lIns="762" tIns="762" rIns="762" bIns="762" rtlCol="0" anchor="t"/>
          <a:lstStyle/>
          <a:p>
            <a:pPr algn="l" indent="0" marL="0">
              <a:lnSpc>
                <a:spcPct val="100000"/>
              </a:lnSpc>
              <a:spcAft>
                <a:spcPts val="100"/>
              </a:spcAft>
              <a:buNone/>
            </a:pPr>
            <a:r>
              <a:rPr lang="en-US" sz="950" b="1" dirty="0">
                <a:solidFill>
                  <a:srgbClr val="0E2A33"/>
                </a:solidFill>
                <a:latin typeface="Calibri" pitchFamily="34" charset="0"/>
                <a:ea typeface="Calibri" pitchFamily="34" charset="-122"/>
                <a:cs typeface="Calibri" pitchFamily="34" charset="-120"/>
              </a:rPr>
              <a:t>granite4:3b</a:t>
            </a:r>
            <a:endParaRPr lang="en-US" sz="950" dirty="0"/>
          </a:p>
          <a:p>
            <a:pPr algn="l" indent="0" marL="0">
              <a:lnSpc>
                <a:spcPct val="100000"/>
              </a:lnSpc>
              <a:spcAft>
                <a:spcPts val="100"/>
              </a:spcAft>
              <a:buNone/>
            </a:pPr>
            <a:r>
              <a:rPr lang="en-US" sz="950" dirty="0">
                <a:solidFill>
                  <a:srgbClr val="1F6F78"/>
                </a:solidFill>
                <a:latin typeface="Calibri" pitchFamily="34" charset="0"/>
                <a:ea typeface="Calibri" pitchFamily="34" charset="-122"/>
                <a:cs typeface="Calibri" pitchFamily="34" charset="-120"/>
              </a:rPr>
              <a:t>Hardest: Cons. loan 35% (predicted: Credit card)</a:t>
            </a:r>
            <a:endParaRPr lang="en-US" sz="950" dirty="0"/>
          </a:p>
          <a:p>
            <a:pPr algn="l" indent="0" marL="0">
              <a:lnSpc>
                <a:spcPct val="100000"/>
              </a:lnSpc>
              <a:spcAft>
                <a:spcPts val="100"/>
              </a:spcAft>
              <a:buNone/>
            </a:pPr>
            <a:r>
              <a:rPr lang="en-US" sz="950" dirty="0">
                <a:solidFill>
                  <a:srgbClr val="17252C"/>
                </a:solidFill>
                <a:latin typeface="Calibri" pitchFamily="34" charset="0"/>
                <a:ea typeface="Calibri" pitchFamily="34" charset="-122"/>
                <a:cs typeface="Calibri" pitchFamily="34" charset="-120"/>
              </a:rPr>
              <a:t>14 × Debt coll. → Credit report.</a:t>
            </a:r>
            <a:endParaRPr lang="en-US" sz="950" dirty="0"/>
          </a:p>
          <a:p>
            <a:pPr algn="l" indent="0" marL="0">
              <a:lnSpc>
                <a:spcPct val="100000"/>
              </a:lnSpc>
              <a:spcAft>
                <a:spcPts val="100"/>
              </a:spcAft>
              <a:buNone/>
            </a:pPr>
            <a:r>
              <a:rPr lang="en-US" sz="950" dirty="0">
                <a:solidFill>
                  <a:srgbClr val="17252C"/>
                </a:solidFill>
                <a:latin typeface="Calibri" pitchFamily="34" charset="0"/>
                <a:ea typeface="Calibri" pitchFamily="34" charset="-122"/>
                <a:cs typeface="Calibri" pitchFamily="34" charset="-120"/>
              </a:rPr>
              <a:t>9 × Cons. loan → Credit report.</a:t>
            </a:r>
            <a:endParaRPr lang="en-US" sz="950" dirty="0"/>
          </a:p>
          <a:p>
            <a:pPr algn="l" indent="0" marL="0">
              <a:lnSpc>
                <a:spcPct val="100000"/>
              </a:lnSpc>
              <a:spcAft>
                <a:spcPts val="100"/>
              </a:spcAft>
              <a:buNone/>
            </a:pPr>
            <a:r>
              <a:rPr lang="en-US" sz="950" dirty="0">
                <a:solidFill>
                  <a:srgbClr val="17252C"/>
                </a:solidFill>
                <a:latin typeface="Calibri" pitchFamily="34" charset="0"/>
                <a:ea typeface="Calibri" pitchFamily="34" charset="-122"/>
                <a:cs typeface="Calibri" pitchFamily="34" charset="-120"/>
              </a:rPr>
              <a:t>9 × Money transf. → Bank acct</a:t>
            </a:r>
            <a:endParaRPr lang="en-US" sz="950" dirty="0"/>
          </a:p>
        </p:txBody>
      </p:sp>
      <p:sp>
        <p:nvSpPr>
          <p:cNvPr id="13" name="Shape 10"/>
          <p:cNvSpPr/>
          <p:nvPr/>
        </p:nvSpPr>
        <p:spPr>
          <a:xfrm>
            <a:off x="4206240" y="4224528"/>
            <a:ext cx="3611880" cy="1207008"/>
          </a:xfrm>
          <a:prstGeom prst="roundRect">
            <a:avLst>
              <a:gd name="adj" fmla="val 6061"/>
            </a:avLst>
          </a:prstGeom>
          <a:solidFill>
            <a:srgbClr val="D5E8EA"/>
          </a:solidFill>
          <a:ln w="12700">
            <a:solidFill>
              <a:srgbClr val="D5E8EA"/>
            </a:solidFill>
            <a:prstDash val="solid"/>
          </a:ln>
        </p:spPr>
      </p:sp>
      <p:sp>
        <p:nvSpPr>
          <p:cNvPr id="14" name="Text 11"/>
          <p:cNvSpPr txBox="1"/>
          <p:nvPr/>
        </p:nvSpPr>
        <p:spPr>
          <a:xfrm>
            <a:off x="4279392" y="4261104"/>
            <a:ext cx="3465576" cy="1133856"/>
          </a:xfrm>
          <a:prstGeom prst="rect">
            <a:avLst/>
          </a:prstGeom>
          <a:noFill/>
          <a:ln/>
        </p:spPr>
        <p:txBody>
          <a:bodyPr wrap="square" lIns="762" tIns="762" rIns="762" bIns="762" rtlCol="0" anchor="t"/>
          <a:lstStyle/>
          <a:p>
            <a:pPr algn="l" indent="0" marL="0">
              <a:lnSpc>
                <a:spcPct val="100000"/>
              </a:lnSpc>
              <a:spcAft>
                <a:spcPts val="100"/>
              </a:spcAft>
              <a:buNone/>
            </a:pPr>
            <a:r>
              <a:rPr lang="en-US" sz="950" b="1" dirty="0">
                <a:solidFill>
                  <a:srgbClr val="0E2A33"/>
                </a:solidFill>
                <a:latin typeface="Calibri" pitchFamily="34" charset="0"/>
                <a:ea typeface="Calibri" pitchFamily="34" charset="-122"/>
                <a:cs typeface="Calibri" pitchFamily="34" charset="-120"/>
              </a:rPr>
              <a:t>qwen2.5:7b</a:t>
            </a:r>
            <a:endParaRPr lang="en-US" sz="950" dirty="0"/>
          </a:p>
          <a:p>
            <a:pPr algn="l" indent="0" marL="0">
              <a:lnSpc>
                <a:spcPct val="100000"/>
              </a:lnSpc>
              <a:spcAft>
                <a:spcPts val="100"/>
              </a:spcAft>
              <a:buNone/>
            </a:pPr>
            <a:r>
              <a:rPr lang="en-US" sz="950" dirty="0">
                <a:solidFill>
                  <a:srgbClr val="1F6F78"/>
                </a:solidFill>
                <a:latin typeface="Calibri" pitchFamily="34" charset="0"/>
                <a:ea typeface="Calibri" pitchFamily="34" charset="-122"/>
                <a:cs typeface="Calibri" pitchFamily="34" charset="-120"/>
              </a:rPr>
              <a:t>Hardest: Cons. loan 57% (predicted: Credit card)</a:t>
            </a:r>
            <a:endParaRPr lang="en-US" sz="950" dirty="0"/>
          </a:p>
          <a:p>
            <a:pPr algn="l" indent="0" marL="0">
              <a:lnSpc>
                <a:spcPct val="100000"/>
              </a:lnSpc>
              <a:spcAft>
                <a:spcPts val="100"/>
              </a:spcAft>
              <a:buNone/>
            </a:pPr>
            <a:r>
              <a:rPr lang="en-US" sz="950" dirty="0">
                <a:solidFill>
                  <a:srgbClr val="17252C"/>
                </a:solidFill>
                <a:latin typeface="Calibri" pitchFamily="34" charset="0"/>
                <a:ea typeface="Calibri" pitchFamily="34" charset="-122"/>
                <a:cs typeface="Calibri" pitchFamily="34" charset="-120"/>
              </a:rPr>
              <a:t>6 × Money transf. → Bank acct</a:t>
            </a:r>
            <a:endParaRPr lang="en-US" sz="950" dirty="0"/>
          </a:p>
          <a:p>
            <a:pPr algn="l" indent="0" marL="0">
              <a:lnSpc>
                <a:spcPct val="100000"/>
              </a:lnSpc>
              <a:spcAft>
                <a:spcPts val="100"/>
              </a:spcAft>
              <a:buNone/>
            </a:pPr>
            <a:r>
              <a:rPr lang="en-US" sz="950" dirty="0">
                <a:solidFill>
                  <a:srgbClr val="17252C"/>
                </a:solidFill>
                <a:latin typeface="Calibri" pitchFamily="34" charset="0"/>
                <a:ea typeface="Calibri" pitchFamily="34" charset="-122"/>
                <a:cs typeface="Calibri" pitchFamily="34" charset="-120"/>
              </a:rPr>
              <a:t>5 × Debt coll. → Credit report.</a:t>
            </a:r>
            <a:endParaRPr lang="en-US" sz="950" dirty="0"/>
          </a:p>
          <a:p>
            <a:pPr algn="l" indent="0" marL="0">
              <a:lnSpc>
                <a:spcPct val="100000"/>
              </a:lnSpc>
              <a:spcAft>
                <a:spcPts val="100"/>
              </a:spcAft>
              <a:buNone/>
            </a:pPr>
            <a:r>
              <a:rPr lang="en-US" sz="950" dirty="0">
                <a:solidFill>
                  <a:srgbClr val="17252C"/>
                </a:solidFill>
                <a:latin typeface="Calibri" pitchFamily="34" charset="0"/>
                <a:ea typeface="Calibri" pitchFamily="34" charset="-122"/>
                <a:cs typeface="Calibri" pitchFamily="34" charset="-120"/>
              </a:rPr>
              <a:t>5 × Credit card → Bank acct</a:t>
            </a:r>
            <a:endParaRPr lang="en-US" sz="950" dirty="0"/>
          </a:p>
        </p:txBody>
      </p:sp>
      <p:pic>
        <p:nvPicPr>
          <p:cNvPr id="15" name="Image 0" descr="/home/fokku/claude/ICT3113-PTO/analysis/output/accuracy/qwen2.5-7b_20261008T123045Z/confusion_matrix.png">    </p:cNvPr>
          <p:cNvPicPr>
            <a:picLocks noChangeAspect="1"/>
          </p:cNvPicPr>
          <p:nvPr/>
        </p:nvPicPr>
        <p:blipFill>
          <a:blip r:embed="rId1"/>
          <a:stretch>
            <a:fillRect/>
          </a:stretch>
        </p:blipFill>
        <p:spPr>
          <a:xfrm>
            <a:off x="7973568" y="2907792"/>
            <a:ext cx="3712464" cy="2505456"/>
          </a:xfrm>
          <a:prstGeom prst="rect">
            <a:avLst/>
          </a:prstGeom>
        </p:spPr>
      </p:pic>
      <p:sp>
        <p:nvSpPr>
          <p:cNvPr id="16" name="Shape 12"/>
          <p:cNvSpPr/>
          <p:nvPr/>
        </p:nvSpPr>
        <p:spPr>
          <a:xfrm>
            <a:off x="502920" y="5486400"/>
            <a:ext cx="11185855" cy="914400"/>
          </a:xfrm>
          <a:prstGeom prst="roundRect">
            <a:avLst>
              <a:gd name="adj" fmla="val 8000"/>
            </a:avLst>
          </a:prstGeom>
          <a:solidFill>
            <a:srgbClr val="0E2A33"/>
          </a:solidFill>
          <a:ln w="12700">
            <a:solidFill>
              <a:srgbClr val="0E2A33"/>
            </a:solidFill>
            <a:prstDash val="solid"/>
          </a:ln>
        </p:spPr>
      </p:sp>
      <p:sp>
        <p:nvSpPr>
          <p:cNvPr id="17" name="Text 13"/>
          <p:cNvSpPr txBox="1"/>
          <p:nvPr/>
        </p:nvSpPr>
        <p:spPr>
          <a:xfrm>
            <a:off x="612648" y="5513832"/>
            <a:ext cx="10966399" cy="859536"/>
          </a:xfrm>
          <a:prstGeom prst="rect">
            <a:avLst/>
          </a:prstGeom>
          <a:noFill/>
          <a:ln/>
        </p:spPr>
        <p:txBody>
          <a:bodyPr wrap="square" lIns="762" tIns="762" rIns="762" bIns="762" rtlCol="0" anchor="ctr"/>
          <a:lstStyle/>
          <a:p>
            <a:pPr algn="l" indent="0" marL="0">
              <a:lnSpc>
                <a:spcPct val="100000"/>
              </a:lnSpc>
              <a:buNone/>
            </a:pPr>
            <a:r>
              <a:rPr lang="en-US" sz="1050" b="1" dirty="0">
                <a:solidFill>
                  <a:srgbClr val="E39B2D"/>
                </a:solidFill>
                <a:latin typeface="Calibri" pitchFamily="34" charset="0"/>
                <a:ea typeface="Calibri" pitchFamily="34" charset="-122"/>
                <a:cs typeface="Calibri" pitchFamily="34" charset="-120"/>
              </a:rPr>
              <a:t>Reading: </a:t>
            </a:r>
            <a:pPr algn="l" indent="0" marL="0">
              <a:lnSpc>
                <a:spcPct val="100000"/>
              </a:lnSpc>
              <a:buNone/>
            </a:pPr>
            <a:r>
              <a:rPr lang="en-US" sz="1050" dirty="0">
                <a:solidFill>
                  <a:srgbClr val="FFFFFF"/>
                </a:solidFill>
                <a:latin typeface="Calibri" pitchFamily="34" charset="0"/>
                <a:ea typeface="Calibri" pitchFamily="34" charset="-122"/>
                <a:cs typeface="Calibri" pitchFamily="34" charset="-120"/>
              </a:rPr>
              <a:t>Errors pile up on the boundaries our labelling protocol drew and the prompt does not describe. The 1B model answers Credit reporting, the first category listed, for 168 of 200 tickets; llama3.2:3b over-uses Bank account (94 answers for 40 tickets). For qwen2.5:7b and granite4:3b the hardest class is Consumer loan: student-loan tickets that mention collection or the credit file go to Debt collection or Credit reporting, the boundary revision R5 settled. Mortgage-servicer disputes go to Bank account (R1). No reply was UNPARSEABLE, so every miss is a confident wrong answer.</a:t>
            </a:r>
            <a:endParaRPr lang="en-US" sz="1050" dirty="0"/>
          </a:p>
        </p:txBody>
      </p:sp>
      <p:sp>
        <p:nvSpPr>
          <p:cNvPr id="25" name="Slide Number Placeholder 0"/>
          <p:cNvSpPr>
            <a:spLocks noGrp="1"/>
          </p:cNvSpPr>
          <p:nvPr>
            <p:ph type="sldNum" sz="quarter" idx="4294967295"/>
          </p:nvPr>
        </p:nvSpPr>
        <p:spPr>
          <a:xfrm>
            <a:off x="11231575"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B7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02920" y="292608"/>
            <a:ext cx="11185855" cy="566928"/>
          </a:xfrm>
          <a:prstGeom prst="rect">
            <a:avLst/>
          </a:prstGeom>
          <a:noFill/>
          <a:ln/>
        </p:spPr>
        <p:txBody>
          <a:bodyPr wrap="square" lIns="0" tIns="0" rIns="0" bIns="0" rtlCol="0" anchor="ctr"/>
          <a:lstStyle/>
          <a:p>
            <a:pPr indent="0" marL="0">
              <a:buNone/>
            </a:pPr>
            <a:r>
              <a:rPr lang="en-US" sz="2800" b="1" dirty="0">
                <a:solidFill>
                  <a:srgbClr val="17252C"/>
                </a:solidFill>
                <a:latin typeface="Cambria" pitchFamily="34" charset="0"/>
                <a:ea typeface="Cambria" pitchFamily="34" charset="-122"/>
                <a:cs typeface="Cambria" pitchFamily="34" charset="-120"/>
              </a:rPr>
              <a:t>Predictions, recommendation and defence</a:t>
            </a:r>
            <a:endParaRPr lang="en-US" sz="2800" dirty="0"/>
          </a:p>
        </p:txBody>
      </p:sp>
      <p:sp>
        <p:nvSpPr>
          <p:cNvPr id="3" name="Text 1"/>
          <p:cNvSpPr txBox="1"/>
          <p:nvPr/>
        </p:nvSpPr>
        <p:spPr>
          <a:xfrm>
            <a:off x="502920" y="868680"/>
            <a:ext cx="11185855" cy="411480"/>
          </a:xfrm>
          <a:prstGeom prst="rect">
            <a:avLst/>
          </a:prstGeom>
          <a:noFill/>
          <a:ln/>
        </p:spPr>
        <p:txBody>
          <a:bodyPr wrap="square" lIns="0" tIns="0" rIns="0" bIns="0" rtlCol="0" anchor="t"/>
          <a:lstStyle/>
          <a:p>
            <a:pPr indent="0" marL="0">
              <a:buNone/>
            </a:pPr>
            <a:r>
              <a:rPr lang="en-US" sz="1500" dirty="0">
                <a:solidFill>
                  <a:srgbClr val="1F6F78"/>
                </a:solidFill>
                <a:latin typeface="Calibri" pitchFamily="34" charset="0"/>
                <a:ea typeface="Calibri" pitchFamily="34" charset="-122"/>
                <a:cs typeface="Calibri" pitchFamily="34" charset="-120"/>
              </a:rPr>
              <a:t>Recommend qwen2.5:7b (most accurate; meets R1, R2, R5) to suggest routes for an agent to confirm; no candidate meets R3 or R4.</a:t>
            </a:r>
            <a:endParaRPr lang="en-US" sz="1500" dirty="0"/>
          </a:p>
        </p:txBody>
      </p:sp>
      <p:sp>
        <p:nvSpPr>
          <p:cNvPr id="4" name="Text 2"/>
          <p:cNvSpPr txBox="1"/>
          <p:nvPr/>
        </p:nvSpPr>
        <p:spPr>
          <a:xfrm>
            <a:off x="502920" y="6446520"/>
            <a:ext cx="10362895" cy="292608"/>
          </a:xfrm>
          <a:prstGeom prst="rect">
            <a:avLst/>
          </a:prstGeom>
          <a:noFill/>
          <a:ln/>
        </p:spPr>
        <p:txBody>
          <a:bodyPr wrap="square" lIns="0" tIns="0" rIns="0" bIns="0" rtlCol="0" anchor="ctr"/>
          <a:lstStyle/>
          <a:p>
            <a:pPr indent="0" marL="0">
              <a:buNone/>
            </a:pPr>
            <a:r>
              <a:rPr lang="en-US" sz="900" dirty="0">
                <a:solidFill>
                  <a:srgbClr val="5B6B73"/>
                </a:solidFill>
                <a:latin typeface="Calibri" pitchFamily="34" charset="0"/>
                <a:ea typeface="Calibri" pitchFamily="34" charset="-122"/>
                <a:cs typeface="Calibri" pitchFamily="34" charset="-120"/>
              </a:rPr>
              <a:t>Source: predictions: git tag golden-freeze (golden-freeze:predictions/prediction_record.md); outcomes: analysis/output/; requirements: workload/requirements.md; full account: predictions/outcomes.md</a:t>
            </a:r>
            <a:endParaRPr lang="en-US" sz="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1325880"/>
          <a:ext cx="6949440" cy="914400"/>
        </p:xfrm>
        <a:graphic>
          <a:graphicData uri="http://schemas.openxmlformats.org/drawingml/2006/table">
            <a:tbl>
              <a:tblPr/>
              <a:tblGrid>
                <a:gridCol w="1188720"/>
                <a:gridCol w="1143000"/>
                <a:gridCol w="1371600"/>
                <a:gridCol w="1051560"/>
                <a:gridCol w="1097280"/>
                <a:gridCol w="1097280"/>
              </a:tblGrid>
              <a:tr h="0">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R1 p95 @1/min ≤ 10 s</a:t>
                      </a:r>
                      <a:endParaRPr lang="en-US" sz="8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R2 12/min, ≤ 5% err, ≤ 660 s</a:t>
                      </a:r>
                      <a:endParaRPr lang="en-US" sz="8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R3 overall ≥ 90%</a:t>
                      </a:r>
                      <a:endParaRPr lang="en-US" sz="8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R4 every cat. ≥ 80%</a:t>
                      </a:r>
                      <a:endParaRPr lang="en-US" sz="8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R5 search p95 ≤ 2 s</a:t>
                      </a:r>
                      <a:endParaRPr lang="en-US" sz="8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r>
              <a:tr h="0">
                <a:tc>
                  <a:txBody>
                    <a:bodyPr/>
                    <a:lstStyle/>
                    <a:p>
                      <a:pPr algn="l" indent="0" marL="0">
                        <a:buNone/>
                      </a:pPr>
                      <a:r>
                        <a:rPr lang="en-US" sz="950" b="1" dirty="0">
                          <a:solidFill>
                            <a:srgbClr val="17252C"/>
                          </a:solidFill>
                          <a:latin typeface="Calibri" pitchFamily="34" charset="0"/>
                          <a:ea typeface="Calibri" pitchFamily="34" charset="-122"/>
                          <a:cs typeface="Calibri" pitchFamily="34" charset="-120"/>
                        </a:rPr>
                        <a:t>llama3.2:1b q4_K_M</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5B"/>
                          </a:solidFill>
                          <a:latin typeface="Calibri" pitchFamily="34" charset="0"/>
                          <a:ea typeface="Calibri" pitchFamily="34" charset="-122"/>
                          <a:cs typeface="Calibri" pitchFamily="34" charset="-120"/>
                        </a:rPr>
                        <a:t>959 ms</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DCEFE5"/>
                    </a:solidFill>
                  </a:tcPr>
                </a:tc>
                <a:tc>
                  <a:txBody>
                    <a:bodyPr/>
                    <a:lstStyle/>
                    <a:p>
                      <a:pPr algn="ctr" indent="0" marL="0">
                        <a:buNone/>
                      </a:pPr>
                      <a:r>
                        <a:rPr lang="en-US" sz="950" b="1" dirty="0">
                          <a:solidFill>
                            <a:srgbClr val="2E7D5B"/>
                          </a:solidFill>
                          <a:latin typeface="Calibri" pitchFamily="34" charset="0"/>
                          <a:ea typeface="Calibri" pitchFamily="34" charset="-122"/>
                          <a:cs typeface="Calibri" pitchFamily="34" charset="-120"/>
                        </a:rPr>
                        <a:t>0.0%, 598 s</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DCEFE5"/>
                    </a:solidFill>
                  </a:tcPr>
                </a:tc>
                <a:tc>
                  <a:txBody>
                    <a:bodyPr/>
                    <a:lstStyle/>
                    <a:p>
                      <a:pPr algn="ctr" indent="0" marL="0">
                        <a:buNone/>
                      </a:pPr>
                      <a:r>
                        <a:rPr lang="en-US" sz="950" b="1" dirty="0">
                          <a:solidFill>
                            <a:srgbClr val="B23A48"/>
                          </a:solidFill>
                          <a:latin typeface="Calibri" pitchFamily="34" charset="0"/>
                          <a:ea typeface="Calibri" pitchFamily="34" charset="-122"/>
                          <a:cs typeface="Calibri" pitchFamily="34" charset="-120"/>
                        </a:rPr>
                        <a:t>26.0%</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b="1" dirty="0">
                          <a:solidFill>
                            <a:srgbClr val="B23A48"/>
                          </a:solidFill>
                          <a:latin typeface="Calibri" pitchFamily="34" charset="0"/>
                          <a:ea typeface="Calibri" pitchFamily="34" charset="-122"/>
                          <a:cs typeface="Calibri" pitchFamily="34" charset="-120"/>
                        </a:rPr>
                        <a:t>min 0%</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b="1" dirty="0">
                          <a:solidFill>
                            <a:srgbClr val="2E7D5B"/>
                          </a:solidFill>
                          <a:latin typeface="Calibri" pitchFamily="34" charset="0"/>
                          <a:ea typeface="Calibri" pitchFamily="34" charset="-122"/>
                          <a:cs typeface="Calibri" pitchFamily="34" charset="-120"/>
                        </a:rPr>
                        <a:t>17 ms</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DCEFE5"/>
                    </a:solidFill>
                  </a:tcPr>
                </a:tc>
              </a:tr>
              <a:tr h="0">
                <a:tc>
                  <a:txBody>
                    <a:bodyPr/>
                    <a:lstStyle/>
                    <a:p>
                      <a:pPr algn="l" indent="0" marL="0">
                        <a:buNone/>
                      </a:pPr>
                      <a:r>
                        <a:rPr lang="en-US" sz="950" b="1" dirty="0">
                          <a:solidFill>
                            <a:srgbClr val="17252C"/>
                          </a:solidFill>
                          <a:latin typeface="Calibri" pitchFamily="34" charset="0"/>
                          <a:ea typeface="Calibri" pitchFamily="34" charset="-122"/>
                          <a:cs typeface="Calibri" pitchFamily="34" charset="-120"/>
                        </a:rPr>
                        <a:t>llama3.2:3b</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ctr" indent="0" marL="0">
                        <a:buNone/>
                      </a:pPr>
                      <a:r>
                        <a:rPr lang="en-US" sz="950" b="1" dirty="0">
                          <a:solidFill>
                            <a:srgbClr val="2E7D5B"/>
                          </a:solidFill>
                          <a:latin typeface="Calibri" pitchFamily="34" charset="0"/>
                          <a:ea typeface="Calibri" pitchFamily="34" charset="-122"/>
                          <a:cs typeface="Calibri" pitchFamily="34" charset="-120"/>
                        </a:rPr>
                        <a:t>2.3 s</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DCEFE5"/>
                    </a:solidFill>
                  </a:tcPr>
                </a:tc>
                <a:tc>
                  <a:txBody>
                    <a:bodyPr/>
                    <a:lstStyle/>
                    <a:p>
                      <a:pPr algn="ctr" indent="0" marL="0">
                        <a:buNone/>
                      </a:pPr>
                      <a:r>
                        <a:rPr lang="en-US" sz="950" b="1" dirty="0">
                          <a:solidFill>
                            <a:srgbClr val="2E7D5B"/>
                          </a:solidFill>
                          <a:latin typeface="Calibri" pitchFamily="34" charset="0"/>
                          <a:ea typeface="Calibri" pitchFamily="34" charset="-122"/>
                          <a:cs typeface="Calibri" pitchFamily="34" charset="-120"/>
                        </a:rPr>
                        <a:t>0.0%, 587 s</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DCEFE5"/>
                    </a:solidFill>
                  </a:tcPr>
                </a:tc>
                <a:tc>
                  <a:txBody>
                    <a:bodyPr/>
                    <a:lstStyle/>
                    <a:p>
                      <a:pPr algn="ctr" indent="0" marL="0">
                        <a:buNone/>
                      </a:pPr>
                      <a:r>
                        <a:rPr lang="en-US" sz="950" b="1" dirty="0">
                          <a:solidFill>
                            <a:srgbClr val="B23A48"/>
                          </a:solidFill>
                          <a:latin typeface="Calibri" pitchFamily="34" charset="0"/>
                          <a:ea typeface="Calibri" pitchFamily="34" charset="-122"/>
                          <a:cs typeface="Calibri" pitchFamily="34" charset="-120"/>
                        </a:rPr>
                        <a:t>48.5%</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b="1" dirty="0">
                          <a:solidFill>
                            <a:srgbClr val="B23A48"/>
                          </a:solidFill>
                          <a:latin typeface="Calibri" pitchFamily="34" charset="0"/>
                          <a:ea typeface="Calibri" pitchFamily="34" charset="-122"/>
                          <a:cs typeface="Calibri" pitchFamily="34" charset="-120"/>
                        </a:rPr>
                        <a:t>min 0%</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b="1" dirty="0">
                          <a:solidFill>
                            <a:srgbClr val="2E7D5B"/>
                          </a:solidFill>
                          <a:latin typeface="Calibri" pitchFamily="34" charset="0"/>
                          <a:ea typeface="Calibri" pitchFamily="34" charset="-122"/>
                          <a:cs typeface="Calibri" pitchFamily="34" charset="-120"/>
                        </a:rPr>
                        <a:t>17 ms</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DCEFE5"/>
                    </a:solidFill>
                  </a:tcPr>
                </a:tc>
              </a:tr>
              <a:tr h="0">
                <a:tc>
                  <a:txBody>
                    <a:bodyPr/>
                    <a:lstStyle/>
                    <a:p>
                      <a:pPr algn="l" indent="0" marL="0">
                        <a:buNone/>
                      </a:pPr>
                      <a:r>
                        <a:rPr lang="en-US" sz="950" b="1" dirty="0">
                          <a:solidFill>
                            <a:srgbClr val="17252C"/>
                          </a:solidFill>
                          <a:latin typeface="Calibri" pitchFamily="34" charset="0"/>
                          <a:ea typeface="Calibri" pitchFamily="34" charset="-122"/>
                          <a:cs typeface="Calibri" pitchFamily="34" charset="-120"/>
                        </a:rPr>
                        <a:t>granite4:3b</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5B"/>
                          </a:solidFill>
                          <a:latin typeface="Calibri" pitchFamily="34" charset="0"/>
                          <a:ea typeface="Calibri" pitchFamily="34" charset="-122"/>
                          <a:cs typeface="Calibri" pitchFamily="34" charset="-120"/>
                        </a:rPr>
                        <a:t>2.4 s</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DCEFE5"/>
                    </a:solidFill>
                  </a:tcPr>
                </a:tc>
                <a:tc>
                  <a:txBody>
                    <a:bodyPr/>
                    <a:lstStyle/>
                    <a:p>
                      <a:pPr algn="ctr" indent="0" marL="0">
                        <a:buNone/>
                      </a:pPr>
                      <a:r>
                        <a:rPr lang="en-US" sz="950" b="1" dirty="0">
                          <a:solidFill>
                            <a:srgbClr val="2E7D5B"/>
                          </a:solidFill>
                          <a:latin typeface="Calibri" pitchFamily="34" charset="0"/>
                          <a:ea typeface="Calibri" pitchFamily="34" charset="-122"/>
                          <a:cs typeface="Calibri" pitchFamily="34" charset="-120"/>
                        </a:rPr>
                        <a:t>0.0%, 598 s</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DCEFE5"/>
                    </a:solidFill>
                  </a:tcPr>
                </a:tc>
                <a:tc>
                  <a:txBody>
                    <a:bodyPr/>
                    <a:lstStyle/>
                    <a:p>
                      <a:pPr algn="ctr" indent="0" marL="0">
                        <a:buNone/>
                      </a:pPr>
                      <a:r>
                        <a:rPr lang="en-US" sz="950" b="1" dirty="0">
                          <a:solidFill>
                            <a:srgbClr val="B23A48"/>
                          </a:solidFill>
                          <a:latin typeface="Calibri" pitchFamily="34" charset="0"/>
                          <a:ea typeface="Calibri" pitchFamily="34" charset="-122"/>
                          <a:cs typeface="Calibri" pitchFamily="34" charset="-120"/>
                        </a:rPr>
                        <a:t>66.0%</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b="1" dirty="0">
                          <a:solidFill>
                            <a:srgbClr val="B23A48"/>
                          </a:solidFill>
                          <a:latin typeface="Calibri" pitchFamily="34" charset="0"/>
                          <a:ea typeface="Calibri" pitchFamily="34" charset="-122"/>
                          <a:cs typeface="Calibri" pitchFamily="34" charset="-120"/>
                        </a:rPr>
                        <a:t>min 35%</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b="1" dirty="0">
                          <a:solidFill>
                            <a:srgbClr val="2E7D5B"/>
                          </a:solidFill>
                          <a:latin typeface="Calibri" pitchFamily="34" charset="0"/>
                          <a:ea typeface="Calibri" pitchFamily="34" charset="-122"/>
                          <a:cs typeface="Calibri" pitchFamily="34" charset="-120"/>
                        </a:rPr>
                        <a:t>17 ms</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DCEFE5"/>
                    </a:solidFill>
                  </a:tcPr>
                </a:tc>
              </a:tr>
              <a:tr h="0">
                <a:tc>
                  <a:txBody>
                    <a:bodyPr/>
                    <a:lstStyle/>
                    <a:p>
                      <a:pPr algn="l" indent="0" marL="0">
                        <a:buNone/>
                      </a:pPr>
                      <a:r>
                        <a:rPr lang="en-US" sz="950" b="1" dirty="0">
                          <a:solidFill>
                            <a:srgbClr val="17252C"/>
                          </a:solidFill>
                          <a:latin typeface="Calibri" pitchFamily="34" charset="0"/>
                          <a:ea typeface="Calibri" pitchFamily="34" charset="-122"/>
                          <a:cs typeface="Calibri" pitchFamily="34" charset="-120"/>
                        </a:rPr>
                        <a:t>qwen2.5:7b</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ctr" indent="0" marL="0">
                        <a:buNone/>
                      </a:pPr>
                      <a:r>
                        <a:rPr lang="en-US" sz="950" b="1" dirty="0">
                          <a:solidFill>
                            <a:srgbClr val="2E7D5B"/>
                          </a:solidFill>
                          <a:latin typeface="Calibri" pitchFamily="34" charset="0"/>
                          <a:ea typeface="Calibri" pitchFamily="34" charset="-122"/>
                          <a:cs typeface="Calibri" pitchFamily="34" charset="-120"/>
                        </a:rPr>
                        <a:t>5.5 s</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DCEFE5"/>
                    </a:solidFill>
                  </a:tcPr>
                </a:tc>
                <a:tc>
                  <a:txBody>
                    <a:bodyPr/>
                    <a:lstStyle/>
                    <a:p>
                      <a:pPr algn="ctr" indent="0" marL="0">
                        <a:buNone/>
                      </a:pPr>
                      <a:r>
                        <a:rPr lang="en-US" sz="950" b="1" dirty="0">
                          <a:solidFill>
                            <a:srgbClr val="2E7D5B"/>
                          </a:solidFill>
                          <a:latin typeface="Calibri" pitchFamily="34" charset="0"/>
                          <a:ea typeface="Calibri" pitchFamily="34" charset="-122"/>
                          <a:cs typeface="Calibri" pitchFamily="34" charset="-120"/>
                        </a:rPr>
                        <a:t>0.0%, 603 s</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DCEFE5"/>
                    </a:solidFill>
                  </a:tcPr>
                </a:tc>
                <a:tc>
                  <a:txBody>
                    <a:bodyPr/>
                    <a:lstStyle/>
                    <a:p>
                      <a:pPr algn="ctr" indent="0" marL="0">
                        <a:buNone/>
                      </a:pPr>
                      <a:r>
                        <a:rPr lang="en-US" sz="950" b="1" dirty="0">
                          <a:solidFill>
                            <a:srgbClr val="B23A48"/>
                          </a:solidFill>
                          <a:latin typeface="Calibri" pitchFamily="34" charset="0"/>
                          <a:ea typeface="Calibri" pitchFamily="34" charset="-122"/>
                          <a:cs typeface="Calibri" pitchFamily="34" charset="-120"/>
                        </a:rPr>
                        <a:t>74.0%</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b="1" dirty="0">
                          <a:solidFill>
                            <a:srgbClr val="B23A48"/>
                          </a:solidFill>
                          <a:latin typeface="Calibri" pitchFamily="34" charset="0"/>
                          <a:ea typeface="Calibri" pitchFamily="34" charset="-122"/>
                          <a:cs typeface="Calibri" pitchFamily="34" charset="-120"/>
                        </a:rPr>
                        <a:t>min 57%</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b="1" dirty="0">
                          <a:solidFill>
                            <a:srgbClr val="2E7D5B"/>
                          </a:solidFill>
                          <a:latin typeface="Calibri" pitchFamily="34" charset="0"/>
                          <a:ea typeface="Calibri" pitchFamily="34" charset="-122"/>
                          <a:cs typeface="Calibri" pitchFamily="34" charset="-120"/>
                        </a:rPr>
                        <a:t>140 ms</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DCEFE5"/>
                    </a:solidFill>
                  </a:tcPr>
                </a:tc>
              </a:tr>
            </a:tbl>
          </a:graphicData>
        </a:graphic>
      </p:graphicFrame>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502920" y="2606040"/>
          <a:ext cx="6949440" cy="914400"/>
        </p:xfrm>
        <a:graphic>
          <a:graphicData uri="http://schemas.openxmlformats.org/drawingml/2006/table">
            <a:tbl>
              <a:tblPr/>
              <a:tblGrid>
                <a:gridCol w="1188720"/>
                <a:gridCol w="1920240"/>
                <a:gridCol w="1920240"/>
                <a:gridCol w="1920240"/>
              </a:tblGrid>
              <a:tr h="0">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Model</a:t>
                      </a:r>
                      <a:endParaRPr lang="en-US" sz="90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Accuracy: predicted → measured</a:t>
                      </a:r>
                      <a:endParaRPr lang="en-US" sz="90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Warm p50: predicted → measured</a:t>
                      </a:r>
                      <a:endParaRPr lang="en-US" sz="90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p95 @1/min: predicted → worst run</a:t>
                      </a:r>
                      <a:endParaRPr lang="en-US" sz="90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r>
              <a:tr h="0">
                <a:tc>
                  <a:txBody>
                    <a:bodyPr/>
                    <a:lstStyle/>
                    <a:p>
                      <a:pPr algn="l" indent="0" marL="0">
                        <a:buNone/>
                      </a:pPr>
                      <a:r>
                        <a:rPr lang="en-US" sz="950" b="1" dirty="0">
                          <a:solidFill>
                            <a:srgbClr val="17252C"/>
                          </a:solidFill>
                          <a:latin typeface="Calibri" pitchFamily="34" charset="0"/>
                          <a:ea typeface="Calibri" pitchFamily="34" charset="-122"/>
                          <a:cs typeface="Calibri" pitchFamily="34" charset="-120"/>
                        </a:rPr>
                        <a:t>llama3.2:1b q4_K_M</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950" dirty="0">
                          <a:solidFill>
                            <a:srgbClr val="17252C"/>
                          </a:solidFill>
                          <a:latin typeface="Calibri" pitchFamily="34" charset="0"/>
                          <a:ea typeface="Calibri" pitchFamily="34" charset="-122"/>
                          <a:cs typeface="Calibri" pitchFamily="34" charset="-120"/>
                        </a:rPr>
                        <a:t>38% (33–43)* → 26.0%</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950" dirty="0">
                          <a:solidFill>
                            <a:srgbClr val="17252C"/>
                          </a:solidFill>
                          <a:latin typeface="Calibri" pitchFamily="34" charset="0"/>
                          <a:ea typeface="Calibri" pitchFamily="34" charset="-122"/>
                          <a:cs typeface="Calibri" pitchFamily="34" charset="-120"/>
                        </a:rPr>
                        <a:t>850 ms → 501 ms</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950" dirty="0">
                          <a:solidFill>
                            <a:srgbClr val="17252C"/>
                          </a:solidFill>
                          <a:latin typeface="Calibri" pitchFamily="34" charset="0"/>
                          <a:ea typeface="Calibri" pitchFamily="34" charset="-122"/>
                          <a:cs typeface="Calibri" pitchFamily="34" charset="-120"/>
                        </a:rPr>
                        <a:t>1.8 s → 959 ms</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r>
              <a:tr h="0">
                <a:tc>
                  <a:txBody>
                    <a:bodyPr/>
                    <a:lstStyle/>
                    <a:p>
                      <a:pPr algn="l" indent="0" marL="0">
                        <a:buNone/>
                      </a:pPr>
                      <a:r>
                        <a:rPr lang="en-US" sz="950" b="1" dirty="0">
                          <a:solidFill>
                            <a:srgbClr val="17252C"/>
                          </a:solidFill>
                          <a:latin typeface="Calibri" pitchFamily="34" charset="0"/>
                          <a:ea typeface="Calibri" pitchFamily="34" charset="-122"/>
                          <a:cs typeface="Calibri" pitchFamily="34" charset="-120"/>
                        </a:rPr>
                        <a:t>llama3.2:3b</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950" dirty="0">
                          <a:solidFill>
                            <a:srgbClr val="17252C"/>
                          </a:solidFill>
                          <a:latin typeface="Calibri" pitchFamily="34" charset="0"/>
                          <a:ea typeface="Calibri" pitchFamily="34" charset="-122"/>
                          <a:cs typeface="Calibri" pitchFamily="34" charset="-120"/>
                        </a:rPr>
                        <a:t>55% (49–61) → 48.5%</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950" dirty="0">
                          <a:solidFill>
                            <a:srgbClr val="17252C"/>
                          </a:solidFill>
                          <a:latin typeface="Calibri" pitchFamily="34" charset="0"/>
                          <a:ea typeface="Calibri" pitchFamily="34" charset="-122"/>
                          <a:cs typeface="Calibri" pitchFamily="34" charset="-120"/>
                        </a:rPr>
                        <a:t>2.0 s → 1.2 s</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950" dirty="0">
                          <a:solidFill>
                            <a:srgbClr val="17252C"/>
                          </a:solidFill>
                          <a:latin typeface="Calibri" pitchFamily="34" charset="0"/>
                          <a:ea typeface="Calibri" pitchFamily="34" charset="-122"/>
                          <a:cs typeface="Calibri" pitchFamily="34" charset="-120"/>
                        </a:rPr>
                        <a:t>4.3 s → 2.3 s</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r>
              <a:tr h="0">
                <a:tc>
                  <a:txBody>
                    <a:bodyPr/>
                    <a:lstStyle/>
                    <a:p>
                      <a:pPr algn="l" indent="0" marL="0">
                        <a:buNone/>
                      </a:pPr>
                      <a:r>
                        <a:rPr lang="en-US" sz="950" b="1" dirty="0">
                          <a:solidFill>
                            <a:srgbClr val="17252C"/>
                          </a:solidFill>
                          <a:latin typeface="Calibri" pitchFamily="34" charset="0"/>
                          <a:ea typeface="Calibri" pitchFamily="34" charset="-122"/>
                          <a:cs typeface="Calibri" pitchFamily="34" charset="-120"/>
                        </a:rPr>
                        <a:t>granite4:3b</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950" dirty="0">
                          <a:solidFill>
                            <a:srgbClr val="17252C"/>
                          </a:solidFill>
                          <a:latin typeface="Calibri" pitchFamily="34" charset="0"/>
                          <a:ea typeface="Calibri" pitchFamily="34" charset="-122"/>
                          <a:cs typeface="Calibri" pitchFamily="34" charset="-120"/>
                        </a:rPr>
                        <a:t>60% (54–66) → 66.0%</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950" dirty="0">
                          <a:solidFill>
                            <a:srgbClr val="17252C"/>
                          </a:solidFill>
                          <a:latin typeface="Calibri" pitchFamily="34" charset="0"/>
                          <a:ea typeface="Calibri" pitchFamily="34" charset="-122"/>
                          <a:cs typeface="Calibri" pitchFamily="34" charset="-120"/>
                        </a:rPr>
                        <a:t>2.2 s → 1.1 s</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950" dirty="0">
                          <a:solidFill>
                            <a:srgbClr val="17252C"/>
                          </a:solidFill>
                          <a:latin typeface="Calibri" pitchFamily="34" charset="0"/>
                          <a:ea typeface="Calibri" pitchFamily="34" charset="-122"/>
                          <a:cs typeface="Calibri" pitchFamily="34" charset="-120"/>
                        </a:rPr>
                        <a:t>4.6 s → 2.4 s</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r>
              <a:tr h="0">
                <a:tc>
                  <a:txBody>
                    <a:bodyPr/>
                    <a:lstStyle/>
                    <a:p>
                      <a:pPr algn="l" indent="0" marL="0">
                        <a:buNone/>
                      </a:pPr>
                      <a:r>
                        <a:rPr lang="en-US" sz="950" b="1" dirty="0">
                          <a:solidFill>
                            <a:srgbClr val="17252C"/>
                          </a:solidFill>
                          <a:latin typeface="Calibri" pitchFamily="34" charset="0"/>
                          <a:ea typeface="Calibri" pitchFamily="34" charset="-122"/>
                          <a:cs typeface="Calibri" pitchFamily="34" charset="-120"/>
                        </a:rPr>
                        <a:t>qwen2.5:7b</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950" dirty="0">
                          <a:solidFill>
                            <a:srgbClr val="17252C"/>
                          </a:solidFill>
                          <a:latin typeface="Calibri" pitchFamily="34" charset="0"/>
                          <a:ea typeface="Calibri" pitchFamily="34" charset="-122"/>
                          <a:cs typeface="Calibri" pitchFamily="34" charset="-120"/>
                        </a:rPr>
                        <a:t>70% (64–76) → 74.0%</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950" dirty="0">
                          <a:solidFill>
                            <a:srgbClr val="17252C"/>
                          </a:solidFill>
                          <a:latin typeface="Calibri" pitchFamily="34" charset="0"/>
                          <a:ea typeface="Calibri" pitchFamily="34" charset="-122"/>
                          <a:cs typeface="Calibri" pitchFamily="34" charset="-120"/>
                        </a:rPr>
                        <a:t>4.6 s → 2.3 s</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950" dirty="0">
                          <a:solidFill>
                            <a:srgbClr val="17252C"/>
                          </a:solidFill>
                          <a:latin typeface="Calibri" pitchFamily="34" charset="0"/>
                          <a:ea typeface="Calibri" pitchFamily="34" charset="-122"/>
                          <a:cs typeface="Calibri" pitchFamily="34" charset="-120"/>
                        </a:rPr>
                        <a:t>10.5 s → 5.5 s</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r>
            </a:tbl>
          </a:graphicData>
        </a:graphic>
      </p:graphicFrame>
      <p:sp>
        <p:nvSpPr>
          <p:cNvPr id="7" name="Text 3"/>
          <p:cNvSpPr txBox="1"/>
          <p:nvPr/>
        </p:nvSpPr>
        <p:spPr>
          <a:xfrm>
            <a:off x="502920" y="3813048"/>
            <a:ext cx="6949440" cy="228600"/>
          </a:xfrm>
          <a:prstGeom prst="rect">
            <a:avLst/>
          </a:prstGeom>
          <a:noFill/>
          <a:ln/>
        </p:spPr>
        <p:txBody>
          <a:bodyPr wrap="square" lIns="0" tIns="0" rIns="0" bIns="0" rtlCol="0" anchor="t"/>
          <a:lstStyle/>
          <a:p>
            <a:pPr algn="l" indent="0" marL="0">
              <a:lnSpc>
                <a:spcPct val="100000"/>
              </a:lnSpc>
              <a:buNone/>
            </a:pPr>
            <a:r>
              <a:rPr lang="en-US" sz="800" i="1" dirty="0">
                <a:solidFill>
                  <a:srgbClr val="5B6B73"/>
                </a:solidFill>
                <a:latin typeface="Calibri" pitchFamily="34" charset="0"/>
                <a:ea typeface="Calibri" pitchFamily="34" charset="-122"/>
                <a:cs typeface="Calibri" pitchFamily="34" charset="-120"/>
              </a:rPr>
              <a:t>* not blind: the drafter had seen an excluded pre-prediction run's category counts (prediction record §0).</a:t>
            </a:r>
            <a:endParaRPr lang="en-US" sz="800" dirty="0"/>
          </a:p>
        </p:txBody>
      </p:sp>
      <p:sp>
        <p:nvSpPr>
          <p:cNvPr id="8" name="Text 4"/>
          <p:cNvSpPr txBox="1"/>
          <p:nvPr/>
        </p:nvSpPr>
        <p:spPr>
          <a:xfrm>
            <a:off x="502920" y="4087368"/>
            <a:ext cx="6949440" cy="2313432"/>
          </a:xfrm>
          <a:prstGeom prst="rect">
            <a:avLst/>
          </a:prstGeom>
          <a:noFill/>
          <a:ln/>
        </p:spPr>
        <p:txBody>
          <a:bodyPr wrap="square" lIns="762" tIns="762" rIns="762" bIns="762" rtlCol="0" anchor="t"/>
          <a:lstStyle/>
          <a:p>
            <a:pPr algn="l" indent="0" marL="0">
              <a:lnSpc>
                <a:spcPct val="100000"/>
              </a:lnSpc>
              <a:buNone/>
            </a:pPr>
            <a:r>
              <a:rPr lang="en-US" sz="1000" b="1" dirty="0">
                <a:solidFill>
                  <a:srgbClr val="1F6F78"/>
                </a:solidFill>
                <a:latin typeface="Calibri" pitchFamily="34" charset="0"/>
                <a:ea typeface="Calibri" pitchFamily="34" charset="-122"/>
                <a:cs typeface="Calibri" pitchFamily="34" charset="-120"/>
              </a:rPr>
              <a:t>Where we were wrong, and why: </a:t>
            </a:r>
            <a:pPr algn="l" indent="0" marL="0">
              <a:lnSpc>
                <a:spcPct val="100000"/>
              </a:lnSpc>
              <a:buNone/>
            </a:pPr>
            <a:r>
              <a:rPr lang="en-US" sz="1000" dirty="0">
                <a:solidFill>
                  <a:srgbClr val="17252C"/>
                </a:solidFill>
                <a:latin typeface="Calibri" pitchFamily="34" charset="0"/>
                <a:ea typeface="Calibri" pitchFamily="34" charset="-122"/>
                <a:cs typeface="Calibri" pitchFamily="34" charset="-120"/>
              </a:rPr>
              <a:t>Accuracy ranking right, but both Llama models fell below their bands: the 1B answers the first-listed category for 168 of 200 tickets. Latency wrong by about half: prefill ran 3–6× faster than we assumed (decode was right), so every model meets R1 and R2 and qwen2.5:7b's limit is 21/min, not 9/min. The bottleneck's location was right — waiting grows inside Ollama while per-request work stays flat — but we missed that the 121-token instruction prefix is re-evaluated every time and that our handler adds ~0.2 s. We missed Consumer loan and Mortgage as hard categories: their boundaries are protocol revisions R5 and R1, invisible to a model told only the names.</a:t>
            </a:r>
            <a:endParaRPr lang="en-US" sz="1000" dirty="0"/>
          </a:p>
        </p:txBody>
      </p:sp>
      <p:sp>
        <p:nvSpPr>
          <p:cNvPr id="9" name="Shape 5"/>
          <p:cNvSpPr/>
          <p:nvPr/>
        </p:nvSpPr>
        <p:spPr>
          <a:xfrm>
            <a:off x="7680960" y="1325880"/>
            <a:ext cx="4005072" cy="5074920"/>
          </a:xfrm>
          <a:prstGeom prst="roundRect">
            <a:avLst>
              <a:gd name="adj" fmla="val 1826"/>
            </a:avLst>
          </a:prstGeom>
          <a:solidFill>
            <a:srgbClr val="0E2A33"/>
          </a:solidFill>
          <a:ln w="12700">
            <a:solidFill>
              <a:srgbClr val="0E2A33"/>
            </a:solidFill>
            <a:prstDash val="solid"/>
          </a:ln>
        </p:spPr>
      </p:sp>
      <p:sp>
        <p:nvSpPr>
          <p:cNvPr id="10" name="Text 6"/>
          <p:cNvSpPr txBox="1"/>
          <p:nvPr/>
        </p:nvSpPr>
        <p:spPr>
          <a:xfrm>
            <a:off x="7790688" y="1389888"/>
            <a:ext cx="3794760" cy="4937760"/>
          </a:xfrm>
          <a:prstGeom prst="rect">
            <a:avLst/>
          </a:prstGeom>
          <a:noFill/>
          <a:ln/>
        </p:spPr>
        <p:txBody>
          <a:bodyPr wrap="square" lIns="762" tIns="762" rIns="762" bIns="762" rtlCol="0" anchor="t"/>
          <a:lstStyle/>
          <a:p>
            <a:pPr algn="l" indent="0" marL="0">
              <a:lnSpc>
                <a:spcPct val="100000"/>
              </a:lnSpc>
              <a:spcAft>
                <a:spcPts val="300"/>
              </a:spcAft>
              <a:buNone/>
            </a:pPr>
            <a:r>
              <a:rPr lang="en-US" sz="1300" b="1" dirty="0">
                <a:solidFill>
                  <a:srgbClr val="E39B2D"/>
                </a:solidFill>
                <a:latin typeface="Calibri" pitchFamily="34" charset="0"/>
                <a:ea typeface="Calibri" pitchFamily="34" charset="-122"/>
                <a:cs typeface="Calibri" pitchFamily="34" charset="-120"/>
              </a:rPr>
              <a:t>Recommendation</a:t>
            </a:r>
            <a:endParaRPr lang="en-US" sz="1050" dirty="0"/>
          </a:p>
          <a:p>
            <a:pPr algn="l" indent="0" marL="0">
              <a:lnSpc>
                <a:spcPct val="100000"/>
              </a:lnSpc>
              <a:spcAft>
                <a:spcPts val="300"/>
              </a:spcAft>
              <a:buNone/>
            </a:pPr>
            <a:r>
              <a:rPr lang="en-US" sz="1050" dirty="0">
                <a:solidFill>
                  <a:srgbClr val="FFFFFF"/>
                </a:solidFill>
                <a:latin typeface="Calibri" pitchFamily="34" charset="0"/>
                <a:ea typeface="Calibri" pitchFamily="34" charset="-122"/>
                <a:cs typeface="Calibri" pitchFamily="34" charset="-120"/>
              </a:rPr>
              <a:t>qwen2.5:7b (Apache-2.0). It meets R1 (worst-run p95 5.5 s at 1/min), R2 (0% errors; every 12/min run done by 603 s) and R5 (search p95 ≤ 0.14 s), and its stress limit (21/min) is far above the modelled peak of 0.024/min. It fails R3 (74.0%) and R4 (Consumer loan 57%, Credit card 63%). Our requirements rank a misrouted ticket above a slow one, so we trade speed for accuracy: granite4:3b is twice as fast but misroutes 34% of tickets to qwen2.5:7b's 26%. At ~1,500 tickets a year that is still ~390 misroutes, so the model should pre-fill the route for an agent to confirm, not route on its own, until a better prompt (Assignment 2) clears R3.</a:t>
            </a:r>
            <a:endParaRPr lang="en-US" sz="1050" dirty="0"/>
          </a:p>
          <a:p>
            <a:pPr algn="l" indent="0" marL="0">
              <a:lnSpc>
                <a:spcPct val="100000"/>
              </a:lnSpc>
              <a:spcAft>
                <a:spcPts val="300"/>
              </a:spcAft>
              <a:buNone/>
            </a:pPr>
            <a:r>
              <a:rPr lang="en-US" sz="600" dirty="0">
                <a:solidFill>
                  <a:srgbClr val="17252C"/>
                </a:solidFill>
                <a:latin typeface="Calibri" pitchFamily="34" charset="0"/>
                <a:ea typeface="Calibri" pitchFamily="34" charset="-122"/>
                <a:cs typeface="Calibri" pitchFamily="34" charset="-120"/>
              </a:rPr>
              <a:t> </a:t>
            </a:r>
            <a:endParaRPr lang="en-US" sz="1050" dirty="0"/>
          </a:p>
          <a:p>
            <a:pPr algn="l" indent="0" marL="0">
              <a:lnSpc>
                <a:spcPct val="100000"/>
              </a:lnSpc>
              <a:spcAft>
                <a:spcPts val="300"/>
              </a:spcAft>
              <a:buNone/>
            </a:pPr>
            <a:r>
              <a:rPr lang="en-US" sz="1050" b="1" dirty="0">
                <a:solidFill>
                  <a:srgbClr val="E39B2D"/>
                </a:solidFill>
                <a:latin typeface="Calibri" pitchFamily="34" charset="0"/>
                <a:ea typeface="Calibri" pitchFamily="34" charset="-122"/>
                <a:cs typeface="Calibri" pitchFamily="34" charset="-120"/>
              </a:rPr>
              <a:t>Requirements no candidate meets</a:t>
            </a:r>
            <a:endParaRPr lang="en-US" sz="1050" dirty="0"/>
          </a:p>
          <a:p>
            <a:pPr algn="l" indent="0" marL="0">
              <a:lnSpc>
                <a:spcPct val="100000"/>
              </a:lnSpc>
              <a:spcAft>
                <a:spcPts val="300"/>
              </a:spcAft>
              <a:buNone/>
            </a:pPr>
            <a:r>
              <a:rPr lang="en-US" sz="1050" dirty="0">
                <a:solidFill>
                  <a:srgbClr val="FFFFFF"/>
                </a:solidFill>
                <a:latin typeface="Calibri" pitchFamily="34" charset="0"/>
                <a:ea typeface="Calibri" pitchFamily="34" charset="-122"/>
                <a:cs typeface="Calibri" pitchFamily="34" charset="-120"/>
              </a:rPr>
              <a:t>R3 and R4. No candidate reaches 90% overall (best 74.0%) or 80% in every category; every model has a category below 60%. The models are told the category names but not the boundaries our protocol drew, and that is where the errors sit.</a:t>
            </a:r>
            <a:endParaRPr lang="en-US" sz="1050" dirty="0"/>
          </a:p>
          <a:p>
            <a:pPr algn="l" indent="0" marL="0">
              <a:lnSpc>
                <a:spcPct val="100000"/>
              </a:lnSpc>
              <a:spcAft>
                <a:spcPts val="300"/>
              </a:spcAft>
              <a:buNone/>
            </a:pPr>
            <a:r>
              <a:rPr lang="en-US" sz="600" dirty="0">
                <a:solidFill>
                  <a:srgbClr val="17252C"/>
                </a:solidFill>
                <a:latin typeface="Calibri" pitchFamily="34" charset="0"/>
                <a:ea typeface="Calibri" pitchFamily="34" charset="-122"/>
                <a:cs typeface="Calibri" pitchFamily="34" charset="-120"/>
              </a:rPr>
              <a:t> </a:t>
            </a:r>
            <a:endParaRPr lang="en-US" sz="1050" dirty="0"/>
          </a:p>
          <a:p>
            <a:pPr algn="l" indent="0" marL="0">
              <a:lnSpc>
                <a:spcPct val="100000"/>
              </a:lnSpc>
              <a:spcAft>
                <a:spcPts val="300"/>
              </a:spcAft>
              <a:buNone/>
            </a:pPr>
            <a:r>
              <a:rPr lang="en-US" sz="1050" b="1" dirty="0">
                <a:solidFill>
                  <a:srgbClr val="E39B2D"/>
                </a:solidFill>
                <a:latin typeface="Calibri" pitchFamily="34" charset="0"/>
                <a:ea typeface="Calibri" pitchFamily="34" charset="-122"/>
                <a:cs typeface="Calibri" pitchFamily="34" charset="-120"/>
              </a:rPr>
              <a:t>Evidence</a:t>
            </a:r>
            <a:endParaRPr lang="en-US" sz="1050" dirty="0"/>
          </a:p>
          <a:p>
            <a:pPr algn="l" indent="0" marL="0">
              <a:lnSpc>
                <a:spcPct val="100000"/>
              </a:lnSpc>
              <a:spcAft>
                <a:spcPts val="300"/>
              </a:spcAft>
              <a:buNone/>
            </a:pPr>
            <a:r>
              <a:rPr lang="en-US" sz="1050" dirty="0">
                <a:solidFill>
                  <a:srgbClr val="FFFFFF"/>
                </a:solidFill>
                <a:latin typeface="Calibri" pitchFamily="34" charset="0"/>
                <a:ea typeface="Calibri" pitchFamily="34" charset="-122"/>
                <a:cs typeface="Calibri" pitchFamily="34" charset="-120"/>
              </a:rPr>
              <a:t>Every figure here is read from analysis/output/. All 55 JMeter runs reconcile sample-for-sample with the service log (0 failures); predictions are the version frozen under the golden-freeze tag before the first run.</a:t>
            </a:r>
            <a:endParaRPr lang="en-US" sz="1050" dirty="0"/>
          </a:p>
        </p:txBody>
      </p:sp>
      <p:sp>
        <p:nvSpPr>
          <p:cNvPr id="25" name="Slide Number Placeholder 0"/>
          <p:cNvSpPr>
            <a:spLocks noGrp="1"/>
          </p:cNvSpPr>
          <p:nvPr>
            <p:ph type="sldNum" sz="quarter" idx="4294967295"/>
          </p:nvPr>
        </p:nvSpPr>
        <p:spPr>
          <a:xfrm>
            <a:off x="11231575"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B7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02920" y="292608"/>
            <a:ext cx="11185855" cy="566928"/>
          </a:xfrm>
          <a:prstGeom prst="rect">
            <a:avLst/>
          </a:prstGeom>
          <a:noFill/>
          <a:ln/>
        </p:spPr>
        <p:txBody>
          <a:bodyPr wrap="square" lIns="0" tIns="0" rIns="0" bIns="0" rtlCol="0" anchor="ctr"/>
          <a:lstStyle/>
          <a:p>
            <a:pPr indent="0" marL="0">
              <a:buNone/>
            </a:pPr>
            <a:r>
              <a:rPr lang="en-US" sz="2800" b="1" dirty="0">
                <a:solidFill>
                  <a:srgbClr val="17252C"/>
                </a:solidFill>
                <a:latin typeface="Cambria" pitchFamily="34" charset="0"/>
                <a:ea typeface="Cambria" pitchFamily="34" charset="-122"/>
                <a:cs typeface="Cambria" pitchFamily="34" charset="-120"/>
              </a:rPr>
              <a:t>References and acknowledgements</a:t>
            </a:r>
            <a:endParaRPr lang="en-US" sz="2800" dirty="0"/>
          </a:p>
        </p:txBody>
      </p:sp>
      <p:sp>
        <p:nvSpPr>
          <p:cNvPr id="3" name="Text 1"/>
          <p:cNvSpPr txBox="1"/>
          <p:nvPr/>
        </p:nvSpPr>
        <p:spPr>
          <a:xfrm>
            <a:off x="502920" y="6446520"/>
            <a:ext cx="10362895" cy="292608"/>
          </a:xfrm>
          <a:prstGeom prst="rect">
            <a:avLst/>
          </a:prstGeom>
          <a:noFill/>
          <a:ln/>
        </p:spPr>
        <p:txBody>
          <a:bodyPr wrap="square" lIns="0" tIns="0" rIns="0" bIns="0" rtlCol="0" anchor="ctr"/>
          <a:lstStyle/>
          <a:p>
            <a:pPr indent="0" marL="0">
              <a:buNone/>
            </a:pPr>
            <a:r>
              <a:rPr lang="en-US" sz="900" dirty="0">
                <a:solidFill>
                  <a:srgbClr val="5B6B73"/>
                </a:solidFill>
                <a:latin typeface="Calibri" pitchFamily="34" charset="0"/>
                <a:ea typeface="Calibri" pitchFamily="34" charset="-122"/>
                <a:cs typeface="Calibri" pitchFamily="34" charset="-120"/>
              </a:rPr>
              <a:t>Source: docs/references.md (IEEE style); NOTICE</a:t>
            </a:r>
            <a:endParaRPr lang="en-US" sz="900" dirty="0"/>
          </a:p>
        </p:txBody>
      </p:sp>
      <p:sp>
        <p:nvSpPr>
          <p:cNvPr id="4" name="Text 2"/>
          <p:cNvSpPr txBox="1"/>
          <p:nvPr/>
        </p:nvSpPr>
        <p:spPr>
          <a:xfrm>
            <a:off x="502920" y="1005840"/>
            <a:ext cx="5486400" cy="4343400"/>
          </a:xfrm>
          <a:prstGeom prst="rect">
            <a:avLst/>
          </a:prstGeom>
          <a:noFill/>
          <a:ln/>
        </p:spPr>
        <p:txBody>
          <a:bodyPr wrap="square" lIns="762" tIns="762" rIns="762" bIns="762" rtlCol="0" anchor="t"/>
          <a:lstStyle/>
          <a:p>
            <a:pPr algn="l" indent="0" marL="0">
              <a:lnSpc>
                <a:spcPct val="100000"/>
              </a:lnSpc>
              <a:spcAft>
                <a:spcPts val="200"/>
              </a:spcAft>
              <a:buNone/>
            </a:pPr>
            <a:r>
              <a:rPr lang="en-US" sz="800" dirty="0">
                <a:solidFill>
                  <a:srgbClr val="17252C"/>
                </a:solidFill>
                <a:latin typeface="Calibri" pitchFamily="34" charset="0"/>
                <a:ea typeface="Calibri" pitchFamily="34" charset="-122"/>
                <a:cs typeface="Calibri" pitchFamily="34" charset="-120"/>
              </a:rPr>
              <a:t>[1] US Consumer Financial Protection Bureau, "Consumer Complaint Database." [Online]. Available: &lt;https://www.consumerfinance.gov/data-research/consumer-complaints/&gt;. [Accessed: 28 September 2026].</a:t>
            </a:r>
            <a:endParaRPr lang="en-US" sz="800" dirty="0"/>
          </a:p>
          <a:p>
            <a:pPr algn="l" indent="0" marL="0">
              <a:lnSpc>
                <a:spcPct val="100000"/>
              </a:lnSpc>
              <a:spcAft>
                <a:spcPts val="200"/>
              </a:spcAft>
              <a:buNone/>
            </a:pPr>
            <a:r>
              <a:rPr lang="en-US" sz="800" dirty="0">
                <a:solidFill>
                  <a:srgbClr val="17252C"/>
                </a:solidFill>
                <a:latin typeface="Calibri" pitchFamily="34" charset="0"/>
                <a:ea typeface="Calibri" pitchFamily="34" charset="-122"/>
                <a:cs typeface="Calibri" pitchFamily="34" charset="-120"/>
              </a:rPr>
              <a:t>[2] ICT3113 course teaching team, "ICT3113 Assignment 1 ticket extract (ict3113_tickets.csv)," course extract from [1], released on xSiTe, Week 1.</a:t>
            </a:r>
            <a:endParaRPr lang="en-US" sz="800" dirty="0"/>
          </a:p>
          <a:p>
            <a:pPr algn="l" indent="0" marL="0">
              <a:lnSpc>
                <a:spcPct val="100000"/>
              </a:lnSpc>
              <a:spcAft>
                <a:spcPts val="200"/>
              </a:spcAft>
              <a:buNone/>
            </a:pPr>
            <a:r>
              <a:rPr lang="en-US" sz="800" dirty="0">
                <a:solidFill>
                  <a:srgbClr val="17252C"/>
                </a:solidFill>
                <a:latin typeface="Calibri" pitchFamily="34" charset="0"/>
                <a:ea typeface="Calibri" pitchFamily="34" charset="-122"/>
                <a:cs typeface="Calibri" pitchFamily="34" charset="-120"/>
              </a:rPr>
              <a:t>[3] Apache Software Foundation, "Apache JMeter," version 5.6.3. [Online]. Available: &lt;https://jmeter.apache.org/&gt;. [Accessed: 8 October 2026].</a:t>
            </a:r>
            <a:endParaRPr lang="en-US" sz="800" dirty="0"/>
          </a:p>
          <a:p>
            <a:pPr algn="l" indent="0" marL="0">
              <a:lnSpc>
                <a:spcPct val="100000"/>
              </a:lnSpc>
              <a:spcAft>
                <a:spcPts val="200"/>
              </a:spcAft>
              <a:buNone/>
            </a:pPr>
            <a:r>
              <a:rPr lang="en-US" sz="800" dirty="0">
                <a:solidFill>
                  <a:srgbClr val="17252C"/>
                </a:solidFill>
                <a:latin typeface="Calibri" pitchFamily="34" charset="0"/>
                <a:ea typeface="Calibri" pitchFamily="34" charset="-122"/>
                <a:cs typeface="Calibri" pitchFamily="34" charset="-120"/>
              </a:rPr>
              <a:t>[4] Apache Software Foundation, "Apache JMeter user manual: component reference." [Online]. Available: &lt;https://jmeter.apache.org/usermanual/component_reference.html#Open_Model_Thread_Group&gt;. [Accessed: 8 October 2026].</a:t>
            </a:r>
            <a:endParaRPr lang="en-US" sz="800" dirty="0"/>
          </a:p>
          <a:p>
            <a:pPr algn="l" indent="0" marL="0">
              <a:lnSpc>
                <a:spcPct val="100000"/>
              </a:lnSpc>
              <a:spcAft>
                <a:spcPts val="200"/>
              </a:spcAft>
              <a:buNone/>
            </a:pPr>
            <a:r>
              <a:rPr lang="en-US" sz="800" dirty="0">
                <a:solidFill>
                  <a:srgbClr val="17252C"/>
                </a:solidFill>
                <a:latin typeface="Calibri" pitchFamily="34" charset="0"/>
                <a:ea typeface="Calibri" pitchFamily="34" charset="-122"/>
                <a:cs typeface="Calibri" pitchFamily="34" charset="-120"/>
              </a:rPr>
              <a:t>[5] Ollama, "Ollama," version 0.34.3. [Online]. Available: &lt;https://ollama.com/&gt;. [Accessed: 8 October 2026].</a:t>
            </a:r>
            <a:endParaRPr lang="en-US" sz="800" dirty="0"/>
          </a:p>
          <a:p>
            <a:pPr algn="l" indent="0" marL="0">
              <a:lnSpc>
                <a:spcPct val="100000"/>
              </a:lnSpc>
              <a:spcAft>
                <a:spcPts val="200"/>
              </a:spcAft>
              <a:buNone/>
            </a:pPr>
            <a:r>
              <a:rPr lang="en-US" sz="800" dirty="0">
                <a:solidFill>
                  <a:srgbClr val="17252C"/>
                </a:solidFill>
                <a:latin typeface="Calibri" pitchFamily="34" charset="0"/>
                <a:ea typeface="Calibri" pitchFamily="34" charset="-122"/>
                <a:cs typeface="Calibri" pitchFamily="34" charset="-120"/>
              </a:rPr>
              <a:t>[6] Ollama, "LICENSE" (MIT License, "Copyright (c) Ollama"). [Online]. Available: &lt;https://github.com/ollama/ollama/blob/main/LICENSE&gt;. [Accessed: 23 September 2026].</a:t>
            </a:r>
            <a:endParaRPr lang="en-US" sz="800" dirty="0"/>
          </a:p>
          <a:p>
            <a:pPr algn="l" indent="0" marL="0">
              <a:lnSpc>
                <a:spcPct val="100000"/>
              </a:lnSpc>
              <a:spcAft>
                <a:spcPts val="200"/>
              </a:spcAft>
              <a:buNone/>
            </a:pPr>
            <a:r>
              <a:rPr lang="en-US" sz="800" dirty="0">
                <a:solidFill>
                  <a:srgbClr val="17252C"/>
                </a:solidFill>
                <a:latin typeface="Calibri" pitchFamily="34" charset="0"/>
                <a:ea typeface="Calibri" pitchFamily="34" charset="-122"/>
                <a:cs typeface="Calibri" pitchFamily="34" charset="-120"/>
              </a:rPr>
              <a:t>[7] Ollama, "Ollama model library." [Online]. Available: &lt;https://ollama.com/library&gt;. [Accessed: 23 September 2026].</a:t>
            </a:r>
            <a:endParaRPr lang="en-US" sz="800" dirty="0"/>
          </a:p>
          <a:p>
            <a:pPr algn="l" indent="0" marL="0">
              <a:lnSpc>
                <a:spcPct val="100000"/>
              </a:lnSpc>
              <a:spcAft>
                <a:spcPts val="200"/>
              </a:spcAft>
              <a:buNone/>
            </a:pPr>
            <a:r>
              <a:rPr lang="en-US" sz="800" dirty="0">
                <a:solidFill>
                  <a:srgbClr val="17252C"/>
                </a:solidFill>
                <a:latin typeface="Calibri" pitchFamily="34" charset="0"/>
                <a:ea typeface="Calibri" pitchFamily="34" charset="-122"/>
                <a:cs typeface="Calibri" pitchFamily="34" charset="-120"/>
              </a:rPr>
              <a:t>[8] Docker Inc., "Docker Engine," version 29.7.2. [Online]. Available: &lt;https://www.docker.com/&gt;. [Accessed: 8 October 2026].</a:t>
            </a:r>
            <a:endParaRPr lang="en-US" sz="800" dirty="0"/>
          </a:p>
          <a:p>
            <a:pPr algn="l" indent="0" marL="0">
              <a:lnSpc>
                <a:spcPct val="100000"/>
              </a:lnSpc>
              <a:spcAft>
                <a:spcPts val="200"/>
              </a:spcAft>
              <a:buNone/>
            </a:pPr>
            <a:r>
              <a:rPr lang="en-US" sz="800" dirty="0">
                <a:solidFill>
                  <a:srgbClr val="17252C"/>
                </a:solidFill>
                <a:latin typeface="Calibri" pitchFamily="34" charset="0"/>
                <a:ea typeface="Calibri" pitchFamily="34" charset="-122"/>
                <a:cs typeface="Calibri" pitchFamily="34" charset="-120"/>
              </a:rPr>
              <a:t>[9] Docker Inc., "Docker Compose," version 5.5.1. [Online]. Available: &lt;https://docs.docker.com/compose/&gt;. [Accessed: 8 October 2026].</a:t>
            </a:r>
            <a:endParaRPr lang="en-US" sz="800" dirty="0"/>
          </a:p>
          <a:p>
            <a:pPr algn="l" indent="0" marL="0">
              <a:lnSpc>
                <a:spcPct val="100000"/>
              </a:lnSpc>
              <a:spcAft>
                <a:spcPts val="200"/>
              </a:spcAft>
              <a:buNone/>
            </a:pPr>
            <a:r>
              <a:rPr lang="en-US" sz="800" dirty="0">
                <a:solidFill>
                  <a:srgbClr val="17252C"/>
                </a:solidFill>
                <a:latin typeface="Calibri" pitchFamily="34" charset="0"/>
                <a:ea typeface="Calibri" pitchFamily="34" charset="-122"/>
                <a:cs typeface="Calibri" pitchFamily="34" charset="-120"/>
              </a:rPr>
              <a:t>[10] S. Ramírez, "FastAPI," version 0.142.4. [Online]. Available: &lt;https://fastapi.tiangolo.com/&gt;. [Accessed: 8 October 2026].</a:t>
            </a:r>
            <a:endParaRPr lang="en-US" sz="800" dirty="0"/>
          </a:p>
          <a:p>
            <a:pPr algn="l" indent="0" marL="0">
              <a:lnSpc>
                <a:spcPct val="100000"/>
              </a:lnSpc>
              <a:spcAft>
                <a:spcPts val="200"/>
              </a:spcAft>
              <a:buNone/>
            </a:pPr>
            <a:r>
              <a:rPr lang="en-US" sz="800" dirty="0">
                <a:solidFill>
                  <a:srgbClr val="17252C"/>
                </a:solidFill>
                <a:latin typeface="Calibri" pitchFamily="34" charset="0"/>
                <a:ea typeface="Calibri" pitchFamily="34" charset="-122"/>
                <a:cs typeface="Calibri" pitchFamily="34" charset="-120"/>
              </a:rPr>
              <a:t>[11] Encode OSS Ltd., "Uvicorn," version 0.54.0. [Online]. Available: &lt;https://uvicorn.dev/&gt;. [Accessed: 8 October 2026].</a:t>
            </a:r>
            <a:endParaRPr lang="en-US" sz="800" dirty="0"/>
          </a:p>
          <a:p>
            <a:pPr algn="l" indent="0" marL="0">
              <a:lnSpc>
                <a:spcPct val="100000"/>
              </a:lnSpc>
              <a:spcAft>
                <a:spcPts val="200"/>
              </a:spcAft>
              <a:buNone/>
            </a:pPr>
            <a:r>
              <a:rPr lang="en-US" sz="800" dirty="0">
                <a:solidFill>
                  <a:srgbClr val="17252C"/>
                </a:solidFill>
                <a:latin typeface="Calibri" pitchFamily="34" charset="0"/>
                <a:ea typeface="Calibri" pitchFamily="34" charset="-122"/>
                <a:cs typeface="Calibri" pitchFamily="34" charset="-120"/>
              </a:rPr>
              <a:t>[12] D. R. Hipp and the SQLite developers, "SQLite," version 3.46.1. [Online]. Available: &lt;https://www.sqlite.org/&gt;. [Accessed: 8 October 2026].</a:t>
            </a:r>
            <a:endParaRPr lang="en-US" sz="800" dirty="0"/>
          </a:p>
          <a:p>
            <a:pPr algn="l" indent="0" marL="0">
              <a:lnSpc>
                <a:spcPct val="100000"/>
              </a:lnSpc>
              <a:spcAft>
                <a:spcPts val="200"/>
              </a:spcAft>
              <a:buNone/>
            </a:pPr>
            <a:r>
              <a:rPr lang="en-US" sz="800" dirty="0">
                <a:solidFill>
                  <a:srgbClr val="17252C"/>
                </a:solidFill>
                <a:latin typeface="Calibri" pitchFamily="34" charset="0"/>
                <a:ea typeface="Calibri" pitchFamily="34" charset="-122"/>
                <a:cs typeface="Calibri" pitchFamily="34" charset="-120"/>
              </a:rPr>
              <a:t>[13] Python Software Foundation, "Python," version 3.11.17. [Online]. Available: &lt;https://www.python.org/&gt;. [Accessed: 8 October 2026].</a:t>
            </a:r>
            <a:endParaRPr lang="en-US" sz="800" dirty="0"/>
          </a:p>
          <a:p>
            <a:pPr algn="l" indent="0" marL="0">
              <a:lnSpc>
                <a:spcPct val="100000"/>
              </a:lnSpc>
              <a:spcAft>
                <a:spcPts val="200"/>
              </a:spcAft>
              <a:buNone/>
            </a:pPr>
            <a:r>
              <a:rPr lang="en-US" sz="800" dirty="0">
                <a:solidFill>
                  <a:srgbClr val="17252C"/>
                </a:solidFill>
                <a:latin typeface="Calibri" pitchFamily="34" charset="0"/>
                <a:ea typeface="Calibri" pitchFamily="34" charset="-122"/>
                <a:cs typeface="Calibri" pitchFamily="34" charset="-120"/>
              </a:rPr>
              <a:t>[14] Ollama, "llama3.2:1b-instruct-q4_K_M" (Meta Llama 3.2 1B Instruct; 1.24B parameters; quantisation Q4_K_M; 808 MB; short digest 22bc6b92eb01). [Online]. Available: &lt;https://ollama.com/library/llama3.2:1b-instruct-q4_K_M&gt;. [Accessed: 2 October 2026].</a:t>
            </a:r>
            <a:endParaRPr lang="en-US" sz="800" dirty="0"/>
          </a:p>
          <a:p>
            <a:pPr algn="l" indent="0" marL="0">
              <a:lnSpc>
                <a:spcPct val="100000"/>
              </a:lnSpc>
              <a:spcAft>
                <a:spcPts val="200"/>
              </a:spcAft>
              <a:buNone/>
            </a:pPr>
            <a:r>
              <a:rPr lang="en-US" sz="800" dirty="0">
                <a:solidFill>
                  <a:srgbClr val="17252C"/>
                </a:solidFill>
                <a:latin typeface="Calibri" pitchFamily="34" charset="0"/>
                <a:ea typeface="Calibri" pitchFamily="34" charset="-122"/>
                <a:cs typeface="Calibri" pitchFamily="34" charset="-120"/>
              </a:rPr>
              <a:t>[15] Ollama, "llama3.2:3b" (Meta Llama 3.2 3B Instruct; 3.21B parameters; default quantisation Q4_K_M). [Online]. Available: &lt;https://ollama.com/library/llama3.2:3b&gt;. [Accessed: 23 September 2026].</a:t>
            </a:r>
            <a:endParaRPr lang="en-US" sz="800" dirty="0"/>
          </a:p>
        </p:txBody>
      </p:sp>
      <p:sp>
        <p:nvSpPr>
          <p:cNvPr id="5" name="Text 3"/>
          <p:cNvSpPr txBox="1"/>
          <p:nvPr/>
        </p:nvSpPr>
        <p:spPr>
          <a:xfrm>
            <a:off x="6172200" y="1005840"/>
            <a:ext cx="5486400" cy="4343400"/>
          </a:xfrm>
          <a:prstGeom prst="rect">
            <a:avLst/>
          </a:prstGeom>
          <a:noFill/>
          <a:ln/>
        </p:spPr>
        <p:txBody>
          <a:bodyPr wrap="square" lIns="762" tIns="762" rIns="762" bIns="762" rtlCol="0" anchor="t"/>
          <a:lstStyle/>
          <a:p>
            <a:pPr algn="l" indent="0" marL="0">
              <a:lnSpc>
                <a:spcPct val="100000"/>
              </a:lnSpc>
              <a:spcAft>
                <a:spcPts val="200"/>
              </a:spcAft>
              <a:buNone/>
            </a:pPr>
            <a:r>
              <a:rPr lang="en-US" sz="800" dirty="0">
                <a:solidFill>
                  <a:srgbClr val="17252C"/>
                </a:solidFill>
                <a:latin typeface="Calibri" pitchFamily="34" charset="0"/>
                <a:ea typeface="Calibri" pitchFamily="34" charset="-122"/>
                <a:cs typeface="Calibri" pitchFamily="34" charset="-120"/>
              </a:rPr>
              <a:t>[16] Meta Platforms, Inc., "LLAMA 3.2 COMMUNITY LICENSE AGREEMENT," 25 September 2024. [Online]. Available: &lt;https://github.com/meta-llama/llama-models/blob/main/models/llama3_2/LICENSE&gt;. [Accessed: 23 September 2026].</a:t>
            </a:r>
            <a:endParaRPr lang="en-US" sz="800" dirty="0"/>
          </a:p>
          <a:p>
            <a:pPr algn="l" indent="0" marL="0">
              <a:lnSpc>
                <a:spcPct val="100000"/>
              </a:lnSpc>
              <a:spcAft>
                <a:spcPts val="200"/>
              </a:spcAft>
              <a:buNone/>
            </a:pPr>
            <a:r>
              <a:rPr lang="en-US" sz="800" dirty="0">
                <a:solidFill>
                  <a:srgbClr val="17252C"/>
                </a:solidFill>
                <a:latin typeface="Calibri" pitchFamily="34" charset="0"/>
                <a:ea typeface="Calibri" pitchFamily="34" charset="-122"/>
                <a:cs typeface="Calibri" pitchFamily="34" charset="-120"/>
              </a:rPr>
              <a:t>[17] Meta Platforms, Inc., "Llama 3.2 licence text as shipped by Ollama." [Online]. Available: &lt;https://ollama.com/library/llama3.2:3b/blobs/fcc5a6bec9da&gt;. [Accessed: 23 September 2026].</a:t>
            </a:r>
            <a:endParaRPr lang="en-US" sz="800" dirty="0"/>
          </a:p>
          <a:p>
            <a:pPr algn="l" indent="0" marL="0">
              <a:lnSpc>
                <a:spcPct val="100000"/>
              </a:lnSpc>
              <a:spcAft>
                <a:spcPts val="200"/>
              </a:spcAft>
              <a:buNone/>
            </a:pPr>
            <a:r>
              <a:rPr lang="en-US" sz="800" dirty="0">
                <a:solidFill>
                  <a:srgbClr val="17252C"/>
                </a:solidFill>
                <a:latin typeface="Calibri" pitchFamily="34" charset="0"/>
                <a:ea typeface="Calibri" pitchFamily="34" charset="-122"/>
                <a:cs typeface="Calibri" pitchFamily="34" charset="-120"/>
              </a:rPr>
              <a:t>[18] Meta Platforms, Inc., "Llama 3.2 Acceptable Use Policy," incorporated by reference into [16]. [Online]. Available: &lt;https://ollama.com/library/llama3.2:3b/blobs/a70ff7e570d9&gt;. [Accessed: 8 October 2026].</a:t>
            </a:r>
            <a:endParaRPr lang="en-US" sz="800" dirty="0"/>
          </a:p>
          <a:p>
            <a:pPr algn="l" indent="0" marL="0">
              <a:lnSpc>
                <a:spcPct val="100000"/>
              </a:lnSpc>
              <a:spcAft>
                <a:spcPts val="200"/>
              </a:spcAft>
              <a:buNone/>
            </a:pPr>
            <a:r>
              <a:rPr lang="en-US" sz="800" dirty="0">
                <a:solidFill>
                  <a:srgbClr val="17252C"/>
                </a:solidFill>
                <a:latin typeface="Calibri" pitchFamily="34" charset="0"/>
                <a:ea typeface="Calibri" pitchFamily="34" charset="-122"/>
                <a:cs typeface="Calibri" pitchFamily="34" charset="-120"/>
              </a:rPr>
              <a:t>[19] Ollama, "granite4:3b" (IBM Granite 4.0 Micro, dense build; 3.4B parameters; default quantisation Q4_K_M). [Online]. Available: &lt;https://ollama.com/library/granite4:3b&gt;. [Accessed: 23 September 2026].</a:t>
            </a:r>
            <a:endParaRPr lang="en-US" sz="800" dirty="0"/>
          </a:p>
          <a:p>
            <a:pPr algn="l" indent="0" marL="0">
              <a:lnSpc>
                <a:spcPct val="100000"/>
              </a:lnSpc>
              <a:spcAft>
                <a:spcPts val="200"/>
              </a:spcAft>
              <a:buNone/>
            </a:pPr>
            <a:r>
              <a:rPr lang="en-US" sz="800" dirty="0">
                <a:solidFill>
                  <a:srgbClr val="17252C"/>
                </a:solidFill>
                <a:latin typeface="Calibri" pitchFamily="34" charset="0"/>
                <a:ea typeface="Calibri" pitchFamily="34" charset="-122"/>
                <a:cs typeface="Calibri" pitchFamily="34" charset="-120"/>
              </a:rPr>
              <a:t>[20] IBM Granite Team, "granite-4.0-micro" (model card; licence apache-2.0). [Online]. Available: &lt;https://huggingface.co/ibm-granite/granite-4.0-micro&gt;. [Accessed: 23 September 2026].</a:t>
            </a:r>
            <a:endParaRPr lang="en-US" sz="800" dirty="0"/>
          </a:p>
          <a:p>
            <a:pPr algn="l" indent="0" marL="0">
              <a:lnSpc>
                <a:spcPct val="100000"/>
              </a:lnSpc>
              <a:spcAft>
                <a:spcPts val="200"/>
              </a:spcAft>
              <a:buNone/>
            </a:pPr>
            <a:r>
              <a:rPr lang="en-US" sz="800" dirty="0">
                <a:solidFill>
                  <a:srgbClr val="17252C"/>
                </a:solidFill>
                <a:latin typeface="Calibri" pitchFamily="34" charset="0"/>
                <a:ea typeface="Calibri" pitchFamily="34" charset="-122"/>
                <a:cs typeface="Calibri" pitchFamily="34" charset="-120"/>
              </a:rPr>
              <a:t>[21] Ollama, "qwen2.5:7b" (Qwen2.5 7B Instruct; 7.62B parameters; default quantisation Q4_K_M). [Online]. Available: &lt;https://ollama.com/library/qwen2.5:7b&gt;. [Accessed: 23 September 2026].</a:t>
            </a:r>
            <a:endParaRPr lang="en-US" sz="800" dirty="0"/>
          </a:p>
          <a:p>
            <a:pPr algn="l" indent="0" marL="0">
              <a:lnSpc>
                <a:spcPct val="100000"/>
              </a:lnSpc>
              <a:spcAft>
                <a:spcPts val="200"/>
              </a:spcAft>
              <a:buNone/>
            </a:pPr>
            <a:r>
              <a:rPr lang="en-US" sz="800" dirty="0">
                <a:solidFill>
                  <a:srgbClr val="17252C"/>
                </a:solidFill>
                <a:latin typeface="Calibri" pitchFamily="34" charset="0"/>
                <a:ea typeface="Calibri" pitchFamily="34" charset="-122"/>
                <a:cs typeface="Calibri" pitchFamily="34" charset="-120"/>
              </a:rPr>
              <a:t>[22] Qwen Team, Alibaba Cloud, "Qwen2.5-7B-Instruct" (model card; licence apache-2.0). [Online]. Available: &lt;https://huggingface.co/Qwen/Qwen2.5-7B-Instruct&gt;. [Accessed: 23 September 2026].</a:t>
            </a:r>
            <a:endParaRPr lang="en-US" sz="800" dirty="0"/>
          </a:p>
          <a:p>
            <a:pPr algn="l" indent="0" marL="0">
              <a:lnSpc>
                <a:spcPct val="100000"/>
              </a:lnSpc>
              <a:spcAft>
                <a:spcPts val="200"/>
              </a:spcAft>
              <a:buNone/>
            </a:pPr>
            <a:r>
              <a:rPr lang="en-US" sz="800" dirty="0">
                <a:solidFill>
                  <a:srgbClr val="17252C"/>
                </a:solidFill>
                <a:latin typeface="Calibri" pitchFamily="34" charset="0"/>
                <a:ea typeface="Calibri" pitchFamily="34" charset="-122"/>
                <a:cs typeface="Calibri" pitchFamily="34" charset="-120"/>
              </a:rPr>
              <a:t>[23] Apache Software Foundation, "Apache License, Version 2.0," January 2004. [Online]. Available: &lt;https://www.apache.org/licenses/LICENSE-2.0&gt;. [Accessed: 23 September 2026].</a:t>
            </a:r>
            <a:endParaRPr lang="en-US" sz="800" dirty="0"/>
          </a:p>
          <a:p>
            <a:pPr algn="l" indent="0" marL="0">
              <a:lnSpc>
                <a:spcPct val="100000"/>
              </a:lnSpc>
              <a:spcAft>
                <a:spcPts val="200"/>
              </a:spcAft>
              <a:buNone/>
            </a:pPr>
            <a:r>
              <a:rPr lang="en-US" sz="800" dirty="0">
                <a:solidFill>
                  <a:srgbClr val="17252C"/>
                </a:solidFill>
                <a:latin typeface="Calibri" pitchFamily="34" charset="0"/>
                <a:ea typeface="Calibri" pitchFamily="34" charset="-122"/>
                <a:cs typeface="Calibri" pitchFamily="34" charset="-120"/>
              </a:rPr>
              <a:t>[24] Ollama, "qwen2.5" (family page, stating the per-size licence split). [Online]. Available: &lt;https://ollama.com/library/qwen2.5&gt;. [Accessed: 23 September 2026].</a:t>
            </a:r>
            <a:endParaRPr lang="en-US" sz="800" dirty="0"/>
          </a:p>
          <a:p>
            <a:pPr algn="l" indent="0" marL="0">
              <a:lnSpc>
                <a:spcPct val="100000"/>
              </a:lnSpc>
              <a:spcAft>
                <a:spcPts val="200"/>
              </a:spcAft>
              <a:buNone/>
            </a:pPr>
            <a:r>
              <a:rPr lang="en-US" sz="800" dirty="0">
                <a:solidFill>
                  <a:srgbClr val="17252C"/>
                </a:solidFill>
                <a:latin typeface="Calibri" pitchFamily="34" charset="0"/>
                <a:ea typeface="Calibri" pitchFamily="34" charset="-122"/>
                <a:cs typeface="Calibri" pitchFamily="34" charset="-120"/>
              </a:rPr>
              <a:t>[25] Qwen Team, Alibaba Cloud, "Qwen2.5-3B-Instruct LICENSE" (Qwen Research License). [Online]. Available: &lt;https://huggingface.co/Qwen/Qwen2.5-3B-Instruct/blob/main/LICENSE&gt;. [Accessed: 23 September 2026].</a:t>
            </a:r>
            <a:endParaRPr lang="en-US" sz="800" dirty="0"/>
          </a:p>
          <a:p>
            <a:pPr algn="l" indent="0" marL="0">
              <a:lnSpc>
                <a:spcPct val="100000"/>
              </a:lnSpc>
              <a:spcAft>
                <a:spcPts val="200"/>
              </a:spcAft>
              <a:buNone/>
            </a:pPr>
            <a:r>
              <a:rPr lang="en-US" sz="800" dirty="0">
                <a:solidFill>
                  <a:srgbClr val="17252C"/>
                </a:solidFill>
                <a:latin typeface="Calibri" pitchFamily="34" charset="0"/>
                <a:ea typeface="Calibri" pitchFamily="34" charset="-122"/>
                <a:cs typeface="Calibri" pitchFamily="34" charset="-120"/>
              </a:rPr>
              <a:t>[26] This work, "Ticket length distribution of team 10's 1,000 rows," produced by python workload/scripts/ticket_length_stats.py --team-rows data/team_rows.csv, output under ../workload/output/.</a:t>
            </a:r>
            <a:endParaRPr lang="en-US" sz="800" dirty="0"/>
          </a:p>
          <a:p>
            <a:pPr algn="l" indent="0" marL="0">
              <a:lnSpc>
                <a:spcPct val="100000"/>
              </a:lnSpc>
              <a:spcAft>
                <a:spcPts val="200"/>
              </a:spcAft>
              <a:buNone/>
            </a:pPr>
            <a:r>
              <a:rPr lang="en-US" sz="800" dirty="0">
                <a:solidFill>
                  <a:srgbClr val="17252C"/>
                </a:solidFill>
                <a:latin typeface="Calibri" pitchFamily="34" charset="0"/>
                <a:ea typeface="Calibri" pitchFamily="34" charset="-122"/>
                <a:cs typeface="Calibri" pitchFamily="34" charset="-120"/>
              </a:rPr>
              <a:t>[27] US Consumer Financial Protection Bureau, "Consumer Response Annual Report: January 1 – December 31, 2025," March 2026. [Online]. Available: &lt;https://www.consumerfinance.gov/data-research/research-reports/2025-consumer-response-annual-report/&gt;. [Accessed: 28 September 2026].</a:t>
            </a:r>
            <a:endParaRPr lang="en-US" sz="800" dirty="0"/>
          </a:p>
          <a:p>
            <a:pPr algn="l" indent="0" marL="0">
              <a:lnSpc>
                <a:spcPct val="100000"/>
              </a:lnSpc>
              <a:spcAft>
                <a:spcPts val="200"/>
              </a:spcAft>
              <a:buNone/>
            </a:pPr>
            <a:r>
              <a:rPr lang="en-US" sz="800" dirty="0">
                <a:solidFill>
                  <a:srgbClr val="17252C"/>
                </a:solidFill>
                <a:latin typeface="Calibri" pitchFamily="34" charset="0"/>
                <a:ea typeface="Calibri" pitchFamily="34" charset="-122"/>
                <a:cs typeface="Calibri" pitchFamily="34" charset="-120"/>
              </a:rPr>
              <a:t>[28] CNA, "IN FOCUS: What happens when you contact a bank or telco customer care centre?," 2024. [Online]. Available: &lt;https://www.channelnewsasia.com/singapore/in-focus-what-happens-when-you-contact-bank-or-telco-customer-care-centre-4735346&gt;. [Accessed: 28 September 2026].</a:t>
            </a:r>
            <a:endParaRPr lang="en-US" sz="800" dirty="0"/>
          </a:p>
          <a:p>
            <a:pPr algn="l" indent="0" marL="0">
              <a:lnSpc>
                <a:spcPct val="100000"/>
              </a:lnSpc>
              <a:spcAft>
                <a:spcPts val="200"/>
              </a:spcAft>
              <a:buNone/>
            </a:pPr>
            <a:r>
              <a:rPr lang="en-US" sz="800" dirty="0">
                <a:solidFill>
                  <a:srgbClr val="17252C"/>
                </a:solidFill>
                <a:latin typeface="Calibri" pitchFamily="34" charset="0"/>
                <a:ea typeface="Calibri" pitchFamily="34" charset="-122"/>
                <a:cs typeface="Calibri" pitchFamily="34" charset="-120"/>
              </a:rPr>
              <a:t>[29] W. Whitt, "What You Should Know About Queueing Models To Set Staffing Requirements in Service Systems," Columbia University, 2007. [Online]. Available: &lt;https://www.columbia.edu/~ww2040/shorter041907.pdf&gt;. [Accessed: 28 September 2026].</a:t>
            </a:r>
            <a:endParaRPr lang="en-US" sz="800" dirty="0"/>
          </a:p>
          <a:p>
            <a:pPr algn="l" indent="0" marL="0">
              <a:lnSpc>
                <a:spcPct val="100000"/>
              </a:lnSpc>
              <a:spcAft>
                <a:spcPts val="200"/>
              </a:spcAft>
              <a:buNone/>
            </a:pPr>
            <a:r>
              <a:rPr lang="en-US" sz="800" dirty="0">
                <a:solidFill>
                  <a:srgbClr val="17252C"/>
                </a:solidFill>
                <a:latin typeface="Calibri" pitchFamily="34" charset="0"/>
                <a:ea typeface="Calibri" pitchFamily="34" charset="-122"/>
                <a:cs typeface="Calibri" pitchFamily="34" charset="-120"/>
              </a:rPr>
              <a:t>[30] The Matplotlib Development Team, "Matplotlib," version 3.11.2. [Online]. Available: &lt;https://matplotlib.org/&gt;. [Accessed: 8 October 2026].</a:t>
            </a:r>
            <a:endParaRPr lang="en-US" sz="800" dirty="0"/>
          </a:p>
        </p:txBody>
      </p:sp>
      <p:sp>
        <p:nvSpPr>
          <p:cNvPr id="6" name="Shape 4"/>
          <p:cNvSpPr/>
          <p:nvPr/>
        </p:nvSpPr>
        <p:spPr>
          <a:xfrm>
            <a:off x="502920" y="5440680"/>
            <a:ext cx="11185855" cy="960120"/>
          </a:xfrm>
          <a:prstGeom prst="roundRect">
            <a:avLst>
              <a:gd name="adj" fmla="val 7619"/>
            </a:avLst>
          </a:prstGeom>
          <a:solidFill>
            <a:srgbClr val="EEF3F4"/>
          </a:solidFill>
          <a:ln w="12700">
            <a:solidFill>
              <a:srgbClr val="EEF3F4"/>
            </a:solidFill>
            <a:prstDash val="solid"/>
          </a:ln>
        </p:spPr>
      </p:sp>
      <p:sp>
        <p:nvSpPr>
          <p:cNvPr id="7" name="Text 5"/>
          <p:cNvSpPr txBox="1"/>
          <p:nvPr/>
        </p:nvSpPr>
        <p:spPr>
          <a:xfrm>
            <a:off x="594360" y="5468112"/>
            <a:ext cx="11002975" cy="914400"/>
          </a:xfrm>
          <a:prstGeom prst="rect">
            <a:avLst/>
          </a:prstGeom>
          <a:noFill/>
          <a:ln/>
        </p:spPr>
        <p:txBody>
          <a:bodyPr wrap="square" lIns="762" tIns="762" rIns="762" bIns="762" rtlCol="0" anchor="ctr"/>
          <a:lstStyle/>
          <a:p>
            <a:pPr algn="l" indent="0" marL="0">
              <a:lnSpc>
                <a:spcPct val="100000"/>
              </a:lnSpc>
              <a:buNone/>
            </a:pPr>
            <a:r>
              <a:rPr lang="en-US" sz="950" b="1" dirty="0">
                <a:solidFill>
                  <a:srgbClr val="1F6F78"/>
                </a:solidFill>
                <a:latin typeface="Calibri" pitchFamily="34" charset="0"/>
                <a:ea typeface="Calibri" pitchFamily="34" charset="-122"/>
                <a:cs typeface="Calibri" pitchFamily="34" charset="-120"/>
              </a:rPr>
              <a:t>Acknowledgements. </a:t>
            </a:r>
            <a:pPr algn="l" indent="0" marL="0">
              <a:lnSpc>
                <a:spcPct val="100000"/>
              </a:lnSpc>
              <a:buNone/>
            </a:pPr>
            <a:r>
              <a:rPr lang="en-US" sz="950" dirty="0">
                <a:solidFill>
                  <a:srgbClr val="17252C"/>
                </a:solidFill>
                <a:latin typeface="Calibri" pitchFamily="34" charset="0"/>
                <a:ea typeface="Calibri" pitchFamily="34" charset="-122"/>
                <a:cs typeface="Calibri" pitchFamily="34" charset="-120"/>
              </a:rPr>
              <a:t>Built with Llama. Llama 3.2 is licensed under the Llama 3.2 Community License, Copyright © Meta Platforms, Inc. All Rights Reserved [16]. granite4:3b and qwen2.5:7b are Apache-2.0 [23]; Ollama is MIT [6]. Ticket narratives: the US CFPB Consumer Complaint Database [1], via the ICT3113 teaching team's extract [2], team rows 10000–10999. AI coding tools (Anthropic's Claude, via Claude Code) wrote most of the code and drafted documents; the golden-set labels are the two labellers' own, and every number comes from our logs — statement in docs/references.md §9.1.</a:t>
            </a:r>
            <a:endParaRPr lang="en-US" sz="950" dirty="0"/>
          </a:p>
        </p:txBody>
      </p:sp>
      <p:sp>
        <p:nvSpPr>
          <p:cNvPr id="25" name="Slide Number Placeholder 0"/>
          <p:cNvSpPr>
            <a:spLocks noGrp="1"/>
          </p:cNvSpPr>
          <p:nvPr>
            <p:ph type="sldNum" sz="quarter" idx="4294967295"/>
          </p:nvPr>
        </p:nvSpPr>
        <p:spPr>
          <a:xfrm>
            <a:off x="11231575"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B7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Group 10: Ticket Triage Service on CPU-Only LLMs</dc:title>
  <dc:subject>ICT3113 Assignment 1 — Performance Requirements and Testing</dc:subject>
  <dc:creator>ICT3113 Group 10</dc:creator>
  <cp:lastModifiedBy>ICT3113 Group 10</cp:lastModifiedBy>
  <cp:revision>1</cp:revision>
  <dcterms:created xsi:type="dcterms:W3CDTF">2026-10-09T02:44:42Z</dcterms:created>
  <dcterms:modified xsi:type="dcterms:W3CDTF">2026-10-09T02:44:42Z</dcterms:modified>
</cp:coreProperties>
</file>