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5"/>
    <p:sldMasterId id="2147483721" r:id="rId6"/>
    <p:sldMasterId id="214748372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Cairo"/>
      <p:regular r:id="rId25"/>
      <p:bold r:id="rId26"/>
    </p:embeddedFont>
    <p:embeddedFont>
      <p:font typeface="Space Grotesk Medium"/>
      <p:regular r:id="rId27"/>
      <p:bold r:id="rId28"/>
    </p:embeddedFont>
    <p:embeddedFont>
      <p:font typeface="PT Sans"/>
      <p:regular r:id="rId29"/>
      <p:bold r:id="rId30"/>
      <p:italic r:id="rId31"/>
      <p:boldItalic r:id="rId32"/>
    </p:embeddedFont>
    <p:embeddedFont>
      <p:font typeface="Space Grotesk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164A90-5C4F-4A6D-B3D8-F2779BC5A639}">
  <a:tblStyle styleId="{68164A90-5C4F-4A6D-B3D8-F2779BC5A6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Cairo-bold.fntdata"/><Relationship Id="rId25" Type="http://schemas.openxmlformats.org/officeDocument/2006/relationships/font" Target="fonts/Cairo-regular.fntdata"/><Relationship Id="rId28" Type="http://schemas.openxmlformats.org/officeDocument/2006/relationships/font" Target="fonts/SpaceGroteskMedium-bold.fntdata"/><Relationship Id="rId27" Type="http://schemas.openxmlformats.org/officeDocument/2006/relationships/font" Target="fonts/SpaceGroteskMedium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TSans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PTSans-italic.fntdata"/><Relationship Id="rId30" Type="http://schemas.openxmlformats.org/officeDocument/2006/relationships/font" Target="fonts/PTSans-bold.fntdata"/><Relationship Id="rId11" Type="http://schemas.openxmlformats.org/officeDocument/2006/relationships/slide" Target="slides/slide3.xml"/><Relationship Id="rId33" Type="http://schemas.openxmlformats.org/officeDocument/2006/relationships/font" Target="fonts/SpaceGrotesk-regular.fntdata"/><Relationship Id="rId10" Type="http://schemas.openxmlformats.org/officeDocument/2006/relationships/slide" Target="slides/slide2.xml"/><Relationship Id="rId32" Type="http://schemas.openxmlformats.org/officeDocument/2006/relationships/font" Target="fonts/PTSans-bold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dc144a5ed528198_4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h1dc144a5ed528198_4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dc144a5ed528198_4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h1dc144a5ed528198_4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h1dc144a5ed528198_4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h1dc144a5ed528198_4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h561e27d382a1bebc_5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h561e27d382a1bebc_5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h1dc144a5ed528198_4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h1dc144a5ed528198_4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h561e27d382a1beb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h561e27d382a1beb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h561e27d382a1bebc_5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h561e27d382a1bebc_5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Slide to be updated after the rehearsal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h561e27d382a1bebc_1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h561e27d382a1bebc_1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h561e27d382a1bebc_1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h561e27d382a1bebc_1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h561e27d382a1bebc_1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h561e27d382a1bebc_1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679b4178c99435d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h679b4178c99435d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" name="Google Shape;39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42;p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3" name="Google Shape;43;p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0" name="Google Shape;5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3" name="Google Shape;53;p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8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" name="Google Shape;87;p11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hasCustomPrompt="1"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hasCustomPrompt="1"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/>
          <p:nvPr>
            <p:ph hasCustomPrompt="1"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04" name="Google Shape;104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05" name="Google Shape;10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3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08" name="Google Shape;108;p1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2" name="Google Shape;112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15" name="Google Shape;115;p1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23" name="Google Shape;123;p1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5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29" name="Google Shape;129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1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32" name="Google Shape;132;p1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6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" name="Google Shape;139;p16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7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42" name="Google Shape;142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7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45" name="Google Shape;145;p1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51" name="Google Shape;151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54" name="Google Shape;154;p1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18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0" name="Google Shape;16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63" name="Google Shape;163;p1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77" name="Google Shape;177;p2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0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5" name="Google Shape;185;p20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90" name="Google Shape;19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3" name="Google Shape;193;p2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3" name="Google Shape;203;p21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hasCustomPrompt="1"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22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hasCustomPrompt="1"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hasCustomPrompt="1"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215" name="Google Shape;2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219" name="Google Shape;21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4" name="Google Shape;244;p27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45" name="Google Shape;24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48" name="Google Shape;248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52" name="Google Shape;252;p2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53" name="Google Shape;253;p2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7" name="Google Shape;257;p29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58" name="Google Shape;25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65" name="Google Shape;265;p30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266" name="Google Shape;266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" name="Google Shape;268;p3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269" name="Google Shape;269;p3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3" name="Google Shape;273;p31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274" name="Google Shape;274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31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277" name="Google Shape;277;p3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32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82" name="Google Shape;282;p32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283" name="Google Shape;283;p32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84" name="Google Shape;284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32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87" name="Google Shape;287;p32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33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291" name="Google Shape;291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33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294" name="Google Shape;294;p3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33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34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299" name="Google Shape;299;p3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3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302" name="Google Shape;302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34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34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5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9" name="Google Shape;309;p35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10" name="Google Shape;310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" name="Google Shape;312;p35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313" name="Google Shape;313;p3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314" name="Google Shape;314;p3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35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317" name="Google Shape;317;p3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21" name="Google Shape;321;p36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322" name="Google Shape;32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38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7" name="Google Shape;327;p38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8" name="Google Shape;328;p38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9" name="Google Shape;329;p38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0" name="Google Shape;330;p38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1" name="Google Shape;331;p38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2" name="Google Shape;332;p38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3" name="Google Shape;333;p38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4" name="Google Shape;334;p38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5" name="Google Shape;335;p38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" name="Google Shape;336;p38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7" name="Google Shape;337;p38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38" name="Google Shape;338;p38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39" name="Google Shape;339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" name="Google Shape;341;p38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42" name="Google Shape;342;p3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3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346" name="Google Shape;346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" name="Google Shape;348;p3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349" name="Google Shape;349;p3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40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54" name="Google Shape;354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6" name="Google Shape;356;p4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7" name="Google Shape;357;p4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40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p40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4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363" name="Google Shape;363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5" name="Google Shape;365;p4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366" name="Google Shape;366;p4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41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9" name="Google Shape;369;p41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0" name="Google Shape;370;p41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1" name="Google Shape;371;p41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2" name="Google Shape;372;p41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3" name="Google Shape;373;p41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42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76" name="Google Shape;376;p4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" name="Google Shape;378;p42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79" name="Google Shape;379;p42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2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43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385" name="Google Shape;385;p4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7" name="Google Shape;387;p43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388" name="Google Shape;388;p4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43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394" name="Google Shape;394;p4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" name="Google Shape;396;p4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397" name="Google Shape;397;p4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44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1" name="Google Shape;401;p44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2" name="Google Shape;402;p44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4" name="Google Shape;404;p44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5" name="Google Shape;405;p44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45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408" name="Google Shape;408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4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11" name="Google Shape;411;p4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3" name="Google Shape;413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45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6" name="Google Shape;416;p45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9" name="Google Shape;419;p45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0" name="Google Shape;420;p45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1" name="Google Shape;421;p45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4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24" name="Google Shape;424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4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427" name="Google Shape;427;p4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6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46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46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3" name="Google Shape;433;p46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p46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6" name="Google Shape;436;p46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7" name="Google Shape;437;p46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8" name="Google Shape;438;p46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9" name="Google Shape;439;p46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40" name="Google Shape;440;p46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41" name="Google Shape;441;p46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 txBox="1"/>
          <p:nvPr>
            <p:ph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4" name="Google Shape;444;p47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5" name="Google Shape;445;p47"/>
          <p:cNvSpPr txBox="1"/>
          <p:nvPr>
            <p:ph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47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7" name="Google Shape;447;p47"/>
          <p:cNvSpPr txBox="1"/>
          <p:nvPr>
            <p:ph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8" name="Google Shape;448;p47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449" name="Google Shape;44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8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453" name="Google Shape;45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8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b="0" i="0" lang="en-GB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i="0" lang="en-GB" sz="1000" u="sng" cap="none" strike="noStrike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Slidesgo</a:t>
            </a:r>
            <a:r>
              <a:rPr b="0" i="0" lang="en-GB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i="0" lang="en-GB" sz="1000" u="sng" cap="none" strike="noStrike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Flaticon</a:t>
            </a:r>
            <a:r>
              <a:rPr b="0" i="0" lang="en-GB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i="0" lang="en-GB" sz="1000" u="sng" cap="none" strike="noStrike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5"/>
              </a:rPr>
              <a:t>Freepik</a:t>
            </a:r>
            <a:r>
              <a:rPr b="1" i="0" lang="en-GB" sz="1000" u="sng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4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57" name="Google Shape;457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" name="Google Shape;459;p49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460" name="Google Shape;460;p4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50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64" name="Google Shape;464;p5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6" name="Google Shape;466;p50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467" name="Google Shape;467;p50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468" name="Google Shape;468;p5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5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5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471" name="Google Shape;471;p5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5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78" name="Google Shape;478;p52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79" name="Google Shape;47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53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82" name="Google Shape;482;p5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4" name="Google Shape;484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5" name="Google Shape;485;p53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86" name="Google Shape;486;p53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487" name="Google Shape;487;p5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4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1" name="Google Shape;491;p54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92" name="Google Shape;49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5" name="Google Shape;495;p55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6" name="Google Shape;496;p55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7" name="Google Shape;497;p55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98" name="Google Shape;498;p55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99" name="Google Shape;499;p55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500" name="Google Shape;500;p5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2" name="Google Shape;502;p5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503" name="Google Shape;503;p5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07" name="Google Shape;507;p56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508" name="Google Shape;508;p5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9" name="Google Shape;509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0" name="Google Shape;510;p5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511" name="Google Shape;511;p5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5" name="Google Shape;515;p57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16" name="Google Shape;516;p57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517" name="Google Shape;517;p5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18" name="Google Shape;518;p5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0" name="Google Shape;520;p5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21" name="Google Shape;521;p5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5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25" name="Google Shape;525;p5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7" name="Google Shape;527;p5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528" name="Google Shape;528;p5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0" name="Google Shape;530;p58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5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533" name="Google Shape;533;p5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5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36" name="Google Shape;536;p5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8" name="Google Shape;538;p59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59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60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3" name="Google Shape;543;p60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544" name="Google Shape;544;p6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6" name="Google Shape;546;p6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547" name="Google Shape;547;p6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548" name="Google Shape;548;p6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6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6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551" name="Google Shape;551;p6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6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1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5" name="Google Shape;555;p61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556" name="Google Shape;556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0" name="Google Shape;560;p63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1" name="Google Shape;561;p63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2" name="Google Shape;562;p63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3" name="Google Shape;563;p63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63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63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6" name="Google Shape;566;p63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7" name="Google Shape;567;p63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8" name="Google Shape;568;p63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9" name="Google Shape;569;p63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0" name="Google Shape;570;p63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1" name="Google Shape;571;p63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572" name="Google Shape;572;p63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573" name="Google Shape;573;p6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" name="Google Shape;575;p63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576" name="Google Shape;576;p6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6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6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80" name="Google Shape;580;p6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1" name="Google Shape;581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2" name="Google Shape;582;p6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83" name="Google Shape;583;p6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65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588" name="Google Shape;588;p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0" name="Google Shape;590;p6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591" name="Google Shape;591;p6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65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4" name="Google Shape;594;p65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6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97" name="Google Shape;597;p6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9" name="Google Shape;599;p6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600" name="Google Shape;600;p6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p66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3" name="Google Shape;603;p66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4" name="Google Shape;604;p66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5" name="Google Shape;605;p66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6" name="Google Shape;606;p66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7" name="Google Shape;607;p66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67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610" name="Google Shape;610;p6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2" name="Google Shape;612;p67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613" name="Google Shape;613;p6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6" name="Google Shape;616;p67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6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19" name="Google Shape;619;p6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6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622" name="Google Shape;622;p6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6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68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25" name="Google Shape;625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6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28" name="Google Shape;628;p6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" name="Google Shape;62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0" name="Google Shape;630;p6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631" name="Google Shape;631;p6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4" name="Google Shape;634;p69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5" name="Google Shape;635;p69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6" name="Google Shape;636;p69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7" name="Google Shape;637;p69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8" name="Google Shape;638;p69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9" name="Google Shape;639;p69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70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642" name="Google Shape;642;p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4" name="Google Shape;644;p7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645" name="Google Shape;645;p7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8" name="Google Shape;648;p70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9" name="Google Shape;649;p70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0" name="Google Shape;650;p70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1" name="Google Shape;651;p70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2" name="Google Shape;652;p7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3" name="Google Shape;653;p70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4" name="Google Shape;654;p70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5" name="Google Shape;655;p70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7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58" name="Google Shape;658;p7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0" name="Google Shape;660;p7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661" name="Google Shape;661;p7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3" name="Google Shape;663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4" name="Google Shape;664;p71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5" name="Google Shape;665;p71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6" name="Google Shape;666;p71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7" name="Google Shape;667;p71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8" name="Google Shape;668;p71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9" name="Google Shape;669;p71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0" name="Google Shape;670;p71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1" name="Google Shape;671;p71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2" name="Google Shape;672;p71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3" name="Google Shape;673;p71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4" name="Google Shape;674;p71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5" name="Google Shape;675;p71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2"/>
          <p:cNvSpPr txBox="1"/>
          <p:nvPr>
            <p:ph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72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79" name="Google Shape;679;p72"/>
          <p:cNvSpPr txBox="1"/>
          <p:nvPr>
            <p:ph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72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81" name="Google Shape;681;p72"/>
          <p:cNvSpPr txBox="1"/>
          <p:nvPr>
            <p:ph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2" name="Google Shape;682;p72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683" name="Google Shape;683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3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6" name="Google Shape;686;p73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687" name="Google Shape;6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3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i="0" lang="en-GB" spc="0" sz="1000" u="sng" cap="none" strike="noStrike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Slidesgo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i="0" lang="en-GB" spc="0" sz="1000" u="sng" cap="none" strike="noStrike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Flaticon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i="0" lang="en-GB" spc="0" sz="1000" u="sng" cap="none" strike="noStrike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5"/>
              </a:rPr>
              <a:t>Freepik</a:t>
            </a:r>
            <a:r>
              <a:rPr b="1" i="0" lang="en-GB" spc="0" sz="1000" u="sng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i="0" spc="0" sz="1000" u="sng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7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91" name="Google Shape;691;p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2" name="Google Shape;692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3" name="Google Shape;693;p7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694" name="Google Shape;694;p7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7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98" name="Google Shape;698;p7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0" name="Google Shape;700;p7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701" name="Google Shape;701;p7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702" name="Google Shape;702;p7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7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4" name="Google Shape;704;p7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705" name="Google Shape;705;p7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7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25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0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0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pc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75" name="Google Shape;475;p5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pc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Fokku/ICT3113-PT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consumerfinance.gov/data-research/consumer-complaints/" TargetMode="External"/><Relationship Id="rId4" Type="http://schemas.openxmlformats.org/officeDocument/2006/relationships/hyperlink" Target="https://www.consumerfinance.gov/data-research/research-reports/2025-consumer-response-annual-report/" TargetMode="External"/><Relationship Id="rId9" Type="http://schemas.openxmlformats.org/officeDocument/2006/relationships/hyperlink" Target="https://github.com/ollama/ollama/blob/main/LICENSE" TargetMode="External"/><Relationship Id="rId5" Type="http://schemas.openxmlformats.org/officeDocument/2006/relationships/hyperlink" Target="https://www.channelnewsasia.com/singapore/in-focus-what-happens-when-you-contact-bank-or-telco-customer-care-centre-4735346" TargetMode="External"/><Relationship Id="rId6" Type="http://schemas.openxmlformats.org/officeDocument/2006/relationships/hyperlink" Target="https://www.columbia.edu/~ww2040/shorter041907.pdf" TargetMode="External"/><Relationship Id="rId7" Type="http://schemas.openxmlformats.org/officeDocument/2006/relationships/hyperlink" Target="https://jmeter.apache.org/usermanual/component_reference.html#Open_Model_Thread_Group" TargetMode="External"/><Relationship Id="rId8" Type="http://schemas.openxmlformats.org/officeDocument/2006/relationships/hyperlink" Target="https://ollama.com/library" TargetMode="External"/><Relationship Id="rId11" Type="http://schemas.openxmlformats.org/officeDocument/2006/relationships/hyperlink" Target="https://huggingface.co/Qwen/Qwen2.5-7B-Instruct" TargetMode="External"/><Relationship Id="rId10" Type="http://schemas.openxmlformats.org/officeDocument/2006/relationships/hyperlink" Target="https://github.com/meta-llama/llama-models/blob/main/models/llama3_2/LICENSE" TargetMode="External"/><Relationship Id="rId12" Type="http://schemas.openxmlformats.org/officeDocument/2006/relationships/hyperlink" Target="https://www.apache.org/licenses/LICENSE-2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6"/>
          <p:cNvSpPr txBox="1"/>
          <p:nvPr>
            <p:ph type="ctrTitle"/>
          </p:nvPr>
        </p:nvSpPr>
        <p:spPr>
          <a:xfrm>
            <a:off x="769650" y="1152675"/>
            <a:ext cx="7604700" cy="88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ICT3113 Assignment 1 – Performance Requirements &amp; Testing</a:t>
            </a:r>
            <a:endParaRPr sz="2600"/>
          </a:p>
        </p:txBody>
      </p:sp>
      <p:sp>
        <p:nvSpPr>
          <p:cNvPr id="712" name="Google Shape;712;p76"/>
          <p:cNvSpPr txBox="1"/>
          <p:nvPr>
            <p:ph idx="1" type="subTitle"/>
          </p:nvPr>
        </p:nvSpPr>
        <p:spPr>
          <a:xfrm>
            <a:off x="874600" y="2133825"/>
            <a:ext cx="5534100" cy="24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Group P2-10: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Loh Wen Xuan (2401561)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Jolie Ngai Ning Li (2403175)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Koh Tong Wei (2402162)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Toh Si Pei (2401835)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Yeo Kai Yuan (2403201)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/>
              <a:t>Repository:</a:t>
            </a:r>
            <a:r>
              <a:rPr lang="en-GB" sz="1300"/>
              <a:t> </a:t>
            </a:r>
            <a:r>
              <a:rPr lang="en-GB" sz="1300" u="sng">
                <a:solidFill>
                  <a:schemeClr val="hlink"/>
                </a:solidFill>
                <a:hlinkClick r:id="rId3"/>
              </a:rPr>
              <a:t>https://github.com/Fokku/ICT3113-PTO</a:t>
            </a:r>
            <a:r>
              <a:rPr lang="en-GB" sz="1300"/>
              <a:t>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Service Architecture</a:t>
            </a:r>
            <a:endParaRPr/>
          </a:p>
        </p:txBody>
      </p:sp>
      <p:sp>
        <p:nvSpPr>
          <p:cNvPr descr="Dashed boundary: the load generator runs on a separate machine" id="718" name="Google Shape;718;p77"/>
          <p:cNvSpPr/>
          <p:nvPr/>
        </p:nvSpPr>
        <p:spPr>
          <a:xfrm>
            <a:off x="594360" y="1536192"/>
            <a:ext cx="1325880" cy="2331720"/>
          </a:xfrm>
          <a:prstGeom prst="roundRect">
            <a:avLst>
              <a:gd fmla="val 5000" name="adj"/>
            </a:avLst>
          </a:prstGeom>
          <a:noFill/>
          <a:ln cap="flat" cmpd="sng" w="15875">
            <a:solidFill>
              <a:srgbClr val="8861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8861F1"/>
                </a:solidFill>
                <a:latin typeface="Arial"/>
                <a:ea typeface="Arial"/>
                <a:cs typeface="Arial"/>
                <a:sym typeface="Arial"/>
              </a:rPr>
              <a:t>Separate machine</a:t>
            </a:r>
            <a:endParaRPr/>
          </a:p>
        </p:txBody>
      </p:sp>
      <p:sp>
        <p:nvSpPr>
          <p:cNvPr id="719" name="Google Shape;719;p77"/>
          <p:cNvSpPr/>
          <p:nvPr/>
        </p:nvSpPr>
        <p:spPr>
          <a:xfrm>
            <a:off x="2377440" y="1536192"/>
            <a:ext cx="2971800" cy="2331720"/>
          </a:xfrm>
          <a:prstGeom prst="roundRect">
            <a:avLst>
              <a:gd fmla="val 4000" name="adj"/>
            </a:avLst>
          </a:prstGeom>
          <a:solidFill>
            <a:srgbClr val="F4F5FE"/>
          </a:solidFill>
          <a:ln cap="flat" cmpd="sng" w="12700">
            <a:solidFill>
              <a:srgbClr val="54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System under test</a:t>
            </a:r>
            <a:endParaRPr/>
          </a:p>
        </p:txBody>
      </p:sp>
      <p:sp>
        <p:nvSpPr>
          <p:cNvPr id="720" name="Google Shape;720;p77"/>
          <p:cNvSpPr/>
          <p:nvPr/>
        </p:nvSpPr>
        <p:spPr>
          <a:xfrm>
            <a:off x="685800" y="1874520"/>
            <a:ext cx="11430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886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64000" spcFirstLastPara="1" rIns="640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Apache JMeter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open-loop traffic and accuracy driver</a:t>
            </a:r>
            <a:endParaRPr/>
          </a:p>
        </p:txBody>
      </p:sp>
      <p:sp>
        <p:nvSpPr>
          <p:cNvPr id="721" name="Google Shape;721;p77"/>
          <p:cNvSpPr/>
          <p:nvPr/>
        </p:nvSpPr>
        <p:spPr>
          <a:xfrm>
            <a:off x="685800" y="3246120"/>
            <a:ext cx="1143000" cy="5303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886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18275" spcFirstLastPara="1" rIns="18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team_rows.csv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1,000 rows</a:t>
            </a:r>
            <a:endParaRPr/>
          </a:p>
        </p:txBody>
      </p:sp>
      <p:sp>
        <p:nvSpPr>
          <p:cNvPr id="722" name="Google Shape;722;p77"/>
          <p:cNvSpPr/>
          <p:nvPr/>
        </p:nvSpPr>
        <p:spPr>
          <a:xfrm>
            <a:off x="2468880" y="1874520"/>
            <a:ext cx="1463040" cy="914400"/>
          </a:xfrm>
          <a:prstGeom prst="roundRect">
            <a:avLst>
              <a:gd fmla="val 8000" name="adj"/>
            </a:avLst>
          </a:prstGeom>
          <a:solidFill>
            <a:srgbClr val="545EEA"/>
          </a:solidFill>
          <a:ln>
            <a:noFill/>
          </a:ln>
        </p:spPr>
        <p:txBody>
          <a:bodyPr anchorCtr="0" anchor="ctr" bIns="36575" lIns="64000" spcFirstLastPara="1" rIns="640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Triage service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FastAPI, one uvicorn worker</a:t>
            </a:r>
            <a:endParaRPr/>
          </a:p>
        </p:txBody>
      </p:sp>
      <p:sp>
        <p:nvSpPr>
          <p:cNvPr id="723" name="Google Shape;723;p77"/>
          <p:cNvSpPr/>
          <p:nvPr/>
        </p:nvSpPr>
        <p:spPr>
          <a:xfrm>
            <a:off x="4251960" y="1874520"/>
            <a:ext cx="1005840" cy="914400"/>
          </a:xfrm>
          <a:prstGeom prst="roundRect">
            <a:avLst>
              <a:gd fmla="val 8000" name="adj"/>
            </a:avLst>
          </a:prstGeom>
          <a:solidFill>
            <a:srgbClr val="241160"/>
          </a:solidFill>
          <a:ln>
            <a:noFill/>
          </a:ln>
        </p:spPr>
        <p:txBody>
          <a:bodyPr anchorCtr="0" anchor="ctr" bIns="36575" lIns="64000" spcFirstLastPara="1" rIns="640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CPU only, one pinned model</a:t>
            </a:r>
            <a:endParaRPr/>
          </a:p>
        </p:txBody>
      </p:sp>
      <p:sp>
        <p:nvSpPr>
          <p:cNvPr id="724" name="Google Shape;724;p77"/>
          <p:cNvSpPr/>
          <p:nvPr/>
        </p:nvSpPr>
        <p:spPr>
          <a:xfrm>
            <a:off x="2468880" y="3246120"/>
            <a:ext cx="1051560" cy="5303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54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64000" spcFirstLastPara="1" rIns="640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named volume</a:t>
            </a:r>
            <a:endParaRPr/>
          </a:p>
        </p:txBody>
      </p:sp>
      <p:sp>
        <p:nvSpPr>
          <p:cNvPr id="725" name="Google Shape;725;p77"/>
          <p:cNvSpPr/>
          <p:nvPr/>
        </p:nvSpPr>
        <p:spPr>
          <a:xfrm>
            <a:off x="3611880" y="3246120"/>
            <a:ext cx="1645920" cy="53035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54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64000" spcFirstLastPara="1" rIns="640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JSONL request log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one line per request</a:t>
            </a:r>
            <a:endParaRPr/>
          </a:p>
        </p:txBody>
      </p:sp>
      <p:cxnSp>
        <p:nvCxnSpPr>
          <p:cNvPr id="726" name="Google Shape;726;p77"/>
          <p:cNvCxnSpPr/>
          <p:nvPr/>
        </p:nvCxnSpPr>
        <p:spPr>
          <a:xfrm rot="10800000">
            <a:off x="1257300" y="278892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8861F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7" name="Google Shape;727;p77"/>
          <p:cNvCxnSpPr/>
          <p:nvPr/>
        </p:nvCxnSpPr>
        <p:spPr>
          <a:xfrm>
            <a:off x="1828800" y="2331720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8" name="Google Shape;728;p77"/>
          <p:cNvCxnSpPr/>
          <p:nvPr/>
        </p:nvCxnSpPr>
        <p:spPr>
          <a:xfrm>
            <a:off x="3931920" y="233172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9" name="Google Shape;729;p77"/>
          <p:cNvCxnSpPr/>
          <p:nvPr/>
        </p:nvCxnSpPr>
        <p:spPr>
          <a:xfrm>
            <a:off x="2994660" y="278892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0" name="Google Shape;730;p77"/>
          <p:cNvCxnSpPr/>
          <p:nvPr/>
        </p:nvCxnSpPr>
        <p:spPr>
          <a:xfrm>
            <a:off x="3749040" y="278892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1" name="Google Shape;731;p77"/>
          <p:cNvSpPr/>
          <p:nvPr/>
        </p:nvSpPr>
        <p:spPr>
          <a:xfrm>
            <a:off x="2029968" y="2011680"/>
            <a:ext cx="237744" cy="237744"/>
          </a:xfrm>
          <a:prstGeom prst="ellipse">
            <a:avLst/>
          </a:prstGeom>
          <a:solidFill>
            <a:srgbClr val="01CF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32" name="Google Shape;732;p77"/>
          <p:cNvSpPr/>
          <p:nvPr/>
        </p:nvSpPr>
        <p:spPr>
          <a:xfrm>
            <a:off x="4014216" y="2011680"/>
            <a:ext cx="237744" cy="237744"/>
          </a:xfrm>
          <a:prstGeom prst="ellipse">
            <a:avLst/>
          </a:prstGeom>
          <a:solidFill>
            <a:srgbClr val="01CF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33" name="Google Shape;733;p77"/>
          <p:cNvSpPr/>
          <p:nvPr/>
        </p:nvSpPr>
        <p:spPr>
          <a:xfrm>
            <a:off x="3054096" y="2907792"/>
            <a:ext cx="237744" cy="237744"/>
          </a:xfrm>
          <a:prstGeom prst="ellipse">
            <a:avLst/>
          </a:prstGeom>
          <a:solidFill>
            <a:srgbClr val="01CF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34" name="Google Shape;734;p77"/>
          <p:cNvSpPr/>
          <p:nvPr/>
        </p:nvSpPr>
        <p:spPr>
          <a:xfrm>
            <a:off x="3813048" y="2907792"/>
            <a:ext cx="237744" cy="237744"/>
          </a:xfrm>
          <a:prstGeom prst="ellipse">
            <a:avLst/>
          </a:prstGeom>
          <a:solidFill>
            <a:srgbClr val="01CF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35" name="Google Shape;735;p77"/>
          <p:cNvSpPr txBox="1"/>
          <p:nvPr/>
        </p:nvSpPr>
        <p:spPr>
          <a:xfrm>
            <a:off x="594360" y="395935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one ticket per POST    </a:t>
            </a:r>
            <a:r>
              <a:rPr b="1" i="0" lang="en-GB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service calls Ollama and waits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category stored    </a:t>
            </a:r>
            <a:r>
              <a:rPr b="1" i="0" lang="en-GB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log line written    </a:t>
            </a:r>
            <a:r>
              <a:rPr b="0" i="1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Hosts: Slide 7</a:t>
            </a:r>
            <a:endParaRPr/>
          </a:p>
        </p:txBody>
      </p:sp>
      <p:sp>
        <p:nvSpPr>
          <p:cNvPr id="736" name="Google Shape;736;p77"/>
          <p:cNvSpPr txBox="1"/>
          <p:nvPr/>
        </p:nvSpPr>
        <p:spPr>
          <a:xfrm>
            <a:off x="5577840" y="150876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The three endpoints</a:t>
            </a:r>
            <a:endParaRPr/>
          </a:p>
        </p:txBody>
      </p:sp>
      <p:sp>
        <p:nvSpPr>
          <p:cNvPr id="737" name="Google Shape;737;p77"/>
          <p:cNvSpPr/>
          <p:nvPr/>
        </p:nvSpPr>
        <p:spPr>
          <a:xfrm>
            <a:off x="5577840" y="1801368"/>
            <a:ext cx="2926080" cy="658368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1" i="0" lang="en-GB" sz="1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 /tickets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Classifies one narrative with Ollama, stores it, returns the category.</a:t>
            </a:r>
            <a:endParaRPr/>
          </a:p>
        </p:txBody>
      </p:sp>
      <p:sp>
        <p:nvSpPr>
          <p:cNvPr id="738" name="Google Shape;738;p77"/>
          <p:cNvSpPr/>
          <p:nvPr/>
        </p:nvSpPr>
        <p:spPr>
          <a:xfrm>
            <a:off x="5577840" y="2532888"/>
            <a:ext cx="2926080" cy="658368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1" i="0" lang="en-GB" sz="1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 /search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Returns stored tickets whose narrative contains the query text.</a:t>
            </a:r>
            <a:endParaRPr/>
          </a:p>
        </p:txBody>
      </p:sp>
      <p:sp>
        <p:nvSpPr>
          <p:cNvPr id="739" name="Google Shape;739;p77"/>
          <p:cNvSpPr/>
          <p:nvPr/>
        </p:nvSpPr>
        <p:spPr>
          <a:xfrm>
            <a:off x="5577840" y="3264408"/>
            <a:ext cx="2926080" cy="658368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1" i="0" lang="en-GB" sz="1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 /stats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Returns the count of stored tickets in each category.</a:t>
            </a:r>
            <a:endParaRPr/>
          </a:p>
        </p:txBody>
      </p:sp>
      <p:sp>
        <p:nvSpPr>
          <p:cNvPr id="740" name="Google Shape;740;p77"/>
          <p:cNvSpPr txBox="1"/>
          <p:nvPr/>
        </p:nvSpPr>
        <p:spPr>
          <a:xfrm>
            <a:off x="5577840" y="4023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The service starts empty. Tickets arrive only through POST /tickets, never by CSV import.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Workload Model</a:t>
            </a:r>
            <a:endParaRPr/>
          </a:p>
        </p:txBody>
      </p:sp>
      <p:sp>
        <p:nvSpPr>
          <p:cNvPr id="746" name="Google Shape;746;p78"/>
          <p:cNvSpPr/>
          <p:nvPr/>
        </p:nvSpPr>
        <p:spPr>
          <a:xfrm>
            <a:off x="640080" y="1148927"/>
            <a:ext cx="1326000" cy="9144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5,984,100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rgbClr val="241160"/>
                </a:solidFill>
              </a:rPr>
              <a:t>CFPB complaints, 2025 (published) [3]</a:t>
            </a:r>
            <a:endParaRPr/>
          </a:p>
        </p:txBody>
      </p:sp>
      <p:sp>
        <p:nvSpPr>
          <p:cNvPr id="747" name="Google Shape;747;p78"/>
          <p:cNvSpPr txBox="1"/>
          <p:nvPr/>
        </p:nvSpPr>
        <p:spPr>
          <a:xfrm>
            <a:off x="1965960" y="1240367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× 0.025%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1 of 4,000</a:t>
            </a:r>
            <a:endParaRPr/>
          </a:p>
        </p:txBody>
      </p:sp>
      <p:cxnSp>
        <p:nvCxnSpPr>
          <p:cNvPr id="748" name="Google Shape;748;p78"/>
          <p:cNvCxnSpPr/>
          <p:nvPr/>
        </p:nvCxnSpPr>
        <p:spPr>
          <a:xfrm>
            <a:off x="2075688" y="1770719"/>
            <a:ext cx="6036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9" name="Google Shape;749;p78"/>
          <p:cNvSpPr/>
          <p:nvPr/>
        </p:nvSpPr>
        <p:spPr>
          <a:xfrm>
            <a:off x="2788920" y="1148927"/>
            <a:ext cx="1326000" cy="9144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1,496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tickets a year (estimate)</a:t>
            </a:r>
            <a:endParaRPr/>
          </a:p>
        </p:txBody>
      </p:sp>
      <p:sp>
        <p:nvSpPr>
          <p:cNvPr id="750" name="Google Shape;750;p78"/>
          <p:cNvSpPr txBox="1"/>
          <p:nvPr/>
        </p:nvSpPr>
        <p:spPr>
          <a:xfrm>
            <a:off x="4114800" y="1240367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÷ 260 days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÷ 8 hours</a:t>
            </a:r>
            <a:endParaRPr/>
          </a:p>
        </p:txBody>
      </p:sp>
      <p:cxnSp>
        <p:nvCxnSpPr>
          <p:cNvPr id="751" name="Google Shape;751;p78"/>
          <p:cNvCxnSpPr/>
          <p:nvPr/>
        </p:nvCxnSpPr>
        <p:spPr>
          <a:xfrm>
            <a:off x="4224528" y="1770719"/>
            <a:ext cx="6036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2" name="Google Shape;752;p78"/>
          <p:cNvSpPr/>
          <p:nvPr/>
        </p:nvSpPr>
        <p:spPr>
          <a:xfrm>
            <a:off x="4937760" y="1148927"/>
            <a:ext cx="1326000" cy="9144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0.72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tickets an hour on average (estimate)</a:t>
            </a:r>
            <a:endParaRPr/>
          </a:p>
        </p:txBody>
      </p:sp>
      <p:sp>
        <p:nvSpPr>
          <p:cNvPr id="753" name="Google Shape;753;p78"/>
          <p:cNvSpPr txBox="1"/>
          <p:nvPr/>
        </p:nvSpPr>
        <p:spPr>
          <a:xfrm>
            <a:off x="6263640" y="1240367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×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peak factor</a:t>
            </a:r>
            <a:endParaRPr/>
          </a:p>
        </p:txBody>
      </p:sp>
      <p:cxnSp>
        <p:nvCxnSpPr>
          <p:cNvPr id="754" name="Google Shape;754;p78"/>
          <p:cNvCxnSpPr/>
          <p:nvPr/>
        </p:nvCxnSpPr>
        <p:spPr>
          <a:xfrm>
            <a:off x="6373368" y="1770719"/>
            <a:ext cx="6036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5" name="Google Shape;755;p78"/>
          <p:cNvSpPr/>
          <p:nvPr/>
        </p:nvSpPr>
        <p:spPr>
          <a:xfrm>
            <a:off x="7086600" y="1148927"/>
            <a:ext cx="1326000" cy="914400"/>
          </a:xfrm>
          <a:prstGeom prst="roundRect">
            <a:avLst>
              <a:gd fmla="val 8000" name="adj"/>
            </a:avLst>
          </a:prstGeom>
          <a:solidFill>
            <a:srgbClr val="545EEA"/>
          </a:solidFill>
          <a:ln>
            <a:noFill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tickets an hour at peak, 0.024 a minute (estimate)</a:t>
            </a:r>
            <a:endParaRPr/>
          </a:p>
        </p:txBody>
      </p:sp>
      <p:sp>
        <p:nvSpPr>
          <p:cNvPr id="756" name="Google Shape;756;p78"/>
          <p:cNvSpPr txBox="1"/>
          <p:nvPr/>
        </p:nvSpPr>
        <p:spPr>
          <a:xfrm>
            <a:off x="640080" y="2401382"/>
            <a:ext cx="5212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Searches: 0.167 a minute (estimate). 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2 agents × 5 an hour, </a:t>
            </a:r>
            <a:r>
              <a:rPr lang="en-GB" sz="1050">
                <a:solidFill>
                  <a:srgbClr val="241160"/>
                </a:solidFill>
              </a:rPr>
              <a:t>the top of the 4 to 5 calls an hour per officer in CNA 2024 [4].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 Assumed, not published.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Peak: 2× the average, in daytime (estimate). </a:t>
            </a:r>
            <a:r>
              <a:rPr lang="en-GB" sz="1050">
                <a:solidFill>
                  <a:srgbClr val="241160"/>
                </a:solidFill>
              </a:rPr>
              <a:t>Whitt 2007 [5] shows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 time-of-day swings, but the factor of 2 is our assumption.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Limit: 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equal share is a generous load. About </a:t>
            </a:r>
            <a:r>
              <a:rPr lang="en-GB" sz="1050">
                <a:solidFill>
                  <a:srgbClr val="241160"/>
                </a:solidFill>
              </a:rPr>
              <a:t>77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% </a:t>
            </a:r>
            <a:r>
              <a:rPr lang="en-GB" sz="1050">
                <a:solidFill>
                  <a:srgbClr val="241160"/>
                </a:solidFill>
              </a:rPr>
              <a:t>of 2025 complaints [3] were credit reporting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, so a typical firm likely sees fewer.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Ticket length (measured): </a:t>
            </a:r>
            <a:r>
              <a:rPr b="0" i="0" lang="en-GB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median 744 characters, p95 1,799, longest 1,999 across the 1,000 team rows. None at risk of truncation.</a:t>
            </a:r>
            <a:endParaRPr/>
          </a:p>
        </p:txBody>
      </p:sp>
      <p:pic>
        <p:nvPicPr>
          <p:cNvPr descr="Histogram of ticket length in characters across the 1,000 team rows, mostly 200 to 1,200 characters with a long tail to 2,000" id="757" name="Google Shape;75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2462432"/>
            <a:ext cx="2103120" cy="1709928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78"/>
          <p:cNvSpPr txBox="1"/>
          <p:nvPr/>
        </p:nvSpPr>
        <p:spPr>
          <a:xfrm>
            <a:off x="6126488" y="4172360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1" lang="en-GB" sz="800">
                <a:solidFill>
                  <a:srgbClr val="4A4570"/>
                </a:solidFill>
              </a:rPr>
              <a:t>Measured, 1,000 team rows. Source: workload/output/length_distribution.csv</a:t>
            </a:r>
            <a:endParaRPr i="1" sz="800">
              <a:solidFill>
                <a:srgbClr val="4A4570"/>
              </a:solidFill>
            </a:endParaRPr>
          </a:p>
        </p:txBody>
      </p:sp>
      <p:sp>
        <p:nvSpPr>
          <p:cNvPr id="759" name="Google Shape;759;p78"/>
          <p:cNvSpPr txBox="1"/>
          <p:nvPr/>
        </p:nvSpPr>
        <p:spPr>
          <a:xfrm>
            <a:off x="640080" y="4330000"/>
            <a:ext cx="530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4A4570"/>
                </a:solidFill>
              </a:rPr>
              <a:t>Sources: [3] CFPB 2025 Consumer Response Annual Report (5,984,100 complaints; 4,000+ companies; about 77% credit reporting). [4] CNA 2024. [5] Whitt 2007. Workings: workload/workload_model.md.</a:t>
            </a:r>
            <a:endParaRPr sz="800">
              <a:solidFill>
                <a:srgbClr val="4A45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600"/>
              <a:t>Performance and Accuracy Requirements</a:t>
            </a:r>
            <a:endParaRPr sz="2900"/>
          </a:p>
        </p:txBody>
      </p:sp>
      <p:graphicFrame>
        <p:nvGraphicFramePr>
          <p:cNvPr id="765" name="Google Shape;765;p79"/>
          <p:cNvGraphicFramePr/>
          <p:nvPr/>
        </p:nvGraphicFramePr>
        <p:xfrm>
          <a:off x="640080" y="15361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473825"/>
                <a:gridCol w="3623875"/>
                <a:gridCol w="37676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Requirement: number, percentile, load condition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it is set there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 /tickets p95 ≤ 10 s</a:t>
                      </a: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at 1 request a minute, 600 s runs, 3 runs, every model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agent waiting should get a routing answer in 10 s. 1 a minute is the lowest runnable rate, about 42× the modelled peak.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95% classified without error</a:t>
                      </a: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each run finished within 660 s, at 12 requests a minute (720 tickets an hour)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Capacity test at about 500× modelled peak. Fails if a queue builds; random arrivals make a fixed hourly cut-off unfair.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R3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Overall accuracy ≥ 90%</a:t>
                      </a: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the golden set, one serial pass per model; UNPARSEABLE counts as wrong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 about 1,496 tickets a year, 90% leaves at most about 150 misrouted tickets a year.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R4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 category ≥ 80%</a:t>
                      </a: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the golden set, same serial pass, all seven categories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Stops a strong overall score hiding a failing category. Categories hold 19 to 41 tickets (source: golden/golden_set.csv), so each figure is coarse.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R5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 /search p95 ≤ 2 s</a:t>
                      </a: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under mixed load: 1 ticket and 1 search a minute, 600 s runs, 3 runs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 should stay responsive while the model is busy. Modelled search rate is 0.167 a minute; 1 a minute is the lowest runnable.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6" name="Google Shape;766;p79"/>
          <p:cNvSpPr txBox="1"/>
          <p:nvPr/>
        </p:nvSpPr>
        <p:spPr>
          <a:xfrm>
            <a:off x="1051560" y="4526280"/>
            <a:ext cx="722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100" u="none" cap="none" strike="noStrike">
                <a:solidFill>
                  <a:srgbClr val="4A4670"/>
                </a:solidFill>
              </a:rPr>
              <a:t>R1, R2, R5 are judged on the worst of three runs. </a:t>
            </a:r>
            <a:endParaRPr b="1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Candidate Models</a:t>
            </a:r>
            <a:endParaRPr/>
          </a:p>
        </p:txBody>
      </p:sp>
      <p:graphicFrame>
        <p:nvGraphicFramePr>
          <p:cNvPr id="772" name="Google Shape;772;p80"/>
          <p:cNvGraphicFramePr/>
          <p:nvPr/>
        </p:nvGraphicFramePr>
        <p:xfrm>
          <a:off x="640080" y="11893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1261150"/>
                <a:gridCol w="1309650"/>
                <a:gridCol w="727575"/>
                <a:gridCol w="776075"/>
                <a:gridCol w="727575"/>
                <a:gridCol w="836725"/>
                <a:gridCol w="241310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Size class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Ollama tag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Size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Licence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</a:rPr>
                        <a:t>Digest (sha256)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Floor, 1B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rgbClr val="241160"/>
                          </a:solidFill>
                        </a:rPr>
                        <a:t>llama3.2:1b-instruct-q4_K_M</a:t>
                      </a:r>
                      <a:endParaRPr b="1"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1.24B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241160"/>
                          </a:solidFill>
                        </a:rPr>
                        <a:t>Q4_K_M</a:t>
                      </a:r>
                      <a:endParaRPr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241160"/>
                          </a:solidFill>
                        </a:rPr>
                        <a:t>808 MB</a:t>
                      </a:r>
                      <a:endParaRPr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 3.2 Community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241160"/>
                          </a:solidFill>
                        </a:rPr>
                        <a:t>22bc6b92eb0160c4629782fca05a9032c59d306ab2058b7dacc8a4644fbafa02</a:t>
                      </a:r>
                      <a:endParaRPr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Middle, 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3.21B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Q4_K_M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 GB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 3.2 Community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241160"/>
                          </a:solidFill>
                        </a:rPr>
                        <a:t>a80c4f17acd55265feec403c7aef86be0c25983ab279d83f3bcd3abbcb5b8b72</a:t>
                      </a:r>
                      <a:endParaRPr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Middle, 3-4B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granite4:3b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Q4_K_M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 GB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Apache 2.0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241160"/>
                          </a:solidFill>
                        </a:rPr>
                        <a:t>89962fcc75239ac434cdebceb6b7e0669397f92eaef9c487774b718bc36a3e5f</a:t>
                      </a:r>
                      <a:endParaRPr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545E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Ceiling, 7B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qwen2.5:7b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7.62B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Q4_K_M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4.7 GB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Apache 2.0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241160"/>
                          </a:solidFill>
                        </a:rPr>
                        <a:t>845dbda0ea48ed749caafd9e6037047aa19acfcfd82e704d7ca97d631a0b697e</a:t>
                      </a:r>
                      <a:endParaRPr sz="1000">
                        <a:solidFill>
                          <a:srgbClr val="241160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</a:tbl>
          </a:graphicData>
        </a:graphic>
      </p:graphicFrame>
      <p:sp>
        <p:nvSpPr>
          <p:cNvPr id="773" name="Google Shape;773;p80"/>
          <p:cNvSpPr/>
          <p:nvPr/>
        </p:nvSpPr>
        <p:spPr>
          <a:xfrm>
            <a:off x="777205" y="3219763"/>
            <a:ext cx="3749100" cy="585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Spread.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1B is the fast end, 7B the slow end and the largest model honestly servable on CPU. No reasoning model and nothing above 8B.</a:t>
            </a:r>
            <a:endParaRPr/>
          </a:p>
        </p:txBody>
      </p:sp>
      <p:sp>
        <p:nvSpPr>
          <p:cNvPr id="774" name="Google Shape;774;p80"/>
          <p:cNvSpPr/>
          <p:nvPr/>
        </p:nvSpPr>
        <p:spPr>
          <a:xfrm>
            <a:off x="4617685" y="3219763"/>
            <a:ext cx="3749100" cy="585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Controlled pair.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llama3.2 1B and 3B share family, tokeniser and chat template, so the gap between them is mostly size.</a:t>
            </a:r>
            <a:endParaRPr/>
          </a:p>
        </p:txBody>
      </p:sp>
      <p:sp>
        <p:nvSpPr>
          <p:cNvPr id="775" name="Google Shape;775;p80"/>
          <p:cNvSpPr/>
          <p:nvPr/>
        </p:nvSpPr>
        <p:spPr>
          <a:xfrm>
            <a:off x="777205" y="3859843"/>
            <a:ext cx="3749100" cy="585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Licence cost.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granite4:3b is Apache 2.0 in the same size class as llama3.2:3b, so what the Llama licence costs the client is measurable.</a:t>
            </a:r>
            <a:endParaRPr/>
          </a:p>
        </p:txBody>
      </p:sp>
      <p:sp>
        <p:nvSpPr>
          <p:cNvPr id="776" name="Google Shape;776;p80"/>
          <p:cNvSpPr/>
          <p:nvPr/>
        </p:nvSpPr>
        <p:spPr>
          <a:xfrm>
            <a:off x="4617685" y="3859843"/>
            <a:ext cx="3749100" cy="585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545EEA"/>
                </a:solidFill>
              </a:rPr>
              <a:t>Quantisation.</a:t>
            </a:r>
            <a:r>
              <a:rPr i="0" lang="en-GB" spc="0" sz="1000" u="none" cap="none" strike="noStrike">
                <a:solidFill>
                  <a:srgbClr val="241160"/>
                </a:solidFill>
              </a:rPr>
              <a:t> All four are Q4_K_M: we pinned the 4-bit 1B build, so the 1B vs 3B gap varies parameter count only.</a:t>
            </a:r>
            <a:endParaRPr>
              <a:solidFill>
                <a:srgbClr val="2411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Golden Test Set</a:t>
            </a:r>
            <a:endParaRPr/>
          </a:p>
        </p:txBody>
      </p:sp>
      <p:sp>
        <p:nvSpPr>
          <p:cNvPr id="782" name="Google Shape;782;p81"/>
          <p:cNvSpPr/>
          <p:nvPr/>
        </p:nvSpPr>
        <p:spPr>
          <a:xfrm>
            <a:off x="640080" y="1282131"/>
            <a:ext cx="1828800" cy="8046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tickets, sampled with fixed seed 3113</a:t>
            </a:r>
            <a:endParaRPr/>
          </a:p>
        </p:txBody>
      </p:sp>
      <p:sp>
        <p:nvSpPr>
          <p:cNvPr id="783" name="Google Shape;783;p81"/>
          <p:cNvSpPr/>
          <p:nvPr/>
        </p:nvSpPr>
        <p:spPr>
          <a:xfrm>
            <a:off x="2590770" y="1282131"/>
            <a:ext cx="1828800" cy="804600"/>
          </a:xfrm>
          <a:prstGeom prst="roundRect">
            <a:avLst>
              <a:gd fmla="val 8000" name="adj"/>
            </a:avLst>
          </a:prstGeom>
          <a:solidFill>
            <a:srgbClr val="545EEA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κ = 0.599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Cohen's kappa: moderate agreement</a:t>
            </a:r>
            <a:endParaRPr/>
          </a:p>
        </p:txBody>
      </p:sp>
      <p:sp>
        <p:nvSpPr>
          <p:cNvPr id="784" name="Google Shape;784;p81"/>
          <p:cNvSpPr/>
          <p:nvPr/>
        </p:nvSpPr>
        <p:spPr>
          <a:xfrm>
            <a:off x="4541459" y="1282131"/>
            <a:ext cx="1828800" cy="8046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132 / 200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labels matched before discussion</a:t>
            </a:r>
            <a:endParaRPr/>
          </a:p>
        </p:txBody>
      </p:sp>
      <p:sp>
        <p:nvSpPr>
          <p:cNvPr id="785" name="Google Shape;785;p81"/>
          <p:cNvSpPr/>
          <p:nvPr/>
        </p:nvSpPr>
        <p:spPr>
          <a:xfrm>
            <a:off x="6492149" y="1282131"/>
            <a:ext cx="1828800" cy="8046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disagreements, each resolved and recorded</a:t>
            </a:r>
            <a:endParaRPr/>
          </a:p>
        </p:txBody>
      </p:sp>
      <p:sp>
        <p:nvSpPr>
          <p:cNvPr id="786" name="Google Shape;786;p81"/>
          <p:cNvSpPr txBox="1"/>
          <p:nvPr/>
        </p:nvSpPr>
        <p:spPr>
          <a:xfrm>
            <a:off x="640080" y="24140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Protocol and its revisions</a:t>
            </a:r>
            <a:endParaRPr/>
          </a:p>
        </p:txBody>
      </p:sp>
      <p:graphicFrame>
        <p:nvGraphicFramePr>
          <p:cNvPr id="787" name="Google Shape;787;p81"/>
          <p:cNvGraphicFramePr/>
          <p:nvPr/>
        </p:nvGraphicFramePr>
        <p:xfrm>
          <a:off x="640080" y="2688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457200"/>
                <a:gridCol w="2880350"/>
                <a:gridCol w="502925"/>
              </a:tblGrid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changed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Rows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R0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protocol text, written after labelling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Mortgage servicing and escrow: Mortgage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Collector conduct: Debt collection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R3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Credit-file-only fixes: Credit reporting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R4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Prepaid and gift cards: Credit card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R5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Student-loan relief: Consumer loan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R6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Freezes and closures: Bank account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22850" marB="22850" marR="64000" marL="6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8" name="Google Shape;788;p81"/>
          <p:cNvSpPr txBox="1"/>
          <p:nvPr/>
        </p:nvSpPr>
        <p:spPr>
          <a:xfrm>
            <a:off x="4709160" y="2414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Two resolved disagreements exa</a:t>
            </a:r>
            <a:r>
              <a:rPr b="1" lang="en-GB" sz="1200">
                <a:solidFill>
                  <a:srgbClr val="241160"/>
                </a:solidFill>
              </a:rPr>
              <a:t>mple:</a:t>
            </a:r>
            <a:endParaRPr/>
          </a:p>
        </p:txBody>
      </p:sp>
      <p:sp>
        <p:nvSpPr>
          <p:cNvPr id="789" name="Google Shape;789;p81"/>
          <p:cNvSpPr/>
          <p:nvPr/>
        </p:nvSpPr>
        <p:spPr>
          <a:xfrm>
            <a:off x="4709160" y="2688336"/>
            <a:ext cx="3657600" cy="822960"/>
          </a:xfrm>
          <a:prstGeom prst="roundRect">
            <a:avLst>
              <a:gd fmla="val 6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45700" lIns="1097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Row 10666: Debt collection vs Credit card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Agreed: Debt collection. A collector was chasing a card debt the consumer had already settled, so the complaint is the collector's conduct (rule R2).</a:t>
            </a:r>
            <a:endParaRPr/>
          </a:p>
        </p:txBody>
      </p:sp>
      <p:sp>
        <p:nvSpPr>
          <p:cNvPr id="790" name="Google Shape;790;p81"/>
          <p:cNvSpPr/>
          <p:nvPr/>
        </p:nvSpPr>
        <p:spPr>
          <a:xfrm>
            <a:off x="4709160" y="3575304"/>
            <a:ext cx="3657600" cy="822960"/>
          </a:xfrm>
          <a:prstGeom prst="roundRect">
            <a:avLst>
              <a:gd fmla="val 6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45700" lIns="1097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Row 10454: Mortgage vs Bank account or service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Agreed: Mortgage. The servicer mishandled the consumer's escrow account, a servicing issue. Both labellers were highly confident (rule R1).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2"/>
          <p:cNvSpPr txBox="1"/>
          <p:nvPr>
            <p:ph type="title"/>
          </p:nvPr>
        </p:nvSpPr>
        <p:spPr>
          <a:xfrm>
            <a:off x="720000" y="16116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Test Environment</a:t>
            </a:r>
            <a:endParaRPr/>
          </a:p>
        </p:txBody>
      </p:sp>
      <p:graphicFrame>
        <p:nvGraphicFramePr>
          <p:cNvPr id="796" name="Google Shape;796;p82"/>
          <p:cNvGraphicFramePr/>
          <p:nvPr/>
        </p:nvGraphicFramePr>
        <p:xfrm>
          <a:off x="640080" y="733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1234450"/>
                <a:gridCol w="1307950"/>
                <a:gridCol w="1206650"/>
                <a:gridCol w="868675"/>
                <a:gridCol w="1325875"/>
                <a:gridCol w="1645925"/>
              </a:tblGrid>
              <a:tr h="33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Host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69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omarchy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Ryzen 9 5900X, 12 cores / 24 threads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31.3 GiB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Arch Linux, kernel 7.2.3-arch1-3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Docker Engine 29.7.2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Ollama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omarchy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Ryzen 9 5900X, 12 cores / 24 threads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31.3 GiB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Arch Linux, kernel 7.2.3-arch1-3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Ollama 0.34.3, CPU only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generator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kais-macbook-pro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Apple M3 Pro, 11 cores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18.0 GiB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macOS 15.1.1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JMeter 5.6.3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7" name="Google Shape;797;p82"/>
          <p:cNvSpPr/>
          <p:nvPr/>
        </p:nvSpPr>
        <p:spPr>
          <a:xfrm>
            <a:off x="640080" y="2903977"/>
            <a:ext cx="3749100" cy="7131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Separate machine. 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generator on </a:t>
            </a:r>
            <a:r>
              <a:rPr b="1" lang="en-GB" sz="1000">
                <a:solidFill>
                  <a:schemeClr val="dk1"/>
                </a:solidFill>
              </a:rPr>
              <a:t>kais-macbook-pro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GB" sz="1000">
                <a:solidFill>
                  <a:schemeClr val="dk1"/>
                </a:solidFill>
              </a:rPr>
              <a:t>service and Ollama on omarchy.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Evidence: service_url in metadata.json is </a:t>
            </a:r>
            <a:r>
              <a:rPr b="1" lang="en-GB" sz="1000">
                <a:solidFill>
                  <a:schemeClr val="dk1"/>
                </a:solidFill>
              </a:rPr>
              <a:t>http://192.168.50.130:8000,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 a loopback address.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8" name="Google Shape;798;p82"/>
          <p:cNvSpPr/>
          <p:nvPr/>
        </p:nvSpPr>
        <p:spPr>
          <a:xfrm>
            <a:off x="4480560" y="2903977"/>
            <a:ext cx="3749100" cy="7131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Network. 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type </a:t>
            </a:r>
            <a:r>
              <a:rPr b="1" lang="en-GB" sz="1000">
                <a:solidFill>
                  <a:schemeClr val="dk1"/>
                </a:solidFill>
              </a:rPr>
              <a:t>Gigabit Ethernet, load generator on 5 GHz Wi-Fi (802.11ac)</a:t>
            </a:r>
            <a:r>
              <a:rPr b="0" i="0" lang="en-GB" spc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000">
                <a:solidFill>
                  <a:schemeClr val="dk1"/>
                </a:solidFill>
              </a:rPr>
              <a:t>Idle round trip 3.515 ms (measured).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9" name="Google Shape;799;p82"/>
          <p:cNvSpPr/>
          <p:nvPr/>
        </p:nvSpPr>
        <p:spPr>
          <a:xfrm>
            <a:off x="640080" y="3690361"/>
            <a:ext cx="3749100" cy="7131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Limitations.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GB" sz="1000">
                <a:solidFill>
                  <a:schemeClr val="dk1"/>
                </a:solidFill>
              </a:rPr>
              <a:t> Background desktop activity can increase variance and tail latency.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2. Warm models; cold starts excluded, making latency optimistic for infrequent requests.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0" name="Google Shape;800;p82"/>
          <p:cNvSpPr/>
          <p:nvPr/>
        </p:nvSpPr>
        <p:spPr>
          <a:xfrm>
            <a:off x="4480560" y="3690361"/>
            <a:ext cx="3749100" cy="7131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Scaling. </a:t>
            </a:r>
            <a:r>
              <a:rPr lang="en-GB" sz="1000">
                <a:solidFill>
                  <a:schemeClr val="dk1"/>
                </a:solidFill>
              </a:rPr>
              <a:t>Assuming the same models, settings and workload, capacity can scale with independent hosts; adding hosts does not reduce single-request latency. Re-test latency and capacity on the client’s CPU servers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Playbook (Testing Procedure)</a:t>
            </a:r>
            <a:endParaRPr/>
          </a:p>
        </p:txBody>
      </p:sp>
      <p:sp>
        <p:nvSpPr>
          <p:cNvPr id="806" name="Google Shape;806;p83"/>
          <p:cNvSpPr/>
          <p:nvPr/>
        </p:nvSpPr>
        <p:spPr>
          <a:xfrm>
            <a:off x="640080" y="1368683"/>
            <a:ext cx="1143000" cy="777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73150" spcFirstLastPara="1" rIns="548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pc="0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1  Freeze gate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freeze_gate.py exits 0</a:t>
            </a:r>
            <a:endParaRPr/>
          </a:p>
        </p:txBody>
      </p:sp>
      <p:cxnSp>
        <p:nvCxnSpPr>
          <p:cNvPr id="807" name="Google Shape;807;p83"/>
          <p:cNvCxnSpPr/>
          <p:nvPr/>
        </p:nvCxnSpPr>
        <p:spPr>
          <a:xfrm>
            <a:off x="1801368" y="1757303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8" name="Google Shape;808;p83"/>
          <p:cNvSpPr/>
          <p:nvPr/>
        </p:nvSpPr>
        <p:spPr>
          <a:xfrm>
            <a:off x="1965960" y="1368683"/>
            <a:ext cx="1143000" cy="777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73150" spcFirstLastPara="1" rIns="548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pc="0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2  Health check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model tag and digest</a:t>
            </a:r>
            <a:endParaRPr/>
          </a:p>
        </p:txBody>
      </p:sp>
      <p:cxnSp>
        <p:nvCxnSpPr>
          <p:cNvPr id="809" name="Google Shape;809;p83"/>
          <p:cNvCxnSpPr/>
          <p:nvPr/>
        </p:nvCxnSpPr>
        <p:spPr>
          <a:xfrm>
            <a:off x="3127248" y="1757303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0" name="Google Shape;810;p83"/>
          <p:cNvSpPr/>
          <p:nvPr/>
        </p:nvSpPr>
        <p:spPr>
          <a:xfrm>
            <a:off x="3291840" y="1368683"/>
            <a:ext cx="1143000" cy="777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73150" spcFirstLastPara="1" rIns="548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pc="0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3  Warm up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one request, logged apart</a:t>
            </a:r>
            <a:endParaRPr/>
          </a:p>
        </p:txBody>
      </p:sp>
      <p:cxnSp>
        <p:nvCxnSpPr>
          <p:cNvPr id="811" name="Google Shape;811;p83"/>
          <p:cNvCxnSpPr/>
          <p:nvPr/>
        </p:nvCxnSpPr>
        <p:spPr>
          <a:xfrm>
            <a:off x="4453128" y="1757303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2" name="Google Shape;812;p83"/>
          <p:cNvSpPr/>
          <p:nvPr/>
        </p:nvSpPr>
        <p:spPr>
          <a:xfrm>
            <a:off x="4617720" y="1368683"/>
            <a:ext cx="1143000" cy="777300"/>
          </a:xfrm>
          <a:prstGeom prst="roundRect">
            <a:avLst>
              <a:gd fmla="val 8000" name="adj"/>
            </a:avLst>
          </a:prstGeom>
          <a:solidFill>
            <a:srgbClr val="545EEA"/>
          </a:solidFill>
          <a:ln>
            <a:noFill/>
          </a:ln>
        </p:spPr>
        <p:txBody>
          <a:bodyPr anchorCtr="0" anchor="ctr" bIns="36575" lIns="73150" spcFirstLastPara="1" rIns="548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 Run JMeter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open-loop, 600 s</a:t>
            </a:r>
            <a:endParaRPr/>
          </a:p>
        </p:txBody>
      </p:sp>
      <p:cxnSp>
        <p:nvCxnSpPr>
          <p:cNvPr id="813" name="Google Shape;813;p83"/>
          <p:cNvCxnSpPr/>
          <p:nvPr/>
        </p:nvCxnSpPr>
        <p:spPr>
          <a:xfrm>
            <a:off x="5779008" y="1757303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4" name="Google Shape;814;p83"/>
          <p:cNvSpPr/>
          <p:nvPr/>
        </p:nvSpPr>
        <p:spPr>
          <a:xfrm>
            <a:off x="5943600" y="1368683"/>
            <a:ext cx="1143000" cy="777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73150" spcFirstLastPara="1" rIns="548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pc="0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5  Slice the log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service.jsonl, run window</a:t>
            </a:r>
            <a:endParaRPr/>
          </a:p>
        </p:txBody>
      </p:sp>
      <p:cxnSp>
        <p:nvCxnSpPr>
          <p:cNvPr id="815" name="Google Shape;815;p83"/>
          <p:cNvCxnSpPr/>
          <p:nvPr/>
        </p:nvCxnSpPr>
        <p:spPr>
          <a:xfrm>
            <a:off x="7104888" y="1757303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2411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6" name="Google Shape;816;p83"/>
          <p:cNvSpPr/>
          <p:nvPr/>
        </p:nvSpPr>
        <p:spPr>
          <a:xfrm>
            <a:off x="7269480" y="1368683"/>
            <a:ext cx="1143000" cy="777300"/>
          </a:xfrm>
          <a:prstGeom prst="roundRect">
            <a:avLst>
              <a:gd fmla="val 8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73150" spcFirstLastPara="1" rIns="548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pc="0" sz="105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6  Reconcile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reconcile.py passes</a:t>
            </a:r>
            <a:endParaRPr/>
          </a:p>
        </p:txBody>
      </p:sp>
      <p:sp>
        <p:nvSpPr>
          <p:cNvPr id="817" name="Google Shape;817;p83"/>
          <p:cNvSpPr txBox="1"/>
          <p:nvPr/>
        </p:nvSpPr>
        <p:spPr>
          <a:xfrm>
            <a:off x="640080" y="2164211"/>
            <a:ext cx="7772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pc="0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Steps 1 to 3 once per model; steps 4 to 6 for every arrival rate, three runs each, then summarise_load.py.</a:t>
            </a:r>
            <a:endParaRPr/>
          </a:p>
        </p:txBody>
      </p:sp>
      <p:sp>
        <p:nvSpPr>
          <p:cNvPr id="818" name="Google Shape;818;p83"/>
          <p:cNvSpPr txBox="1"/>
          <p:nvPr/>
        </p:nvSpPr>
        <p:spPr>
          <a:xfrm>
            <a:off x="640080" y="262432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pc="0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Open-loop schedule (Open Model Thread Group)</a:t>
            </a:r>
            <a:endParaRPr/>
          </a:p>
        </p:txBody>
      </p:sp>
      <p:sp>
        <p:nvSpPr>
          <p:cNvPr id="819" name="Google Shape;819;p83"/>
          <p:cNvSpPr/>
          <p:nvPr/>
        </p:nvSpPr>
        <p:spPr>
          <a:xfrm>
            <a:off x="640080" y="2871216"/>
            <a:ext cx="3840480" cy="512064"/>
          </a:xfrm>
          <a:prstGeom prst="roundRect">
            <a:avLst>
              <a:gd fmla="val 6000" name="adj"/>
            </a:avLst>
          </a:prstGeom>
          <a:solidFill>
            <a:srgbClr val="F4F5FE"/>
          </a:solidFill>
          <a:ln cap="flat" cmpd="sng" w="12700">
            <a:solidFill>
              <a:srgbClr val="54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109725" spcFirstLastPara="1" rIns="7315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pc="0" sz="1050" u="none" cap="none" strike="noStrike">
                <a:solidFill>
                  <a:srgbClr val="241160"/>
                </a:solidFill>
                <a:latin typeface="Courier New"/>
                <a:ea typeface="Courier New"/>
                <a:cs typeface="Courier New"/>
                <a:sym typeface="Courier New"/>
              </a:rPr>
              <a:t>rate(${__P(rate_per_min,60)}/min)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pc="0" sz="1050" u="none" cap="none" strike="noStrike">
                <a:solidFill>
                  <a:srgbClr val="241160"/>
                </a:solidFill>
                <a:latin typeface="Courier New"/>
                <a:ea typeface="Courier New"/>
                <a:cs typeface="Courier New"/>
                <a:sym typeface="Courier New"/>
              </a:rPr>
              <a:t>random_arrivals(${__P(duration_s,300)} sec)</a:t>
            </a:r>
            <a:endParaRPr/>
          </a:p>
        </p:txBody>
      </p:sp>
      <p:sp>
        <p:nvSpPr>
          <p:cNvPr id="820" name="Google Shape;820;p83"/>
          <p:cNvSpPr txBox="1"/>
          <p:nvPr/>
        </p:nvSpPr>
        <p:spPr>
          <a:xfrm>
            <a:off x="640075" y="3438149"/>
            <a:ext cx="38406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Poisson arrivals at a fixed rate: the service is offered that rate even as it slows, so queues can form. A closed loop would hide them.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Void if: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gate failed, reconcile exits non-zero, wrong model digest, database not empty at start, or JMeter on the service host.</a:t>
            </a:r>
            <a:endParaRPr/>
          </a:p>
        </p:txBody>
      </p:sp>
      <p:sp>
        <p:nvSpPr>
          <p:cNvPr id="821" name="Google Shape;821;p83"/>
          <p:cNvSpPr txBox="1"/>
          <p:nvPr/>
        </p:nvSpPr>
        <p:spPr>
          <a:xfrm>
            <a:off x="4663440" y="262432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pc="0" sz="11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Tests run</a:t>
            </a:r>
            <a:endParaRPr/>
          </a:p>
        </p:txBody>
      </p:sp>
      <p:graphicFrame>
        <p:nvGraphicFramePr>
          <p:cNvPr id="822" name="Google Shape;822;p83"/>
          <p:cNvGraphicFramePr/>
          <p:nvPr/>
        </p:nvGraphicFramePr>
        <p:xfrm>
          <a:off x="4663440" y="28712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1691650"/>
                <a:gridCol w="19659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and plan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Offered load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Load, R1 and R2 </a:t>
                      </a:r>
                      <a:r>
                        <a:rPr b="0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load_post_tickets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 4 and 12 a minute, 600 s each, 3 runs each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Mixed, R5 </a:t>
                      </a:r>
                      <a:r>
                        <a:rPr b="0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mixed_load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ticket and 1 search a minute, 600 s, 3 runs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Stress </a:t>
                      </a:r>
                      <a:r>
                        <a:rPr b="0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stress_ramp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to 21 a minute in six steps of 120 s, then 120 s drain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Accuracy, R3 and R4 </a:t>
                      </a:r>
                      <a:r>
                        <a:rPr b="0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run_accuracy.py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 golden tickets, one at a time, per model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Load and Stress Test Results</a:t>
            </a:r>
            <a:endParaRPr/>
          </a:p>
        </p:txBody>
      </p:sp>
      <p:graphicFrame>
        <p:nvGraphicFramePr>
          <p:cNvPr id="828" name="Google Shape;828;p84"/>
          <p:cNvGraphicFramePr/>
          <p:nvPr/>
        </p:nvGraphicFramePr>
        <p:xfrm>
          <a:off x="640080" y="1164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1097275"/>
                <a:gridCol w="411475"/>
                <a:gridCol w="594350"/>
                <a:gridCol w="594350"/>
                <a:gridCol w="594350"/>
                <a:gridCol w="594350"/>
                <a:gridCol w="5943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/min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p50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p95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p99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Thru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 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llama3.2:1b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0.501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0.765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0.802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91.07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llama3.2:1b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0.561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1.025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1.239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253.45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llama3.2:1b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0.520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1.042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1.272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729.40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1.222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2.085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2.315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82.52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1.015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2.430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2.910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250.52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1.211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2.800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3.244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739.13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granite4:3b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1.094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1.824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1.973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74.09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granite4:3b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1.259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2.818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3.207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256.29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granite4:3b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1.537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3.240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4.569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726.59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qwen2.5:7b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2.264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4.034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4.232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64.08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qwen2.5:7b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2.152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7.017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8.532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252.86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qwen2.5:7b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2.685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6.858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8.591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725.41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</a:tbl>
          </a:graphicData>
        </a:graphic>
      </p:graphicFrame>
      <p:sp>
        <p:nvSpPr>
          <p:cNvPr id="829" name="Google Shape;829;p84"/>
          <p:cNvSpPr/>
          <p:nvPr/>
        </p:nvSpPr>
        <p:spPr>
          <a:xfrm>
            <a:off x="5257800" y="1164650"/>
            <a:ext cx="3230100" cy="8229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545EEA"/>
                </a:solidFill>
              </a:rPr>
              <a:t>Stress limit. </a:t>
            </a:r>
            <a:r>
              <a:rPr lang="en-GB" sz="1000">
                <a:solidFill>
                  <a:srgbClr val="241160"/>
                </a:solidFill>
              </a:rPr>
              <a:t>Last step meeting the limits for the recommended model, qwen2.5:7b: </a:t>
            </a:r>
            <a:r>
              <a:rPr b="1" lang="en-GB" sz="1000">
                <a:solidFill>
                  <a:srgbClr val="B3261E"/>
                </a:solidFill>
              </a:rPr>
              <a:t>17 requests a minute</a:t>
            </a:r>
            <a:r>
              <a:rPr lang="en-GB" sz="1000">
                <a:solidFill>
                  <a:srgbClr val="241160"/>
                </a:solidFill>
              </a:rPr>
              <a:t> (p95 ≤ 10 s, errors ≤ 5%). At 21 a minute its p95 is 26 s.</a:t>
            </a:r>
            <a:endParaRPr sz="1000">
              <a:solidFill>
                <a:srgbClr val="241160"/>
              </a:solidFill>
            </a:endParaRPr>
          </a:p>
        </p:txBody>
      </p:sp>
      <p:sp>
        <p:nvSpPr>
          <p:cNvPr id="830" name="Google Shape;830;p84"/>
          <p:cNvSpPr/>
          <p:nvPr/>
        </p:nvSpPr>
        <p:spPr>
          <a:xfrm>
            <a:off x="5257800" y="2060762"/>
            <a:ext cx="3230100" cy="8229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545EEA"/>
                </a:solidFill>
              </a:rPr>
              <a:t>Bottleneck. </a:t>
            </a:r>
            <a:r>
              <a:rPr b="1" lang="en-GB" sz="1000">
                <a:solidFill>
                  <a:srgbClr val="B3261E"/>
                </a:solidFill>
              </a:rPr>
              <a:t>Ollama (queueing and inference) under load.</a:t>
            </a:r>
            <a:r>
              <a:rPr lang="en-GB" sz="1000">
                <a:solidFill>
                  <a:srgbClr val="241160"/>
                </a:solidFill>
              </a:rPr>
              <a:t> For qwen2.5:7b, ollama_other_ms, Ollama's time outside loading, prompt processing and generation, is </a:t>
            </a:r>
            <a:r>
              <a:rPr b="1" lang="en-GB" sz="1000">
                <a:solidFill>
                  <a:srgbClr val="B3261E"/>
                </a:solidFill>
              </a:rPr>
              <a:t>66.3% of mean request latency</a:t>
            </a:r>
            <a:r>
              <a:rPr lang="en-GB" sz="1000">
                <a:solidFill>
                  <a:srgbClr val="241160"/>
                </a:solidFill>
              </a:rPr>
              <a:t>.</a:t>
            </a:r>
            <a:endParaRPr sz="1000">
              <a:solidFill>
                <a:srgbClr val="241160"/>
              </a:solidFill>
            </a:endParaRPr>
          </a:p>
        </p:txBody>
      </p:sp>
      <p:sp>
        <p:nvSpPr>
          <p:cNvPr id="831" name="Google Shape;831;p84"/>
          <p:cNvSpPr/>
          <p:nvPr/>
        </p:nvSpPr>
        <p:spPr>
          <a:xfrm>
            <a:off x="5257800" y="2956875"/>
            <a:ext cx="3230100" cy="8229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545EEA"/>
                </a:solidFill>
              </a:rPr>
              <a:t>Performance requirements. </a:t>
            </a:r>
            <a:r>
              <a:rPr b="1" lang="en-GB" sz="1000">
                <a:solidFill>
                  <a:srgbClr val="B3261E"/>
                </a:solidFill>
              </a:rPr>
              <a:t>All four models meet R1, R2 and R5.</a:t>
            </a:r>
            <a:r>
              <a:rPr lang="en-GB" sz="1000">
                <a:solidFill>
                  <a:srgbClr val="241160"/>
                </a:solidFill>
              </a:rPr>
              <a:t> The accuracy requirements R3 and R4 are missed (slides 10–11).</a:t>
            </a:r>
            <a:endParaRPr sz="1000">
              <a:solidFill>
                <a:srgbClr val="241160"/>
              </a:solidFill>
            </a:endParaRPr>
          </a:p>
        </p:txBody>
      </p:sp>
      <p:sp>
        <p:nvSpPr>
          <p:cNvPr id="832" name="Google Shape;832;p84"/>
          <p:cNvSpPr txBox="1"/>
          <p:nvPr/>
        </p:nvSpPr>
        <p:spPr>
          <a:xfrm>
            <a:off x="640085" y="3926730"/>
            <a:ext cx="7223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rgbClr val="4A4670"/>
                </a:solidFill>
              </a:rPr>
              <a:t>Latency (p50/p95/p99) in seconds; Thru in tickets an hour; Err in %. Mean of 3 runs.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5"/>
          <p:cNvSpPr txBox="1"/>
          <p:nvPr>
            <p:ph type="title"/>
          </p:nvPr>
        </p:nvSpPr>
        <p:spPr>
          <a:xfrm>
            <a:off x="720000" y="32944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Accuracy Results</a:t>
            </a:r>
            <a:endParaRPr/>
          </a:p>
        </p:txBody>
      </p:sp>
      <p:graphicFrame>
        <p:nvGraphicFramePr>
          <p:cNvPr id="838" name="Google Shape;838;p85"/>
          <p:cNvGraphicFramePr/>
          <p:nvPr/>
        </p:nvGraphicFramePr>
        <p:xfrm>
          <a:off x="677280" y="1011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868675"/>
                <a:gridCol w="603500"/>
                <a:gridCol w="749800"/>
                <a:gridCol w="640075"/>
                <a:gridCol w="749800"/>
                <a:gridCol w="640075"/>
                <a:gridCol w="731525"/>
                <a:gridCol w="859525"/>
                <a:gridCol w="731525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Overall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 reporting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Debt coll.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Mortgage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 card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 account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Consumer loan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Money transfer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Unparsed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llama3.2:1b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26.0%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100%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4.3%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7.4%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34.8%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llama3.2:3b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48.5%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65.9%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56.5%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11.1%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22.2%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90.0%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52.2%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granite4:3b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66.0%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90.2%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39.1%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63.0%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77.8%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82.5%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34.8%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36.8%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qwen2.5:7b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74.0%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87.8%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73.9%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70.4%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63.0%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82.5%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56.5%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68.4%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90%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 80%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GB" spc="0" sz="1000" u="none" cap="none" strike="noStrike">
                          <a:solidFill>
                            <a:srgbClr val="4A4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9" name="Google Shape;839;p85"/>
          <p:cNvSpPr/>
          <p:nvPr/>
        </p:nvSpPr>
        <p:spPr>
          <a:xfrm>
            <a:off x="640075" y="2859064"/>
            <a:ext cx="3977700" cy="1209000"/>
          </a:xfrm>
          <a:prstGeom prst="roundRect">
            <a:avLst>
              <a:gd fmla="val 6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Where each model goes wrong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llama3.2:1b: true </a:t>
            </a:r>
            <a:r>
              <a:rPr b="1" lang="en-GB" sz="1000">
                <a:solidFill>
                  <a:srgbClr val="B3261E"/>
                </a:solidFill>
              </a:rPr>
              <a:t>Bank account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predicted as </a:t>
            </a:r>
            <a:r>
              <a:rPr b="1" lang="en-GB" sz="1000">
                <a:solidFill>
                  <a:srgbClr val="B3261E"/>
                </a:solidFill>
              </a:rPr>
              <a:t>Credit reporting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llama3.2:3b: true </a:t>
            </a:r>
            <a:r>
              <a:rPr b="1" lang="en-GB" sz="1000">
                <a:solidFill>
                  <a:srgbClr val="B3261E"/>
                </a:solidFill>
              </a:rPr>
              <a:t>Money transfer or service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 predicted as </a:t>
            </a:r>
            <a:r>
              <a:rPr b="1" lang="en-GB" sz="1000">
                <a:solidFill>
                  <a:srgbClr val="B3261E"/>
                </a:solidFill>
              </a:rPr>
              <a:t>Bank account or service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granite4:3b: true </a:t>
            </a:r>
            <a:r>
              <a:rPr b="1" lang="en-GB" sz="1000">
                <a:solidFill>
                  <a:srgbClr val="B3261E"/>
                </a:solidFill>
              </a:rPr>
              <a:t>Debt collection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predicted as </a:t>
            </a:r>
            <a:r>
              <a:rPr b="1" lang="en-GB" sz="1000">
                <a:solidFill>
                  <a:srgbClr val="B3261E"/>
                </a:solidFill>
              </a:rPr>
              <a:t>Credit reporting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qwen2.5:7b: true </a:t>
            </a:r>
            <a:r>
              <a:rPr b="1" lang="en-GB" sz="1000">
                <a:solidFill>
                  <a:srgbClr val="B3261E"/>
                </a:solidFill>
              </a:rPr>
              <a:t>Money transfer 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predicted as </a:t>
            </a:r>
            <a:r>
              <a:rPr b="1" lang="en-GB" sz="1000">
                <a:solidFill>
                  <a:srgbClr val="B3261E"/>
                </a:solidFill>
              </a:rPr>
              <a:t>Bank </a:t>
            </a:r>
            <a:r>
              <a:rPr b="1" lang="en-GB" sz="1000">
                <a:solidFill>
                  <a:srgbClr val="B3261E"/>
                </a:solidFill>
              </a:rPr>
              <a:t>account</a:t>
            </a:r>
            <a:r>
              <a:rPr b="1" lang="en-GB" sz="1000">
                <a:solidFill>
                  <a:srgbClr val="B3261E"/>
                </a:solidFill>
              </a:rPr>
              <a:t> or service</a:t>
            </a:r>
            <a:endParaRPr/>
          </a:p>
        </p:txBody>
      </p:sp>
      <p:sp>
        <p:nvSpPr>
          <p:cNvPr id="840" name="Google Shape;840;p85"/>
          <p:cNvSpPr txBox="1"/>
          <p:nvPr/>
        </p:nvSpPr>
        <p:spPr>
          <a:xfrm>
            <a:off x="677275" y="4078616"/>
            <a:ext cx="389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pc="0" sz="1000" u="none" cap="none" strike="noStrike">
                <a:solidFill>
                  <a:srgbClr val="4A4670"/>
                </a:solidFill>
                <a:latin typeface="Arial"/>
                <a:ea typeface="Arial"/>
                <a:cs typeface="Arial"/>
                <a:sym typeface="Arial"/>
              </a:rPr>
              <a:t>Unparsed = replies mapping to none of the seven categories (UNPARSEABLE), counted as wrong. </a:t>
            </a:r>
            <a:endParaRPr/>
          </a:p>
        </p:txBody>
      </p:sp>
      <p:pic>
        <p:nvPicPr>
          <p:cNvPr id="841" name="Google Shape;841;p85"/>
          <p:cNvPicPr preferRelativeResize="0"/>
          <p:nvPr/>
        </p:nvPicPr>
        <p:blipFill rotWithShape="1">
          <a:blip r:embed="rId3">
            <a:alphaModFix/>
          </a:blip>
          <a:srcRect b="0" l="0" r="7098" t="0"/>
          <a:stretch/>
        </p:blipFill>
        <p:spPr>
          <a:xfrm>
            <a:off x="4711700" y="2859077"/>
            <a:ext cx="3977651" cy="1762388"/>
          </a:xfrm>
          <a:prstGeom prst="rect">
            <a:avLst/>
          </a:prstGeom>
          <a:noFill/>
          <a:ln cap="flat" cmpd="sng" w="15875">
            <a:solidFill>
              <a:srgbClr val="B3261E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6"/>
          <p:cNvSpPr txBox="1"/>
          <p:nvPr>
            <p:ph type="title"/>
          </p:nvPr>
        </p:nvSpPr>
        <p:spPr>
          <a:xfrm>
            <a:off x="720000" y="303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600"/>
              <a:t>Predictions, Recommendation and Defence</a:t>
            </a:r>
            <a:endParaRPr sz="2800"/>
          </a:p>
        </p:txBody>
      </p:sp>
      <p:graphicFrame>
        <p:nvGraphicFramePr>
          <p:cNvPr id="847" name="Google Shape;847;p86"/>
          <p:cNvGraphicFramePr/>
          <p:nvPr/>
        </p:nvGraphicFramePr>
        <p:xfrm>
          <a:off x="640080" y="603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{68164A90-5C4F-4A6D-B3D8-F2779BC5A639}</a:tableStyleId>
              </a:tblPr>
              <a:tblGrid>
                <a:gridCol w="1600200"/>
                <a:gridCol w="1783075"/>
                <a:gridCol w="1783075"/>
                <a:gridCol w="2423150"/>
              </a:tblGrid>
              <a:tr h="27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Predicted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Measured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we were off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160"/>
                    </a:solidFill>
                  </a:tcPr>
                </a:tc>
              </a:tr>
              <a:tr h="5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Bottleneck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Ollama’s single request slot; waiting increases under load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Waiting inside Ollama grows with load; Qwen ollama_other_ms: 10 → 488 → 858 ms at 1, 4 and 12/min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Correct location; overestimated waiting because inference was faster than expected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Accuracy, per model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38%, 55%, 60%, 70%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26%, 48.5%, 66%, 74%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Both Llama models over-used broad categories; Granite and Qwen fell within predicted bands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43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p50 latency, per model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0.85, 2.00, 2.20, 4.60 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0.50, 1.22, 1.09, 2.26 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Prefill ran 3–6× faster than assumed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Hardest categories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1B: Debt collection / Money transfer; 3B: Money transfer; Granite / Qwen: Credit card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1B: Mortgage / Bank account / Money transfer (0%); 3B: Money transfer (0%); Granite / Qwen: Consumer loan (35% / 57%)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Missed category boundaries defined by our labelling protocol but absent from the prompt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43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GB" spc="0" sz="1000" u="none" cap="none" strike="noStrike">
                          <a:solidFill>
                            <a:srgbClr val="2411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p95 at modelled peak</a:t>
                      </a:r>
                      <a:endParaRPr/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1.80, 4.30, 4.60, 10.50 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0.96, 2.32, 2.40, 5.52 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Faster prefill reduced latency; all four meet R1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8" name="Google Shape;848;p86"/>
          <p:cNvSpPr/>
          <p:nvPr/>
        </p:nvSpPr>
        <p:spPr>
          <a:xfrm>
            <a:off x="640080" y="3890739"/>
            <a:ext cx="3749100" cy="7680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pc="0" sz="1000" u="none" cap="none" strike="noStrike">
                <a:solidFill>
                  <a:srgbClr val="545EEA"/>
                </a:solidFill>
                <a:latin typeface="Arial"/>
                <a:ea typeface="Arial"/>
                <a:cs typeface="Arial"/>
                <a:sym typeface="Arial"/>
              </a:rPr>
              <a:t>Recommended model. </a:t>
            </a:r>
            <a:r>
              <a:rPr b="1" lang="en-GB" sz="1000">
                <a:solidFill>
                  <a:srgbClr val="B3261E"/>
                </a:solidFill>
              </a:rPr>
              <a:t>qwen2.5:7b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. Against R1 </a:t>
            </a:r>
            <a:r>
              <a:rPr b="1" lang="en-GB" sz="1000">
                <a:solidFill>
                  <a:srgbClr val="B3261E"/>
                </a:solidFill>
              </a:rPr>
              <a:t>met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, R2 </a:t>
            </a:r>
            <a:r>
              <a:rPr b="1" lang="en-GB" sz="1000">
                <a:solidFill>
                  <a:srgbClr val="B3261E"/>
                </a:solidFill>
              </a:rPr>
              <a:t>met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, R3 </a:t>
            </a:r>
            <a:r>
              <a:rPr b="1" lang="en-GB" sz="1000">
                <a:solidFill>
                  <a:srgbClr val="B3261E"/>
                </a:solidFill>
              </a:rPr>
              <a:t>missed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, R4 </a:t>
            </a:r>
            <a:r>
              <a:rPr b="1" lang="en-GB" sz="1000">
                <a:solidFill>
                  <a:srgbClr val="B3261E"/>
                </a:solidFill>
              </a:rPr>
              <a:t>missed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, R5 </a:t>
            </a:r>
            <a:r>
              <a:rPr b="1" lang="en-GB" sz="1000">
                <a:solidFill>
                  <a:srgbClr val="B3261E"/>
                </a:solidFill>
              </a:rPr>
              <a:t>met</a:t>
            </a:r>
            <a:r>
              <a:rPr b="0" i="0" lang="en-GB" spc="0" sz="1000" u="none" cap="none" strike="noStrike">
                <a:solidFill>
                  <a:srgbClr val="2411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49" name="Google Shape;849;p86"/>
          <p:cNvSpPr/>
          <p:nvPr/>
        </p:nvSpPr>
        <p:spPr>
          <a:xfrm>
            <a:off x="4480560" y="3890739"/>
            <a:ext cx="3749100" cy="768000"/>
          </a:xfrm>
          <a:prstGeom prst="roundRect">
            <a:avLst>
              <a:gd fmla="val 7000" name="adj"/>
            </a:avLst>
          </a:prstGeom>
          <a:solidFill>
            <a:srgbClr val="E2E4FC"/>
          </a:solidFill>
          <a:ln>
            <a:noFill/>
          </a:ln>
        </p:spPr>
        <p:txBody>
          <a:bodyPr anchorCtr="0" anchor="ctr" bIns="36575" lIns="109725" spcFirstLastPara="1" rIns="9142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No candidate meets R3 or R4. The best overall accuracy is 74.0% (qwen2.5:7b), below R3’s 90%, and every model has at least one category below R4’s 80% floor.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 and Acknowledgements</a:t>
            </a:r>
            <a:endParaRPr/>
          </a:p>
        </p:txBody>
      </p:sp>
      <p:sp>
        <p:nvSpPr>
          <p:cNvPr id="855" name="Google Shape;855;p87"/>
          <p:cNvSpPr txBox="1"/>
          <p:nvPr>
            <p:ph idx="1" type="body"/>
          </p:nvPr>
        </p:nvSpPr>
        <p:spPr>
          <a:xfrm>
            <a:off x="720000" y="1090199"/>
            <a:ext cx="7704000" cy="3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[1] US Consumer Financial Protection Bureau, "Consumer Complaint Database."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https://www.consumerfinance.gov/data-research/consumer-complaints/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[2] ICT3113 teaching team, "ICT3113 Assignment 1 ticket extract (ict3113_tickets.csv)," extract from [1], xSiTe, Week 1.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[3] US CFPB, "Consumer Response Annual Report: January 1 – December 31, 2025," Mar. 2026.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https://www.consumerfinance.gov/data-research/research-reports/2025-consumer-response-annual-report/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[4] CNA, "IN FOCUS: What happens when you contact a bank or telco customer care centre?," 2024.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https://www.channelnewsasia.com/singapore/in-focus-what-happens-when-you-contact-bank-or-telco-customer-care-centre-4735346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[5] W. Whitt, "What You Should Know About Queueing Models To Set Staffing Requirements in Service Systems," Columbia Univ., 2007.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https://www.columbia.edu/~ww2040/shorter041907.pdf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[6] Apache Software Foundation, "Apache JMeter," v5.6.3, and "User manual: component reference" (Open Model Thread Group).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https://jmeter.apache.org/usermanual/component_reference.html#Open_Model_Thread_Group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[7] Ollama, "Ollama," v0.34.3, and "Ollama model library" (model tags, sizes, quantisation).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https://ollama.com/library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[8] Ollama, "LICENSE" (MIT License).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https://github.com/ollama/ollama/blob/main/LICENSE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[9] Meta Platforms, Inc., "Llama 3.2 Community License Agreement," 25 Sep. 2024 (llama3.2:1b, llama3.2:3b).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https://github.com/meta-llama/llama-models/blob/main/models/llama3_2/LICENSE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[10] IBM Granite Team, "granite-4.0-micro" (granite4:3b; Apache-2.0). [Online]. Available: https://huggingface.co/ibm-granite/granite-4.0-micro.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[11] Qwen Team, Alibaba Cloud, "Qwen2.5-7B-Instruct" (qwen2.5:7b; Apache-2.0).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https://huggingface.co/Qwen/Qwen2.5-7B-Instruct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[12] Apache Software Foundation, "Apache License, Version 2.0," Jan. 2004. [Online]. Available: </a:t>
            </a: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https://www.apache.org/licenses/LICENSE-2.0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[13] Service stack (versions captured in docs/environment/ and requirements.txt): Docker Engine 29.7.2, Docker Compose 5.5.1, Python 3.11.17, FastAPI 0.142.4, Uvicorn 0.54.0, SQLite 3.46.1.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